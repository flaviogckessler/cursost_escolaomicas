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82"/>
  </p:notesMasterIdLst>
  <p:sldIdLst>
    <p:sldId id="256" r:id="rId2"/>
    <p:sldId id="258" r:id="rId3"/>
    <p:sldId id="259" r:id="rId4"/>
    <p:sldId id="260" r:id="rId5"/>
    <p:sldId id="261" r:id="rId6"/>
    <p:sldId id="335" r:id="rId7"/>
    <p:sldId id="336"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8" r:id="rId34"/>
    <p:sldId id="289" r:id="rId35"/>
    <p:sldId id="339" r:id="rId36"/>
    <p:sldId id="325" r:id="rId37"/>
    <p:sldId id="333" r:id="rId38"/>
    <p:sldId id="326" r:id="rId39"/>
    <p:sldId id="334" r:id="rId40"/>
    <p:sldId id="287"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27" r:id="rId63"/>
    <p:sldId id="328" r:id="rId64"/>
    <p:sldId id="330" r:id="rId65"/>
    <p:sldId id="329" r:id="rId66"/>
    <p:sldId id="331" r:id="rId67"/>
    <p:sldId id="332" r:id="rId68"/>
    <p:sldId id="311" r:id="rId69"/>
    <p:sldId id="312" r:id="rId70"/>
    <p:sldId id="313" r:id="rId71"/>
    <p:sldId id="314" r:id="rId72"/>
    <p:sldId id="315" r:id="rId73"/>
    <p:sldId id="316" r:id="rId74"/>
    <p:sldId id="317" r:id="rId75"/>
    <p:sldId id="318" r:id="rId76"/>
    <p:sldId id="319" r:id="rId77"/>
    <p:sldId id="320" r:id="rId78"/>
    <p:sldId id="321" r:id="rId79"/>
    <p:sldId id="322" r:id="rId80"/>
    <p:sldId id="323" r:id="rId81"/>
  </p:sldIdLst>
  <p:sldSz cx="9144000" cy="5143500" type="screen16x9"/>
  <p:notesSz cx="6858000" cy="9144000"/>
  <p:embeddedFontLst>
    <p:embeddedFont>
      <p:font typeface="EB Garamond" panose="00000500000000000000" pitchFamily="2" charset="0"/>
      <p:regular r:id="rId83"/>
      <p:bold r:id="rId84"/>
      <p:italic r:id="rId85"/>
      <p:boldItalic r:id="rId86"/>
    </p:embeddedFont>
    <p:embeddedFont>
      <p:font typeface="Proxima Nova" panose="020B0604020202020204" charset="0"/>
      <p:regular r:id="rId87"/>
      <p:bold r:id="rId88"/>
      <p:italic r:id="rId89"/>
      <p:boldItalic r:id="rId9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91" roundtripDataSignature="AMtx7mg4OPOSpBHmHJKmu2dTI2aOCU0Md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3A6572-79FF-4278-9D03-0693029CED30}" v="436" dt="2026-10-25T02:57:48.0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17" autoAdjust="0"/>
    <p:restoredTop sz="65860" autoAdjust="0"/>
  </p:normalViewPr>
  <p:slideViewPr>
    <p:cSldViewPr snapToGrid="0">
      <p:cViewPr varScale="1">
        <p:scale>
          <a:sx n="96" d="100"/>
          <a:sy n="96" d="100"/>
        </p:scale>
        <p:origin x="2040" y="7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2.fntdata"/><Relationship Id="rId89" Type="http://schemas.openxmlformats.org/officeDocument/2006/relationships/font" Target="fonts/font7.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font" Target="fonts/font8.fntdata"/><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font" Target="fonts/font3.fntdata"/><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font" Target="fonts/font1.fntdata"/><Relationship Id="rId88" Type="http://schemas.openxmlformats.org/officeDocument/2006/relationships/font" Target="fonts/font6.fntdata"/><Relationship Id="rId91" Type="http://customschemas.google.com/relationships/presentationmetadata" Target="metadata"/><Relationship Id="rId9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font" Target="fonts/font4.fntdata"/><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5.fntdata"/><Relationship Id="rId61" Type="http://schemas.openxmlformats.org/officeDocument/2006/relationships/slide" Target="slides/slide60.xml"/><Relationship Id="rId82"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3" Type="http://schemas.openxmlformats.org/officeDocument/2006/relationships/hyperlink" Target="https://spatialdata.scverse.org/" TargetMode="External"/><Relationship Id="rId7" Type="http://schemas.openxmlformats.org/officeDocument/2006/relationships/hyperlink" Target="https://lmweber.org/OSTA/pages/bkg-infrastructure.html#ref-Palla2022-Squidpy" TargetMode="External"/><Relationship Id="rId2" Type="http://schemas.openxmlformats.org/officeDocument/2006/relationships/slide" Target="../slides/slide66.xml"/><Relationship Id="rId1" Type="http://schemas.openxmlformats.org/officeDocument/2006/relationships/notesMaster" Target="../notesMasters/notesMaster1.xml"/><Relationship Id="rId6" Type="http://schemas.openxmlformats.org/officeDocument/2006/relationships/hyperlink" Target="https://squidpy.readthedocs.io/" TargetMode="External"/><Relationship Id="rId5" Type="http://schemas.openxmlformats.org/officeDocument/2006/relationships/hyperlink" Target="http://scverse.org/" TargetMode="External"/><Relationship Id="rId4" Type="http://schemas.openxmlformats.org/officeDocument/2006/relationships/hyperlink" Target="https://lmweber.org/OSTA/pages/bkg-infrastructure.html#ref-Marconato2025-SpatialData" TargetMode="Externa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f8c134e9bc_0_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g3f8c134e9bc_0_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5" name="Google Shape;95;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6" name="Google Shape;106;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753BF072-BEF9-9A7F-E4B3-19BF9228BEAA}"/>
            </a:ext>
          </a:extLst>
        </p:cNvPr>
        <p:cNvGrpSpPr/>
        <p:nvPr/>
      </p:nvGrpSpPr>
      <p:grpSpPr>
        <a:xfrm>
          <a:off x="0" y="0"/>
          <a:ext cx="0" cy="0"/>
          <a:chOff x="0" y="0"/>
          <a:chExt cx="0" cy="0"/>
        </a:xfrm>
      </p:grpSpPr>
      <p:sp>
        <p:nvSpPr>
          <p:cNvPr id="105" name="Google Shape;105;p5:notes">
            <a:extLst>
              <a:ext uri="{FF2B5EF4-FFF2-40B4-BE49-F238E27FC236}">
                <a16:creationId xmlns:a16="http://schemas.microsoft.com/office/drawing/2014/main" id="{734376D5-243A-C490-1FFE-5AD50CA4B2D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6" name="Google Shape;106;p5:notes">
            <a:extLst>
              <a:ext uri="{FF2B5EF4-FFF2-40B4-BE49-F238E27FC236}">
                <a16:creationId xmlns:a16="http://schemas.microsoft.com/office/drawing/2014/main" id="{65A4BF34-EE89-60B3-7377-423F1538510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5884794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D3235009-47CB-BED8-1075-46A2254D681C}"/>
            </a:ext>
          </a:extLst>
        </p:cNvPr>
        <p:cNvGrpSpPr/>
        <p:nvPr/>
      </p:nvGrpSpPr>
      <p:grpSpPr>
        <a:xfrm>
          <a:off x="0" y="0"/>
          <a:ext cx="0" cy="0"/>
          <a:chOff x="0" y="0"/>
          <a:chExt cx="0" cy="0"/>
        </a:xfrm>
      </p:grpSpPr>
      <p:sp>
        <p:nvSpPr>
          <p:cNvPr id="105" name="Google Shape;105;p5:notes">
            <a:extLst>
              <a:ext uri="{FF2B5EF4-FFF2-40B4-BE49-F238E27FC236}">
                <a16:creationId xmlns:a16="http://schemas.microsoft.com/office/drawing/2014/main" id="{8EF61AA1-7978-5930-E8D0-603995160DB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6" name="Google Shape;106;p5:notes">
            <a:extLst>
              <a:ext uri="{FF2B5EF4-FFF2-40B4-BE49-F238E27FC236}">
                <a16:creationId xmlns:a16="http://schemas.microsoft.com/office/drawing/2014/main" id="{57147607-0AEB-3B67-3EE7-59D65E398C3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525235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7" name="Google Shape;117;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4" name="Google Shape;124;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1" name="Google Shape;131;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1" name="Google Shape;141;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6" name="Google Shape;14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1" name="Google Shape;151;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5" name="Google Shape;175;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2" name="Google Shape;202;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3" name="Google Shape;223;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5" name="Google Shape;245;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0" name="Google Shape;250;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5" name="Google Shape;265;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7" name="Google Shape;287;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9" name="Google Shape;319;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8" name="Google Shape;328;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8" name="Google Shape;338;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4" name="Google Shape;354;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1" name="Google Shape;371;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2" name="Google Shape;382;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2" name="Google Shape;392;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3f8c134e9bc_0_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5" name="Google Shape;405;g3f8c134e9bc_0_9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p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0" name="Google Shape;410;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2" name="Google Shape;422;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4" name="Google Shape;434;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p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0" name="Google Shape;470;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p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7" name="Google Shape;497;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1E329-B75B-40A2-D7D9-9CA086AC3098}"/>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CBBAAEF3-6EBB-CF5E-4C79-E088493C4DD1}"/>
              </a:ext>
            </a:extLst>
          </p:cNvPr>
          <p:cNvSpPr>
            <a:spLocks noGrp="1" noRot="1" noChangeAspect="1"/>
          </p:cNvSpPr>
          <p:nvPr>
            <p:ph type="sldImg"/>
          </p:nvPr>
        </p:nvSpPr>
        <p:spPr>
          <a:xfrm>
            <a:off x="381000" y="685800"/>
            <a:ext cx="6096000" cy="3429000"/>
          </a:xfrm>
        </p:spPr>
      </p:sp>
      <p:sp>
        <p:nvSpPr>
          <p:cNvPr id="3" name="Espaço Reservado para Anotações 2">
            <a:extLst>
              <a:ext uri="{FF2B5EF4-FFF2-40B4-BE49-F238E27FC236}">
                <a16:creationId xmlns:a16="http://schemas.microsoft.com/office/drawing/2014/main" id="{397A5F7D-5D2D-8BB0-E756-E3DFD945F883}"/>
              </a:ext>
            </a:extLst>
          </p:cNvPr>
          <p:cNvSpPr>
            <a:spLocks noGrp="1"/>
          </p:cNvSpPr>
          <p:nvPr>
            <p:ph type="body" idx="1"/>
          </p:nvPr>
        </p:nvSpPr>
        <p:spPr/>
        <p:txBody>
          <a:bodyPr/>
          <a:lstStyle/>
          <a:p>
            <a:pPr marL="158750" indent="0">
              <a:buNone/>
            </a:pPr>
            <a:r>
              <a:rPr lang="pt-BR" dirty="0"/>
              <a:t>As plataformas podem ser agrupadas, de modo geral, em tecnologias “baseadas em sequenciamento” e “baseadas em imagem”; algumas destas últimas podem ser subdivididas em categorias “baseadas em moléculas” ou não. </a:t>
            </a:r>
          </a:p>
          <a:p>
            <a:pPr marL="158750" indent="0">
              <a:buNone/>
            </a:pPr>
            <a:endParaRPr lang="pt-BR" dirty="0"/>
          </a:p>
          <a:p>
            <a:pPr marL="158750" indent="0">
              <a:buNone/>
            </a:pPr>
            <a:r>
              <a:rPr lang="pt-BR" dirty="0"/>
              <a:t>As plataformas baseadas em sequenciamento tendem a oferecer uma cobertura gênica mais ampla (por exemplo, o transcriptoma completo), </a:t>
            </a:r>
          </a:p>
          <a:p>
            <a:pPr marL="158750" indent="0">
              <a:buNone/>
            </a:pPr>
            <a:r>
              <a:rPr lang="pt-BR" dirty="0"/>
              <a:t>enquanto as plataformas baseadas em imagem tendem a proporcionar uma resolução espacial mais elevada (por exemplo, resolução em nível de célula única ou subcelular).</a:t>
            </a:r>
          </a:p>
        </p:txBody>
      </p:sp>
    </p:spTree>
    <p:extLst>
      <p:ext uri="{BB962C8B-B14F-4D97-AF65-F5344CB8AC3E}">
        <p14:creationId xmlns:p14="http://schemas.microsoft.com/office/powerpoint/2010/main" val="232579945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381000" y="685800"/>
            <a:ext cx="6096000" cy="3429000"/>
          </a:xfrm>
        </p:spPr>
      </p:sp>
      <p:sp>
        <p:nvSpPr>
          <p:cNvPr id="3" name="Espaço Reservado para Anotações 2"/>
          <p:cNvSpPr>
            <a:spLocks noGrp="1"/>
          </p:cNvSpPr>
          <p:nvPr>
            <p:ph type="body" idx="1"/>
          </p:nvPr>
        </p:nvSpPr>
        <p:spPr/>
        <p:txBody>
          <a:bodyPr/>
          <a:lstStyle/>
          <a:p>
            <a:r>
              <a:rPr lang="pt-BR" dirty="0"/>
              <a:t>Plataformas baseadas em sequenciamento capturam informações moleculares (que podem representar expressão gênica, ligação ao DNA, marcadores conjugados a anticorpos, etc.) em um conjunto de locais de medição espacial em um corte de tecido disposto sobre uma lâmina. A localização espacial é identificada por meio de um código de barras (</a:t>
            </a:r>
            <a:r>
              <a:rPr lang="pt-BR" dirty="0" err="1"/>
              <a:t>barcode</a:t>
            </a:r>
            <a:r>
              <a:rPr lang="pt-BR" dirty="0"/>
              <a:t>) exclusivo para cada ponto de medição, e as leituras são sumarizadas (por exemplo, na forma de contagens) de acordo com características como genes ou segmentos (</a:t>
            </a:r>
            <a:r>
              <a:rPr lang="pt-BR" dirty="0" err="1"/>
              <a:t>bins</a:t>
            </a:r>
            <a:r>
              <a:rPr lang="pt-BR" dirty="0"/>
              <a:t>).</a:t>
            </a:r>
          </a:p>
          <a:p>
            <a:endParaRPr lang="pt-BR" dirty="0"/>
          </a:p>
          <a:p>
            <a:r>
              <a:rPr lang="pt-BR" dirty="0"/>
              <a:t>A vantagem do sequenciamento é que, tipicamente, as características representam um conjunto não direcionado (</a:t>
            </a:r>
            <a:r>
              <a:rPr lang="pt-BR" dirty="0" err="1"/>
              <a:t>untargeted</a:t>
            </a:r>
            <a:r>
              <a:rPr lang="pt-BR" dirty="0"/>
              <a:t>) de entidades moleculares, dispensando, portanto, a seleção e a otimização de painéis. Na prática, muitos ensaios espaciais ainda exigem painéis (como, por exemplo, variantes espaciais do </a:t>
            </a:r>
            <a:r>
              <a:rPr lang="pt-BR" dirty="0" err="1"/>
              <a:t>CITE-seq</a:t>
            </a:r>
            <a:r>
              <a:rPr lang="pt-BR" dirty="0"/>
              <a:t>); além disso, ensaios como o </a:t>
            </a:r>
            <a:r>
              <a:rPr lang="pt-BR" dirty="0" err="1"/>
              <a:t>Visium</a:t>
            </a:r>
            <a:r>
              <a:rPr lang="pt-BR" dirty="0"/>
              <a:t> (v2 WT) e o </a:t>
            </a:r>
            <a:r>
              <a:rPr lang="pt-BR" dirty="0" err="1"/>
              <a:t>Visium</a:t>
            </a:r>
            <a:r>
              <a:rPr lang="pt-BR" dirty="0"/>
              <a:t> HD (WT) utilizam painéis de captura de genes que abrangem todo o transcriptoma, o que significa que nem sempre podem ser aplicados a organismos não modelo.</a:t>
            </a:r>
          </a:p>
          <a:p>
            <a:endParaRPr lang="pt-BR" dirty="0"/>
          </a:p>
          <a:p>
            <a:r>
              <a:rPr lang="pt-BR" dirty="0"/>
              <a:t>A resolução espacial varia entre as plataformas e depende do tamanho e do espaçamento entre os locais de medição espacial. Dependendo da resolução espacial e da densidade celular do tecido em uma determinada amostra biológica, cada local de medição espacial pode conter zero, uma ou várias células. Nessas plataformas, os locais de medição espacial são frequentemente denominados “spots”, “</a:t>
            </a:r>
            <a:r>
              <a:rPr lang="pt-BR" dirty="0" err="1"/>
              <a:t>beads</a:t>
            </a:r>
            <a:r>
              <a:rPr lang="pt-BR" dirty="0"/>
              <a:t>” ou “</a:t>
            </a:r>
            <a:r>
              <a:rPr lang="pt-BR" dirty="0" err="1"/>
              <a:t>bins</a:t>
            </a:r>
            <a:r>
              <a:rPr lang="pt-BR" dirty="0"/>
              <a:t>”.</a:t>
            </a:r>
          </a:p>
        </p:txBody>
      </p:sp>
    </p:spTree>
    <p:extLst>
      <p:ext uri="{BB962C8B-B14F-4D97-AF65-F5344CB8AC3E}">
        <p14:creationId xmlns:p14="http://schemas.microsoft.com/office/powerpoint/2010/main" val="419344853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381000" y="685800"/>
            <a:ext cx="6096000" cy="3429000"/>
          </a:xfrm>
        </p:spPr>
      </p:sp>
      <p:sp>
        <p:nvSpPr>
          <p:cNvPr id="3" name="Espaço Reservado para Anotações 2"/>
          <p:cNvSpPr>
            <a:spLocks noGrp="1"/>
          </p:cNvSpPr>
          <p:nvPr>
            <p:ph type="body" idx="1"/>
          </p:nvPr>
        </p:nvSpPr>
        <p:spPr/>
        <p:txBody>
          <a:bodyPr/>
          <a:lstStyle/>
          <a:p>
            <a:r>
              <a:rPr lang="pt-BR" dirty="0"/>
              <a:t>Fonte: https://blog.latch.bio/p/landscape-of-sequencing-based-spatial</a:t>
            </a:r>
          </a:p>
        </p:txBody>
      </p:sp>
    </p:spTree>
    <p:extLst>
      <p:ext uri="{BB962C8B-B14F-4D97-AF65-F5344CB8AC3E}">
        <p14:creationId xmlns:p14="http://schemas.microsoft.com/office/powerpoint/2010/main" val="67313485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381000" y="685800"/>
            <a:ext cx="6096000" cy="3429000"/>
          </a:xfrm>
        </p:spPr>
      </p:sp>
      <p:sp>
        <p:nvSpPr>
          <p:cNvPr id="3" name="Espaço Reservado para Anotações 2"/>
          <p:cNvSpPr>
            <a:spLocks noGrp="1"/>
          </p:cNvSpPr>
          <p:nvPr>
            <p:ph type="body" idx="1"/>
          </p:nvPr>
        </p:nvSpPr>
        <p:spPr/>
        <p:txBody>
          <a:bodyPr/>
          <a:lstStyle/>
          <a:p>
            <a:r>
              <a:rPr lang="pt-BR" dirty="0"/>
              <a:t>Plataformas baseadas em imagem (ou plataformas baseadas em moléculas) identificam a localização espacial de moléculas de RNA individuais por meio de hibridização *in situ* (ISH) sequencial ou sequenciamento *in situ* (ISS), abrangendo painéis direcionados de até centenas ou milhares de genes. Como os transcritos são identificados individualmente, os dados brutos são coletados com resolução espacial subcelular.</a:t>
            </a:r>
          </a:p>
          <a:p>
            <a:endParaRPr lang="pt-BR" dirty="0"/>
          </a:p>
          <a:p>
            <a:r>
              <a:rPr lang="pt-BR" dirty="0"/>
              <a:t>A segmentação de imagens é utilizada para identificar os limites de células ou núcleos individuais e, durante o pré-processamento, associar as moléculas de RNA a essas células ou núcleos. A segmentação em nível celular é um desafio, especialmente devido à sobreposição de células (isto é, as células possuem uma organização tridimensional, e o plano representado por um corte de tecido pode conter material proveniente de múltiplas células em uma determinada coordenada x/y). Após a segmentação, as contagens de genes podem ser agregadas ao nível celular, ou as análises podem ser realizadas diretamente no nível das moléculas. As análises em nível celular podem reaproveitar métodos desenvolvidos para dados de transcriptômica espacial em nível de "pontos" (*spots*) ou dados de célula única (*single-</a:t>
            </a:r>
            <a:r>
              <a:rPr lang="pt-BR" dirty="0" err="1"/>
              <a:t>cell</a:t>
            </a:r>
            <a:r>
              <a:rPr lang="pt-BR" dirty="0"/>
              <a:t>*).</a:t>
            </a:r>
          </a:p>
          <a:p>
            <a:endParaRPr lang="pt-BR" dirty="0"/>
          </a:p>
          <a:p>
            <a:r>
              <a:rPr lang="pt-BR" dirty="0"/>
              <a:t>A seleção de conjuntos direcionados de genes biologicamente informativos para um experimento — processo conhecido como desenho de painel (*</a:t>
            </a:r>
            <a:r>
              <a:rPr lang="pt-BR" dirty="0" err="1"/>
              <a:t>panel</a:t>
            </a:r>
            <a:r>
              <a:rPr lang="pt-BR" dirty="0"/>
              <a:t> design*) — é um aspecto fundamental no planejamento experimental. Existem diversas opções disponíveis comercialmente de conjuntos de genes direcionados, adequados para contextos biológicos específicos.</a:t>
            </a:r>
          </a:p>
        </p:txBody>
      </p:sp>
    </p:spTree>
    <p:extLst>
      <p:ext uri="{BB962C8B-B14F-4D97-AF65-F5344CB8AC3E}">
        <p14:creationId xmlns:p14="http://schemas.microsoft.com/office/powerpoint/2010/main" val="414111463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381000" y="685800"/>
            <a:ext cx="6096000" cy="3429000"/>
          </a:xfrm>
        </p:spPr>
      </p:sp>
      <p:sp>
        <p:nvSpPr>
          <p:cNvPr id="3" name="Espaço Reservado para Anotações 2"/>
          <p:cNvSpPr>
            <a:spLocks noGrp="1"/>
          </p:cNvSpPr>
          <p:nvPr>
            <p:ph type="body" idx="1"/>
          </p:nvPr>
        </p:nvSpPr>
        <p:spPr/>
        <p:txBody>
          <a:bodyPr/>
          <a:lstStyle/>
          <a:p>
            <a:r>
              <a:rPr lang="pt-BR" dirty="0"/>
              <a:t>Fonte: https://blog.latch.bio/p/landscape-of-sequencing-based-spatial</a:t>
            </a:r>
          </a:p>
        </p:txBody>
      </p:sp>
    </p:spTree>
    <p:extLst>
      <p:ext uri="{BB962C8B-B14F-4D97-AF65-F5344CB8AC3E}">
        <p14:creationId xmlns:p14="http://schemas.microsoft.com/office/powerpoint/2010/main" val="66302046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3" name="Google Shape;453;p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p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9" name="Google Shape;509;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p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17" name="Google Shape;517;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g3fa37cb035d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40" name="Google Shape;540;g3fa37cb035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p:cNvGrpSpPr/>
        <p:nvPr/>
      </p:nvGrpSpPr>
      <p:grpSpPr>
        <a:xfrm>
          <a:off x="0" y="0"/>
          <a:ext cx="0" cy="0"/>
          <a:chOff x="0" y="0"/>
          <a:chExt cx="0" cy="0"/>
        </a:xfrm>
      </p:grpSpPr>
      <p:sp>
        <p:nvSpPr>
          <p:cNvPr id="552" name="Google Shape;552;p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53" name="Google Shape;553;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p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2" name="Google Shape;562;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p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2" name="Google Shape;572;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p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7" name="Google Shape;577;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7"/>
        <p:cNvGrpSpPr/>
        <p:nvPr/>
      </p:nvGrpSpPr>
      <p:grpSpPr>
        <a:xfrm>
          <a:off x="0" y="0"/>
          <a:ext cx="0" cy="0"/>
          <a:chOff x="0" y="0"/>
          <a:chExt cx="0" cy="0"/>
        </a:xfrm>
      </p:grpSpPr>
      <p:sp>
        <p:nvSpPr>
          <p:cNvPr id="608" name="Google Shape;608;p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9" name="Google Shape;609;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2"/>
        <p:cNvGrpSpPr/>
        <p:nvPr/>
      </p:nvGrpSpPr>
      <p:grpSpPr>
        <a:xfrm>
          <a:off x="0" y="0"/>
          <a:ext cx="0" cy="0"/>
          <a:chOff x="0" y="0"/>
          <a:chExt cx="0" cy="0"/>
        </a:xfrm>
      </p:grpSpPr>
      <p:sp>
        <p:nvSpPr>
          <p:cNvPr id="623" name="Google Shape;623;p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24" name="Google Shape;624;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g3fa37cb035d_0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35" name="Google Shape;635;g3fa37cb035d_0_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9" name="Google Shape;649;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1"/>
        <p:cNvGrpSpPr/>
        <p:nvPr/>
      </p:nvGrpSpPr>
      <p:grpSpPr>
        <a:xfrm>
          <a:off x="0" y="0"/>
          <a:ext cx="0" cy="0"/>
          <a:chOff x="0" y="0"/>
          <a:chExt cx="0" cy="0"/>
        </a:xfrm>
      </p:grpSpPr>
      <p:sp>
        <p:nvSpPr>
          <p:cNvPr id="662" name="Google Shape;662;p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3" name="Google Shape;663;p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6"/>
        <p:cNvGrpSpPr/>
        <p:nvPr/>
      </p:nvGrpSpPr>
      <p:grpSpPr>
        <a:xfrm>
          <a:off x="0" y="0"/>
          <a:ext cx="0" cy="0"/>
          <a:chOff x="0" y="0"/>
          <a:chExt cx="0" cy="0"/>
        </a:xfrm>
      </p:grpSpPr>
      <p:sp>
        <p:nvSpPr>
          <p:cNvPr id="677" name="Google Shape;677;p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8" name="Google Shape;678;p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g3fa37cb035d_0_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3" name="Google Shape;683;g3fa37cb035d_0_7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p:cNvGrpSpPr/>
        <p:nvPr/>
      </p:nvGrpSpPr>
      <p:grpSpPr>
        <a:xfrm>
          <a:off x="0" y="0"/>
          <a:ext cx="0" cy="0"/>
          <a:chOff x="0" y="0"/>
          <a:chExt cx="0" cy="0"/>
        </a:xfrm>
      </p:grpSpPr>
      <p:sp>
        <p:nvSpPr>
          <p:cNvPr id="697" name="Google Shape;697;g3fa37cb035d_0_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8" name="Google Shape;698;g3fa37cb035d_0_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8"/>
        <p:cNvGrpSpPr/>
        <p:nvPr/>
      </p:nvGrpSpPr>
      <p:grpSpPr>
        <a:xfrm>
          <a:off x="0" y="0"/>
          <a:ext cx="0" cy="0"/>
          <a:chOff x="0" y="0"/>
          <a:chExt cx="0" cy="0"/>
        </a:xfrm>
      </p:grpSpPr>
      <p:sp>
        <p:nvSpPr>
          <p:cNvPr id="709" name="Google Shape;709;g3fa37cb035d_0_10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0" name="Google Shape;710;g3fa37cb035d_0_10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p:cNvGrpSpPr/>
        <p:nvPr/>
      </p:nvGrpSpPr>
      <p:grpSpPr>
        <a:xfrm>
          <a:off x="0" y="0"/>
          <a:ext cx="0" cy="0"/>
          <a:chOff x="0" y="0"/>
          <a:chExt cx="0" cy="0"/>
        </a:xfrm>
      </p:grpSpPr>
      <p:sp>
        <p:nvSpPr>
          <p:cNvPr id="723" name="Google Shape;723;p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24" name="Google Shape;724;p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p:cNvGrpSpPr/>
        <p:nvPr/>
      </p:nvGrpSpPr>
      <p:grpSpPr>
        <a:xfrm>
          <a:off x="0" y="0"/>
          <a:ext cx="0" cy="0"/>
          <a:chOff x="0" y="0"/>
          <a:chExt cx="0" cy="0"/>
        </a:xfrm>
      </p:grpSpPr>
      <p:sp>
        <p:nvSpPr>
          <p:cNvPr id="729" name="Google Shape;729;g3fa37cb035d_0_1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0" name="Google Shape;730;g3fa37cb035d_0_1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p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7" name="Google Shape;737;p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g3fa37cb035d_0_1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43" name="Google Shape;743;g3fa37cb035d_0_1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8"/>
        <p:cNvGrpSpPr/>
        <p:nvPr/>
      </p:nvGrpSpPr>
      <p:grpSpPr>
        <a:xfrm>
          <a:off x="0" y="0"/>
          <a:ext cx="0" cy="0"/>
          <a:chOff x="0" y="0"/>
          <a:chExt cx="0" cy="0"/>
        </a:xfrm>
      </p:grpSpPr>
      <p:sp>
        <p:nvSpPr>
          <p:cNvPr id="749" name="Google Shape;749;p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0" name="Google Shape;750;p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a:extLst>
            <a:ext uri="{FF2B5EF4-FFF2-40B4-BE49-F238E27FC236}">
              <a16:creationId xmlns:a16="http://schemas.microsoft.com/office/drawing/2014/main" id="{CB40B05F-0968-3430-16DA-B123D34A4EB4}"/>
            </a:ext>
          </a:extLst>
        </p:cNvPr>
        <p:cNvGrpSpPr/>
        <p:nvPr/>
      </p:nvGrpSpPr>
      <p:grpSpPr>
        <a:xfrm>
          <a:off x="0" y="0"/>
          <a:ext cx="0" cy="0"/>
          <a:chOff x="0" y="0"/>
          <a:chExt cx="0" cy="0"/>
        </a:xfrm>
      </p:grpSpPr>
      <p:sp>
        <p:nvSpPr>
          <p:cNvPr id="571" name="Google Shape;571;p38:notes">
            <a:extLst>
              <a:ext uri="{FF2B5EF4-FFF2-40B4-BE49-F238E27FC236}">
                <a16:creationId xmlns:a16="http://schemas.microsoft.com/office/drawing/2014/main" id="{515EC3F5-A129-9F49-4433-F2E4419E1000}"/>
              </a:ext>
            </a:extLst>
          </p:cNvPr>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2" name="Google Shape;572;p38:notes">
            <a:extLst>
              <a:ext uri="{FF2B5EF4-FFF2-40B4-BE49-F238E27FC236}">
                <a16:creationId xmlns:a16="http://schemas.microsoft.com/office/drawing/2014/main" id="{AE1C67FB-EDFF-F6AC-725C-F5D7A8169F8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212976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a:extLst>
            <a:ext uri="{FF2B5EF4-FFF2-40B4-BE49-F238E27FC236}">
              <a16:creationId xmlns:a16="http://schemas.microsoft.com/office/drawing/2014/main" id="{8A26054C-D1FC-A098-E0B0-089A24332E0D}"/>
            </a:ext>
          </a:extLst>
        </p:cNvPr>
        <p:cNvGrpSpPr/>
        <p:nvPr/>
      </p:nvGrpSpPr>
      <p:grpSpPr>
        <a:xfrm>
          <a:off x="0" y="0"/>
          <a:ext cx="0" cy="0"/>
          <a:chOff x="0" y="0"/>
          <a:chExt cx="0" cy="0"/>
        </a:xfrm>
      </p:grpSpPr>
      <p:sp>
        <p:nvSpPr>
          <p:cNvPr id="552" name="Google Shape;552;p36:notes">
            <a:extLst>
              <a:ext uri="{FF2B5EF4-FFF2-40B4-BE49-F238E27FC236}">
                <a16:creationId xmlns:a16="http://schemas.microsoft.com/office/drawing/2014/main" id="{15612622-7EDB-AD46-A642-39B41B6F6FE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53" name="Google Shape;553;p36:notes">
            <a:extLst>
              <a:ext uri="{FF2B5EF4-FFF2-40B4-BE49-F238E27FC236}">
                <a16:creationId xmlns:a16="http://schemas.microsoft.com/office/drawing/2014/main" id="{A528CC0D-5C49-16C7-D420-91DA30A040A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dirty="0"/>
          </a:p>
        </p:txBody>
      </p:sp>
    </p:spTree>
    <p:extLst>
      <p:ext uri="{BB962C8B-B14F-4D97-AF65-F5344CB8AC3E}">
        <p14:creationId xmlns:p14="http://schemas.microsoft.com/office/powerpoint/2010/main" val="191721762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a:extLst>
            <a:ext uri="{FF2B5EF4-FFF2-40B4-BE49-F238E27FC236}">
              <a16:creationId xmlns:a16="http://schemas.microsoft.com/office/drawing/2014/main" id="{8FC01216-884F-5BE4-A7C7-630D22049728}"/>
            </a:ext>
          </a:extLst>
        </p:cNvPr>
        <p:cNvGrpSpPr/>
        <p:nvPr/>
      </p:nvGrpSpPr>
      <p:grpSpPr>
        <a:xfrm>
          <a:off x="0" y="0"/>
          <a:ext cx="0" cy="0"/>
          <a:chOff x="0" y="0"/>
          <a:chExt cx="0" cy="0"/>
        </a:xfrm>
      </p:grpSpPr>
      <p:sp>
        <p:nvSpPr>
          <p:cNvPr id="552" name="Google Shape;552;p36:notes">
            <a:extLst>
              <a:ext uri="{FF2B5EF4-FFF2-40B4-BE49-F238E27FC236}">
                <a16:creationId xmlns:a16="http://schemas.microsoft.com/office/drawing/2014/main" id="{AF881151-1CB1-0030-31BF-240EB5E1F08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53" name="Google Shape;553;p36:notes">
            <a:extLst>
              <a:ext uri="{FF2B5EF4-FFF2-40B4-BE49-F238E27FC236}">
                <a16:creationId xmlns:a16="http://schemas.microsoft.com/office/drawing/2014/main" id="{70506AE7-8C25-B865-B14F-B00EA280EE0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r>
              <a:rPr lang="en-US"/>
              <a:t>a SPE object consists of (i) assays containing expression counts, (ii) rowData containing information on features, i.e. genes, (iii) colData containing information on spots or cells, including non-spatial and spatial metadata, (iv) spatialCoords containing spatial coordinates, and (v) imgData containing image data. For spot-based data, a single assay named counts is used.</a:t>
            </a:r>
            <a:endParaRPr lang="pt-BR"/>
          </a:p>
        </p:txBody>
      </p:sp>
    </p:spTree>
    <p:extLst>
      <p:ext uri="{BB962C8B-B14F-4D97-AF65-F5344CB8AC3E}">
        <p14:creationId xmlns:p14="http://schemas.microsoft.com/office/powerpoint/2010/main" val="346907349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a:extLst>
            <a:ext uri="{FF2B5EF4-FFF2-40B4-BE49-F238E27FC236}">
              <a16:creationId xmlns:a16="http://schemas.microsoft.com/office/drawing/2014/main" id="{64BB7492-24DF-C0BF-F9D7-AC500418FA84}"/>
            </a:ext>
          </a:extLst>
        </p:cNvPr>
        <p:cNvGrpSpPr/>
        <p:nvPr/>
      </p:nvGrpSpPr>
      <p:grpSpPr>
        <a:xfrm>
          <a:off x="0" y="0"/>
          <a:ext cx="0" cy="0"/>
          <a:chOff x="0" y="0"/>
          <a:chExt cx="0" cy="0"/>
        </a:xfrm>
      </p:grpSpPr>
      <p:sp>
        <p:nvSpPr>
          <p:cNvPr id="552" name="Google Shape;552;p36:notes">
            <a:extLst>
              <a:ext uri="{FF2B5EF4-FFF2-40B4-BE49-F238E27FC236}">
                <a16:creationId xmlns:a16="http://schemas.microsoft.com/office/drawing/2014/main" id="{1DE7E404-9F15-9E80-EA4A-DCFFDC7E53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53" name="Google Shape;553;p36:notes">
            <a:extLst>
              <a:ext uri="{FF2B5EF4-FFF2-40B4-BE49-F238E27FC236}">
                <a16:creationId xmlns:a16="http://schemas.microsoft.com/office/drawing/2014/main" id="{B01D75A8-16EE-03D7-0489-B63B52BDF94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r>
              <a:rPr lang="en-US"/>
              <a:t>a SPE object consists of (i) assays containing expression counts, (ii) rowData containing information on features, i.e. genes, (iii) colData containing information on spots or cells, including non-spatial and spatial metadata, (iv) spatialCoords containing spatial coordinates, and (v) imgData containing image data. For spot-based data, a single assay named counts is used.</a:t>
            </a:r>
            <a:endParaRPr lang="pt-BR"/>
          </a:p>
        </p:txBody>
      </p:sp>
    </p:spTree>
    <p:extLst>
      <p:ext uri="{BB962C8B-B14F-4D97-AF65-F5344CB8AC3E}">
        <p14:creationId xmlns:p14="http://schemas.microsoft.com/office/powerpoint/2010/main" val="112002173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a:extLst>
            <a:ext uri="{FF2B5EF4-FFF2-40B4-BE49-F238E27FC236}">
              <a16:creationId xmlns:a16="http://schemas.microsoft.com/office/drawing/2014/main" id="{302B28B5-2125-F693-1F7F-0EF2439F678C}"/>
            </a:ext>
          </a:extLst>
        </p:cNvPr>
        <p:cNvGrpSpPr/>
        <p:nvPr/>
      </p:nvGrpSpPr>
      <p:grpSpPr>
        <a:xfrm>
          <a:off x="0" y="0"/>
          <a:ext cx="0" cy="0"/>
          <a:chOff x="0" y="0"/>
          <a:chExt cx="0" cy="0"/>
        </a:xfrm>
      </p:grpSpPr>
      <p:sp>
        <p:nvSpPr>
          <p:cNvPr id="552" name="Google Shape;552;p36:notes">
            <a:extLst>
              <a:ext uri="{FF2B5EF4-FFF2-40B4-BE49-F238E27FC236}">
                <a16:creationId xmlns:a16="http://schemas.microsoft.com/office/drawing/2014/main" id="{BA13A3C6-7FEC-80B4-D862-00C82BAA3D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53" name="Google Shape;553;p36:notes">
            <a:extLst>
              <a:ext uri="{FF2B5EF4-FFF2-40B4-BE49-F238E27FC236}">
                <a16:creationId xmlns:a16="http://schemas.microsoft.com/office/drawing/2014/main" id="{70B0B38A-A8DC-32C3-1D2A-66BE2D39F0B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r>
              <a:rPr lang="en-US" dirty="0">
                <a:hlinkClick r:id="rId3"/>
              </a:rPr>
              <a:t>SpatialData</a:t>
            </a:r>
            <a:r>
              <a:rPr lang="en-US" dirty="0"/>
              <a:t> (</a:t>
            </a:r>
            <a:r>
              <a:rPr lang="en-US" dirty="0" err="1">
                <a:hlinkClick r:id="rId4"/>
              </a:rPr>
              <a:t>Marconato</a:t>
            </a:r>
            <a:r>
              <a:rPr lang="en-US" dirty="0">
                <a:hlinkClick r:id="rId4"/>
              </a:rPr>
              <a:t> et al. 2025</a:t>
            </a:r>
            <a:r>
              <a:rPr lang="en-US" dirty="0"/>
              <a:t>) provides a framework within the </a:t>
            </a:r>
            <a:r>
              <a:rPr lang="en-US" dirty="0" err="1">
                <a:hlinkClick r:id="rId5"/>
              </a:rPr>
              <a:t>scverse</a:t>
            </a:r>
            <a:r>
              <a:rPr lang="en-US" dirty="0"/>
              <a:t> ecosystem for unified storage and manipulation of multi-modal spatial omics data</a:t>
            </a:r>
          </a:p>
          <a:p>
            <a:pPr marL="0" indent="0">
              <a:buNone/>
            </a:pPr>
            <a:endParaRPr lang="en-US" dirty="0"/>
          </a:p>
          <a:p>
            <a:pPr marL="0" indent="0">
              <a:buNone/>
            </a:pPr>
            <a:r>
              <a:rPr lang="en-US" dirty="0">
                <a:hlinkClick r:id="rId6"/>
              </a:rPr>
              <a:t>Squidpy</a:t>
            </a:r>
            <a:r>
              <a:rPr lang="en-US" dirty="0"/>
              <a:t> (</a:t>
            </a:r>
            <a:r>
              <a:rPr lang="en-US" dirty="0">
                <a:hlinkClick r:id="rId7"/>
              </a:rPr>
              <a:t>Palla et al. 2022</a:t>
            </a:r>
            <a:r>
              <a:rPr lang="en-US" dirty="0"/>
              <a:t>) provides diverse tooling for spatial omics data analysis in Python/</a:t>
            </a:r>
            <a:r>
              <a:rPr lang="en-US" dirty="0" err="1"/>
              <a:t>scverse</a:t>
            </a:r>
            <a:r>
              <a:rPr lang="en-US" dirty="0"/>
              <a:t>.</a:t>
            </a:r>
          </a:p>
        </p:txBody>
      </p:sp>
    </p:spTree>
    <p:extLst>
      <p:ext uri="{BB962C8B-B14F-4D97-AF65-F5344CB8AC3E}">
        <p14:creationId xmlns:p14="http://schemas.microsoft.com/office/powerpoint/2010/main" val="301405077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a:extLst>
            <a:ext uri="{FF2B5EF4-FFF2-40B4-BE49-F238E27FC236}">
              <a16:creationId xmlns:a16="http://schemas.microsoft.com/office/drawing/2014/main" id="{91010628-DF39-2959-11E8-DC4072E16889}"/>
            </a:ext>
          </a:extLst>
        </p:cNvPr>
        <p:cNvGrpSpPr/>
        <p:nvPr/>
      </p:nvGrpSpPr>
      <p:grpSpPr>
        <a:xfrm>
          <a:off x="0" y="0"/>
          <a:ext cx="0" cy="0"/>
          <a:chOff x="0" y="0"/>
          <a:chExt cx="0" cy="0"/>
        </a:xfrm>
      </p:grpSpPr>
      <p:sp>
        <p:nvSpPr>
          <p:cNvPr id="552" name="Google Shape;552;p36:notes">
            <a:extLst>
              <a:ext uri="{FF2B5EF4-FFF2-40B4-BE49-F238E27FC236}">
                <a16:creationId xmlns:a16="http://schemas.microsoft.com/office/drawing/2014/main" id="{09C699A8-2ADF-61D3-E6FE-D7A410C59C8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53" name="Google Shape;553;p36:notes">
            <a:extLst>
              <a:ext uri="{FF2B5EF4-FFF2-40B4-BE49-F238E27FC236}">
                <a16:creationId xmlns:a16="http://schemas.microsoft.com/office/drawing/2014/main" id="{87F3E6C3-D851-0CBE-8E37-BE063FC378D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r>
              <a:rPr lang="en-US"/>
              <a:t>a SPE object consists of (i) assays containing expression counts, (ii) rowData containing information on features, i.e. genes, (iii) colData containing information on spots or cells, including non-spatial and spatial metadata, (iv) spatialCoords containing spatial coordinates, and (v) imgData containing image data. For spot-based data, a single assay named counts is used.</a:t>
            </a:r>
            <a:endParaRPr lang="pt-BR"/>
          </a:p>
        </p:txBody>
      </p:sp>
    </p:spTree>
    <p:extLst>
      <p:ext uri="{BB962C8B-B14F-4D97-AF65-F5344CB8AC3E}">
        <p14:creationId xmlns:p14="http://schemas.microsoft.com/office/powerpoint/2010/main" val="160571523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p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79" name="Google Shape;779;p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3"/>
        <p:cNvGrpSpPr/>
        <p:nvPr/>
      </p:nvGrpSpPr>
      <p:grpSpPr>
        <a:xfrm>
          <a:off x="0" y="0"/>
          <a:ext cx="0" cy="0"/>
          <a:chOff x="0" y="0"/>
          <a:chExt cx="0" cy="0"/>
        </a:xfrm>
      </p:grpSpPr>
      <p:sp>
        <p:nvSpPr>
          <p:cNvPr id="784" name="Google Shape;784;p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85" name="Google Shape;785;p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p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0" name="Google Shape;790;p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6"/>
        <p:cNvGrpSpPr/>
        <p:nvPr/>
      </p:nvGrpSpPr>
      <p:grpSpPr>
        <a:xfrm>
          <a:off x="0" y="0"/>
          <a:ext cx="0" cy="0"/>
          <a:chOff x="0" y="0"/>
          <a:chExt cx="0" cy="0"/>
        </a:xfrm>
      </p:grpSpPr>
      <p:sp>
        <p:nvSpPr>
          <p:cNvPr id="797" name="Google Shape;797;g3fa37cb035d_0_1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8" name="Google Shape;798;g3fa37cb035d_0_1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p:cNvGrpSpPr/>
        <p:nvPr/>
      </p:nvGrpSpPr>
      <p:grpSpPr>
        <a:xfrm>
          <a:off x="0" y="0"/>
          <a:ext cx="0" cy="0"/>
          <a:chOff x="0" y="0"/>
          <a:chExt cx="0" cy="0"/>
        </a:xfrm>
      </p:grpSpPr>
      <p:sp>
        <p:nvSpPr>
          <p:cNvPr id="806" name="Google Shape;806;g3fa37cb035d_0_1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07" name="Google Shape;807;g3fa37cb035d_0_1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6"/>
        <p:cNvGrpSpPr/>
        <p:nvPr/>
      </p:nvGrpSpPr>
      <p:grpSpPr>
        <a:xfrm>
          <a:off x="0" y="0"/>
          <a:ext cx="0" cy="0"/>
          <a:chOff x="0" y="0"/>
          <a:chExt cx="0" cy="0"/>
        </a:xfrm>
      </p:grpSpPr>
      <p:sp>
        <p:nvSpPr>
          <p:cNvPr id="817" name="Google Shape;817;p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18" name="Google Shape;818;p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2"/>
        <p:cNvGrpSpPr/>
        <p:nvPr/>
      </p:nvGrpSpPr>
      <p:grpSpPr>
        <a:xfrm>
          <a:off x="0" y="0"/>
          <a:ext cx="0" cy="0"/>
          <a:chOff x="0" y="0"/>
          <a:chExt cx="0" cy="0"/>
        </a:xfrm>
      </p:grpSpPr>
      <p:sp>
        <p:nvSpPr>
          <p:cNvPr id="833" name="Google Shape;833;p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34" name="Google Shape;834;p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2"/>
        <p:cNvGrpSpPr/>
        <p:nvPr/>
      </p:nvGrpSpPr>
      <p:grpSpPr>
        <a:xfrm>
          <a:off x="0" y="0"/>
          <a:ext cx="0" cy="0"/>
          <a:chOff x="0" y="0"/>
          <a:chExt cx="0" cy="0"/>
        </a:xfrm>
      </p:grpSpPr>
      <p:sp>
        <p:nvSpPr>
          <p:cNvPr id="843" name="Google Shape;843;p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44" name="Google Shape;844;p5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9"/>
        <p:cNvGrpSpPr/>
        <p:nvPr/>
      </p:nvGrpSpPr>
      <p:grpSpPr>
        <a:xfrm>
          <a:off x="0" y="0"/>
          <a:ext cx="0" cy="0"/>
          <a:chOff x="0" y="0"/>
          <a:chExt cx="0" cy="0"/>
        </a:xfrm>
      </p:grpSpPr>
      <p:sp>
        <p:nvSpPr>
          <p:cNvPr id="850" name="Google Shape;850;p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1" name="Google Shape;851;p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6"/>
        <p:cNvGrpSpPr/>
        <p:nvPr/>
      </p:nvGrpSpPr>
      <p:grpSpPr>
        <a:xfrm>
          <a:off x="0" y="0"/>
          <a:ext cx="0" cy="0"/>
          <a:chOff x="0" y="0"/>
          <a:chExt cx="0" cy="0"/>
        </a:xfrm>
      </p:grpSpPr>
      <p:sp>
        <p:nvSpPr>
          <p:cNvPr id="857" name="Google Shape;857;p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8" name="Google Shape;858;p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6"/>
        <p:cNvGrpSpPr/>
        <p:nvPr/>
      </p:nvGrpSpPr>
      <p:grpSpPr>
        <a:xfrm>
          <a:off x="0" y="0"/>
          <a:ext cx="0" cy="0"/>
          <a:chOff x="0" y="0"/>
          <a:chExt cx="0" cy="0"/>
        </a:xfrm>
      </p:grpSpPr>
      <p:sp>
        <p:nvSpPr>
          <p:cNvPr id="867" name="Google Shape;867;p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68" name="Google Shape;868;p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7"/>
        <p:cNvGrpSpPr/>
        <p:nvPr/>
      </p:nvGrpSpPr>
      <p:grpSpPr>
        <a:xfrm>
          <a:off x="0" y="0"/>
          <a:ext cx="0" cy="0"/>
          <a:chOff x="0" y="0"/>
          <a:chExt cx="0" cy="0"/>
        </a:xfrm>
      </p:grpSpPr>
      <p:sp>
        <p:nvSpPr>
          <p:cNvPr id="878" name="Google Shape;878;p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9" name="Google Shape;879;p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9"/>
        <p:cNvGrpSpPr/>
        <p:nvPr/>
      </p:nvGrpSpPr>
      <p:grpSpPr>
        <a:xfrm>
          <a:off x="0" y="0"/>
          <a:ext cx="0" cy="0"/>
          <a:chOff x="0" y="0"/>
          <a:chExt cx="0" cy="0"/>
        </a:xfrm>
      </p:grpSpPr>
      <p:sp>
        <p:nvSpPr>
          <p:cNvPr id="890" name="Google Shape;890;p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91" name="Google Shape;891;p5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cxnSp>
        <p:nvCxnSpPr>
          <p:cNvPr id="10" name="Google Shape;10;p60"/>
          <p:cNvCxnSpPr/>
          <p:nvPr/>
        </p:nvCxnSpPr>
        <p:spPr>
          <a:xfrm>
            <a:off x="0" y="2998150"/>
            <a:ext cx="9144000" cy="0"/>
          </a:xfrm>
          <a:prstGeom prst="straightConnector1">
            <a:avLst/>
          </a:prstGeom>
          <a:noFill/>
          <a:ln w="19050" cap="flat" cmpd="sng">
            <a:solidFill>
              <a:schemeClr val="lt2"/>
            </a:solidFill>
            <a:prstDash val="solid"/>
            <a:round/>
            <a:headEnd type="none" w="sm" len="sm"/>
            <a:tailEnd type="none" w="sm" len="sm"/>
          </a:ln>
        </p:spPr>
      </p:cxnSp>
      <p:sp>
        <p:nvSpPr>
          <p:cNvPr id="11" name="Google Shape;11;p60"/>
          <p:cNvSpPr txBox="1">
            <a:spLocks noGrp="1"/>
          </p:cNvSpPr>
          <p:nvPr>
            <p:ph type="ctrTitle"/>
          </p:nvPr>
        </p:nvSpPr>
        <p:spPr>
          <a:xfrm>
            <a:off x="510450" y="1257300"/>
            <a:ext cx="8123100" cy="15885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a:endParaRPr/>
          </a:p>
        </p:txBody>
      </p:sp>
      <p:sp>
        <p:nvSpPr>
          <p:cNvPr id="12" name="Google Shape;12;p60"/>
          <p:cNvSpPr txBox="1">
            <a:spLocks noGrp="1"/>
          </p:cNvSpPr>
          <p:nvPr>
            <p:ph type="subTitle" idx="1"/>
          </p:nvPr>
        </p:nvSpPr>
        <p:spPr>
          <a:xfrm>
            <a:off x="510450" y="3182313"/>
            <a:ext cx="8123100" cy="630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1"/>
              </a:buClr>
              <a:buSzPts val="2400"/>
              <a:buNone/>
              <a:defRPr sz="2400">
                <a:solidFill>
                  <a:schemeClr val="lt1"/>
                </a:solidFill>
              </a:defRPr>
            </a:lvl1pPr>
            <a:lvl2pPr lvl="1" algn="l">
              <a:lnSpc>
                <a:spcPct val="100000"/>
              </a:lnSpc>
              <a:spcBef>
                <a:spcPts val="0"/>
              </a:spcBef>
              <a:spcAft>
                <a:spcPts val="0"/>
              </a:spcAft>
              <a:buClr>
                <a:schemeClr val="lt1"/>
              </a:buClr>
              <a:buSzPts val="2400"/>
              <a:buNone/>
              <a:defRPr sz="2400">
                <a:solidFill>
                  <a:schemeClr val="lt1"/>
                </a:solidFill>
              </a:defRPr>
            </a:lvl2pPr>
            <a:lvl3pPr lvl="2" algn="l">
              <a:lnSpc>
                <a:spcPct val="100000"/>
              </a:lnSpc>
              <a:spcBef>
                <a:spcPts val="0"/>
              </a:spcBef>
              <a:spcAft>
                <a:spcPts val="0"/>
              </a:spcAft>
              <a:buClr>
                <a:schemeClr val="lt1"/>
              </a:buClr>
              <a:buSzPts val="2400"/>
              <a:buNone/>
              <a:defRPr sz="2400">
                <a:solidFill>
                  <a:schemeClr val="lt1"/>
                </a:solidFill>
              </a:defRPr>
            </a:lvl3pPr>
            <a:lvl4pPr lvl="3" algn="l">
              <a:lnSpc>
                <a:spcPct val="100000"/>
              </a:lnSpc>
              <a:spcBef>
                <a:spcPts val="0"/>
              </a:spcBef>
              <a:spcAft>
                <a:spcPts val="0"/>
              </a:spcAft>
              <a:buClr>
                <a:schemeClr val="lt1"/>
              </a:buClr>
              <a:buSzPts val="2400"/>
              <a:buNone/>
              <a:defRPr sz="2400">
                <a:solidFill>
                  <a:schemeClr val="lt1"/>
                </a:solidFill>
              </a:defRPr>
            </a:lvl4pPr>
            <a:lvl5pPr lvl="4" algn="l">
              <a:lnSpc>
                <a:spcPct val="100000"/>
              </a:lnSpc>
              <a:spcBef>
                <a:spcPts val="0"/>
              </a:spcBef>
              <a:spcAft>
                <a:spcPts val="0"/>
              </a:spcAft>
              <a:buClr>
                <a:schemeClr val="lt1"/>
              </a:buClr>
              <a:buSzPts val="2400"/>
              <a:buNone/>
              <a:defRPr sz="2400">
                <a:solidFill>
                  <a:schemeClr val="lt1"/>
                </a:solidFill>
              </a:defRPr>
            </a:lvl5pPr>
            <a:lvl6pPr lvl="5" algn="l">
              <a:lnSpc>
                <a:spcPct val="100000"/>
              </a:lnSpc>
              <a:spcBef>
                <a:spcPts val="0"/>
              </a:spcBef>
              <a:spcAft>
                <a:spcPts val="0"/>
              </a:spcAft>
              <a:buClr>
                <a:schemeClr val="lt1"/>
              </a:buClr>
              <a:buSzPts val="2400"/>
              <a:buNone/>
              <a:defRPr sz="2400">
                <a:solidFill>
                  <a:schemeClr val="lt1"/>
                </a:solidFill>
              </a:defRPr>
            </a:lvl6pPr>
            <a:lvl7pPr lvl="6" algn="l">
              <a:lnSpc>
                <a:spcPct val="100000"/>
              </a:lnSpc>
              <a:spcBef>
                <a:spcPts val="0"/>
              </a:spcBef>
              <a:spcAft>
                <a:spcPts val="0"/>
              </a:spcAft>
              <a:buClr>
                <a:schemeClr val="lt1"/>
              </a:buClr>
              <a:buSzPts val="2400"/>
              <a:buNone/>
              <a:defRPr sz="2400">
                <a:solidFill>
                  <a:schemeClr val="lt1"/>
                </a:solidFill>
              </a:defRPr>
            </a:lvl7pPr>
            <a:lvl8pPr lvl="7" algn="l">
              <a:lnSpc>
                <a:spcPct val="100000"/>
              </a:lnSpc>
              <a:spcBef>
                <a:spcPts val="0"/>
              </a:spcBef>
              <a:spcAft>
                <a:spcPts val="0"/>
              </a:spcAft>
              <a:buClr>
                <a:schemeClr val="lt1"/>
              </a:buClr>
              <a:buSzPts val="2400"/>
              <a:buNone/>
              <a:defRPr sz="2400">
                <a:solidFill>
                  <a:schemeClr val="lt1"/>
                </a:solidFill>
              </a:defRPr>
            </a:lvl8pPr>
            <a:lvl9pPr lvl="8" algn="l">
              <a:lnSpc>
                <a:spcPct val="100000"/>
              </a:lnSpc>
              <a:spcBef>
                <a:spcPts val="0"/>
              </a:spcBef>
              <a:spcAft>
                <a:spcPts val="0"/>
              </a:spcAft>
              <a:buClr>
                <a:schemeClr val="lt1"/>
              </a:buClr>
              <a:buSzPts val="2400"/>
              <a:buNone/>
              <a:defRPr sz="2400">
                <a:solidFill>
                  <a:schemeClr val="lt1"/>
                </a:solidFill>
              </a:defRPr>
            </a:lvl9pPr>
          </a:lstStyle>
          <a:p>
            <a:endParaRPr/>
          </a:p>
        </p:txBody>
      </p:sp>
      <p:sp>
        <p:nvSpPr>
          <p:cNvPr id="13" name="Google Shape;13;p6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pt-BR"/>
              <a:t>‹nº›</a:t>
            </a:fld>
            <a:endParaRPr/>
          </a:p>
        </p:txBody>
      </p:sp>
      <p:pic>
        <p:nvPicPr>
          <p:cNvPr id="14" name="Google Shape;14;p60" title="FundoST.png"/>
          <p:cNvPicPr preferRelativeResize="0"/>
          <p:nvPr/>
        </p:nvPicPr>
        <p:blipFill>
          <a:blip r:embed="rId2">
            <a:alphaModFix/>
          </a:blip>
          <a:stretch>
            <a:fillRect/>
          </a:stretch>
        </p:blipFill>
        <p:spPr>
          <a:xfrm>
            <a:off x="4871" y="1"/>
            <a:ext cx="9139127" cy="514349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
        <p:cNvGrpSpPr/>
        <p:nvPr/>
      </p:nvGrpSpPr>
      <p:grpSpPr>
        <a:xfrm>
          <a:off x="0" y="0"/>
          <a:ext cx="0" cy="0"/>
          <a:chOff x="0" y="0"/>
          <a:chExt cx="0" cy="0"/>
        </a:xfrm>
      </p:grpSpPr>
      <p:sp>
        <p:nvSpPr>
          <p:cNvPr id="16" name="Google Shape;16;p61"/>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17;p6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6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19" name="Google Shape;19;p6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0"/>
        <p:cNvGrpSpPr/>
        <p:nvPr/>
      </p:nvGrpSpPr>
      <p:grpSpPr>
        <a:xfrm>
          <a:off x="0" y="0"/>
          <a:ext cx="0" cy="0"/>
          <a:chOff x="0" y="0"/>
          <a:chExt cx="0" cy="0"/>
        </a:xfrm>
      </p:grpSpPr>
      <p:sp>
        <p:nvSpPr>
          <p:cNvPr id="21" name="Google Shape;21;p62"/>
          <p:cNvSpPr/>
          <p:nvPr/>
        </p:nvSpPr>
        <p:spPr>
          <a:xfrm>
            <a:off x="4572000" y="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2" name="Google Shape;22;p62"/>
          <p:cNvCxnSpPr/>
          <p:nvPr/>
        </p:nvCxnSpPr>
        <p:spPr>
          <a:xfrm>
            <a:off x="5029675" y="4495500"/>
            <a:ext cx="468300" cy="0"/>
          </a:xfrm>
          <a:prstGeom prst="straightConnector1">
            <a:avLst/>
          </a:prstGeom>
          <a:noFill/>
          <a:ln w="19050" cap="flat" cmpd="sng">
            <a:solidFill>
              <a:schemeClr val="lt2"/>
            </a:solidFill>
            <a:prstDash val="solid"/>
            <a:round/>
            <a:headEnd type="none" w="sm" len="sm"/>
            <a:tailEnd type="none" w="sm" len="sm"/>
          </a:ln>
        </p:spPr>
      </p:cxnSp>
      <p:sp>
        <p:nvSpPr>
          <p:cNvPr id="23" name="Google Shape;23;p62"/>
          <p:cNvSpPr txBox="1">
            <a:spLocks noGrp="1"/>
          </p:cNvSpPr>
          <p:nvPr>
            <p:ph type="title"/>
          </p:nvPr>
        </p:nvSpPr>
        <p:spPr>
          <a:xfrm>
            <a:off x="265500" y="1205825"/>
            <a:ext cx="4045200" cy="1509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24" name="Google Shape;24;p62"/>
          <p:cNvSpPr txBox="1">
            <a:spLocks noGrp="1"/>
          </p:cNvSpPr>
          <p:nvPr>
            <p:ph type="subTitle" idx="1"/>
          </p:nvPr>
        </p:nvSpPr>
        <p:spPr>
          <a:xfrm>
            <a:off x="265500" y="2769001"/>
            <a:ext cx="4045200" cy="13455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25" name="Google Shape;25;p62"/>
          <p:cNvSpPr txBox="1">
            <a:spLocks noGrp="1"/>
          </p:cNvSpPr>
          <p:nvPr>
            <p:ph type="body" idx="2"/>
          </p:nvPr>
        </p:nvSpPr>
        <p:spPr>
          <a:xfrm>
            <a:off x="4939500" y="724200"/>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Clr>
                <a:schemeClr val="lt1"/>
              </a:buClr>
              <a:buSzPts val="1800"/>
              <a:buChar char="●"/>
              <a:defRPr>
                <a:solidFill>
                  <a:schemeClr val="lt1"/>
                </a:solidFill>
              </a:defRPr>
            </a:lvl1pPr>
            <a:lvl2pPr marL="914400" lvl="1" indent="-317500" algn="l">
              <a:lnSpc>
                <a:spcPct val="115000"/>
              </a:lnSpc>
              <a:spcBef>
                <a:spcPts val="1600"/>
              </a:spcBef>
              <a:spcAft>
                <a:spcPts val="0"/>
              </a:spcAft>
              <a:buClr>
                <a:schemeClr val="lt1"/>
              </a:buClr>
              <a:buSzPts val="1400"/>
              <a:buChar char="○"/>
              <a:defRPr>
                <a:solidFill>
                  <a:schemeClr val="lt1"/>
                </a:solidFill>
              </a:defRPr>
            </a:lvl2pPr>
            <a:lvl3pPr marL="1371600" lvl="2" indent="-317500" algn="l">
              <a:lnSpc>
                <a:spcPct val="115000"/>
              </a:lnSpc>
              <a:spcBef>
                <a:spcPts val="1600"/>
              </a:spcBef>
              <a:spcAft>
                <a:spcPts val="0"/>
              </a:spcAft>
              <a:buClr>
                <a:schemeClr val="lt1"/>
              </a:buClr>
              <a:buSzPts val="1400"/>
              <a:buChar char="■"/>
              <a:defRPr>
                <a:solidFill>
                  <a:schemeClr val="lt1"/>
                </a:solidFill>
              </a:defRPr>
            </a:lvl3pPr>
            <a:lvl4pPr marL="1828800" lvl="3" indent="-317500" algn="l">
              <a:lnSpc>
                <a:spcPct val="115000"/>
              </a:lnSpc>
              <a:spcBef>
                <a:spcPts val="1600"/>
              </a:spcBef>
              <a:spcAft>
                <a:spcPts val="0"/>
              </a:spcAft>
              <a:buClr>
                <a:schemeClr val="lt1"/>
              </a:buClr>
              <a:buSzPts val="1400"/>
              <a:buChar char="●"/>
              <a:defRPr>
                <a:solidFill>
                  <a:schemeClr val="lt1"/>
                </a:solidFill>
              </a:defRPr>
            </a:lvl4pPr>
            <a:lvl5pPr marL="2286000" lvl="4" indent="-317500" algn="l">
              <a:lnSpc>
                <a:spcPct val="115000"/>
              </a:lnSpc>
              <a:spcBef>
                <a:spcPts val="1600"/>
              </a:spcBef>
              <a:spcAft>
                <a:spcPts val="0"/>
              </a:spcAft>
              <a:buClr>
                <a:schemeClr val="lt1"/>
              </a:buClr>
              <a:buSzPts val="1400"/>
              <a:buChar char="○"/>
              <a:defRPr>
                <a:solidFill>
                  <a:schemeClr val="lt1"/>
                </a:solidFill>
              </a:defRPr>
            </a:lvl5pPr>
            <a:lvl6pPr marL="2743200" lvl="5" indent="-317500" algn="l">
              <a:lnSpc>
                <a:spcPct val="115000"/>
              </a:lnSpc>
              <a:spcBef>
                <a:spcPts val="1600"/>
              </a:spcBef>
              <a:spcAft>
                <a:spcPts val="0"/>
              </a:spcAft>
              <a:buClr>
                <a:schemeClr val="lt1"/>
              </a:buClr>
              <a:buSzPts val="1400"/>
              <a:buChar char="■"/>
              <a:defRPr>
                <a:solidFill>
                  <a:schemeClr val="lt1"/>
                </a:solidFill>
              </a:defRPr>
            </a:lvl6pPr>
            <a:lvl7pPr marL="3200400" lvl="6" indent="-317500" algn="l">
              <a:lnSpc>
                <a:spcPct val="115000"/>
              </a:lnSpc>
              <a:spcBef>
                <a:spcPts val="1600"/>
              </a:spcBef>
              <a:spcAft>
                <a:spcPts val="0"/>
              </a:spcAft>
              <a:buClr>
                <a:schemeClr val="lt1"/>
              </a:buClr>
              <a:buSzPts val="1400"/>
              <a:buChar char="●"/>
              <a:defRPr>
                <a:solidFill>
                  <a:schemeClr val="lt1"/>
                </a:solidFill>
              </a:defRPr>
            </a:lvl7pPr>
            <a:lvl8pPr marL="3657600" lvl="7" indent="-317500" algn="l">
              <a:lnSpc>
                <a:spcPct val="115000"/>
              </a:lnSpc>
              <a:spcBef>
                <a:spcPts val="1600"/>
              </a:spcBef>
              <a:spcAft>
                <a:spcPts val="0"/>
              </a:spcAft>
              <a:buClr>
                <a:schemeClr val="lt1"/>
              </a:buClr>
              <a:buSzPts val="1400"/>
              <a:buChar char="○"/>
              <a:defRPr>
                <a:solidFill>
                  <a:schemeClr val="lt1"/>
                </a:solidFill>
              </a:defRPr>
            </a:lvl8pPr>
            <a:lvl9pPr marL="4114800" lvl="8" indent="-317500" algn="l">
              <a:lnSpc>
                <a:spcPct val="115000"/>
              </a:lnSpc>
              <a:spcBef>
                <a:spcPts val="1600"/>
              </a:spcBef>
              <a:spcAft>
                <a:spcPts val="1600"/>
              </a:spcAft>
              <a:buClr>
                <a:schemeClr val="lt1"/>
              </a:buClr>
              <a:buSzPts val="1400"/>
              <a:buChar char="■"/>
              <a:defRPr>
                <a:solidFill>
                  <a:schemeClr val="lt1"/>
                </a:solidFill>
              </a:defRPr>
            </a:lvl9pPr>
          </a:lstStyle>
          <a:p>
            <a:endParaRPr/>
          </a:p>
        </p:txBody>
      </p:sp>
      <p:sp>
        <p:nvSpPr>
          <p:cNvPr id="26" name="Google Shape;26;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7"/>
        <p:cNvGrpSpPr/>
        <p:nvPr/>
      </p:nvGrpSpPr>
      <p:grpSpPr>
        <a:xfrm>
          <a:off x="0" y="0"/>
          <a:ext cx="0" cy="0"/>
          <a:chOff x="0" y="0"/>
          <a:chExt cx="0" cy="0"/>
        </a:xfrm>
      </p:grpSpPr>
      <p:sp>
        <p:nvSpPr>
          <p:cNvPr id="28" name="Google Shape;28;p63"/>
          <p:cNvSpPr txBox="1">
            <a:spLocks noGrp="1"/>
          </p:cNvSpPr>
          <p:nvPr>
            <p:ph type="title"/>
          </p:nvPr>
        </p:nvSpPr>
        <p:spPr>
          <a:xfrm>
            <a:off x="490250" y="526350"/>
            <a:ext cx="57975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29" name="Google Shape;29;p6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0"/>
        <p:cNvGrpSpPr/>
        <p:nvPr/>
      </p:nvGrpSpPr>
      <p:grpSpPr>
        <a:xfrm>
          <a:off x="0" y="0"/>
          <a:ext cx="0" cy="0"/>
          <a:chOff x="0" y="0"/>
          <a:chExt cx="0" cy="0"/>
        </a:xfrm>
      </p:grpSpPr>
      <p:cxnSp>
        <p:nvCxnSpPr>
          <p:cNvPr id="31" name="Google Shape;31;p64"/>
          <p:cNvCxnSpPr/>
          <p:nvPr/>
        </p:nvCxnSpPr>
        <p:spPr>
          <a:xfrm>
            <a:off x="0" y="2998150"/>
            <a:ext cx="9144000" cy="0"/>
          </a:xfrm>
          <a:prstGeom prst="straightConnector1">
            <a:avLst/>
          </a:prstGeom>
          <a:noFill/>
          <a:ln w="19050" cap="flat" cmpd="sng">
            <a:solidFill>
              <a:schemeClr val="lt2"/>
            </a:solidFill>
            <a:prstDash val="solid"/>
            <a:round/>
            <a:headEnd type="none" w="sm" len="sm"/>
            <a:tailEnd type="none" w="sm" len="sm"/>
          </a:ln>
        </p:spPr>
      </p:cxnSp>
      <p:sp>
        <p:nvSpPr>
          <p:cNvPr id="32" name="Google Shape;32;p64"/>
          <p:cNvSpPr txBox="1">
            <a:spLocks noGrp="1"/>
          </p:cNvSpPr>
          <p:nvPr>
            <p:ph type="title"/>
          </p:nvPr>
        </p:nvSpPr>
        <p:spPr>
          <a:xfrm>
            <a:off x="510450" y="2057400"/>
            <a:ext cx="8123100" cy="7788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33" name="Google Shape;33;p6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
        <p:cNvGrpSpPr/>
        <p:nvPr/>
      </p:nvGrpSpPr>
      <p:grpSpPr>
        <a:xfrm>
          <a:off x="0" y="0"/>
          <a:ext cx="0" cy="0"/>
          <a:chOff x="0" y="0"/>
          <a:chExt cx="0" cy="0"/>
        </a:xfrm>
      </p:grpSpPr>
      <p:sp>
        <p:nvSpPr>
          <p:cNvPr id="35" name="Google Shape;35;p6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6" name="Google Shape;36;p6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7" name="Google Shape;37;p6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8" name="Google Shape;38;p6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6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1" name="Google Shape;41;p6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6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4" name="Google Shape;44;p6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45" name="Google Shape;45;p6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6"/>
        <p:cNvGrpSpPr/>
        <p:nvPr/>
      </p:nvGrpSpPr>
      <p:grpSpPr>
        <a:xfrm>
          <a:off x="0" y="0"/>
          <a:ext cx="0" cy="0"/>
          <a:chOff x="0" y="0"/>
          <a:chExt cx="0" cy="0"/>
        </a:xfrm>
      </p:grpSpPr>
      <p:sp>
        <p:nvSpPr>
          <p:cNvPr id="47" name="Google Shape;47;p68"/>
          <p:cNvSpPr txBox="1">
            <a:spLocks noGrp="1"/>
          </p:cNvSpPr>
          <p:nvPr>
            <p:ph type="body" idx="1"/>
          </p:nvPr>
        </p:nvSpPr>
        <p:spPr>
          <a:xfrm>
            <a:off x="311700" y="4236825"/>
            <a:ext cx="5998800" cy="5988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2100"/>
              <a:buNone/>
              <a:defRPr sz="2100"/>
            </a:lvl1pPr>
          </a:lstStyle>
          <a:p>
            <a:endParaRPr/>
          </a:p>
        </p:txBody>
      </p:sp>
      <p:sp>
        <p:nvSpPr>
          <p:cNvPr id="48" name="Google Shape;48;p6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9"/>
        <p:cNvGrpSpPr/>
        <p:nvPr/>
      </p:nvGrpSpPr>
      <p:grpSpPr>
        <a:xfrm>
          <a:off x="0" y="0"/>
          <a:ext cx="0" cy="0"/>
          <a:chOff x="0" y="0"/>
          <a:chExt cx="0" cy="0"/>
        </a:xfrm>
      </p:grpSpPr>
      <p:sp>
        <p:nvSpPr>
          <p:cNvPr id="50" name="Google Shape;50;p69"/>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69"/>
          <p:cNvSpPr txBox="1">
            <a:spLocks noGrp="1"/>
          </p:cNvSpPr>
          <p:nvPr>
            <p:ph type="title" hasCustomPrompt="1"/>
          </p:nvPr>
        </p:nvSpPr>
        <p:spPr>
          <a:xfrm>
            <a:off x="311700" y="991475"/>
            <a:ext cx="8520600" cy="19179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14000"/>
              <a:buNone/>
              <a:defRPr sz="14000" b="1"/>
            </a:lvl1pPr>
            <a:lvl2pPr lvl="1" algn="ctr">
              <a:lnSpc>
                <a:spcPct val="100000"/>
              </a:lnSpc>
              <a:spcBef>
                <a:spcPts val="0"/>
              </a:spcBef>
              <a:spcAft>
                <a:spcPts val="0"/>
              </a:spcAft>
              <a:buSzPts val="14000"/>
              <a:buNone/>
              <a:defRPr sz="14000" b="1"/>
            </a:lvl2pPr>
            <a:lvl3pPr lvl="2" algn="ctr">
              <a:lnSpc>
                <a:spcPct val="100000"/>
              </a:lnSpc>
              <a:spcBef>
                <a:spcPts val="0"/>
              </a:spcBef>
              <a:spcAft>
                <a:spcPts val="0"/>
              </a:spcAft>
              <a:buSzPts val="14000"/>
              <a:buNone/>
              <a:defRPr sz="14000" b="1"/>
            </a:lvl3pPr>
            <a:lvl4pPr lvl="3" algn="ctr">
              <a:lnSpc>
                <a:spcPct val="100000"/>
              </a:lnSpc>
              <a:spcBef>
                <a:spcPts val="0"/>
              </a:spcBef>
              <a:spcAft>
                <a:spcPts val="0"/>
              </a:spcAft>
              <a:buSzPts val="14000"/>
              <a:buNone/>
              <a:defRPr sz="14000" b="1"/>
            </a:lvl4pPr>
            <a:lvl5pPr lvl="4" algn="ctr">
              <a:lnSpc>
                <a:spcPct val="100000"/>
              </a:lnSpc>
              <a:spcBef>
                <a:spcPts val="0"/>
              </a:spcBef>
              <a:spcAft>
                <a:spcPts val="0"/>
              </a:spcAft>
              <a:buSzPts val="14000"/>
              <a:buNone/>
              <a:defRPr sz="14000" b="1"/>
            </a:lvl5pPr>
            <a:lvl6pPr lvl="5" algn="ctr">
              <a:lnSpc>
                <a:spcPct val="100000"/>
              </a:lnSpc>
              <a:spcBef>
                <a:spcPts val="0"/>
              </a:spcBef>
              <a:spcAft>
                <a:spcPts val="0"/>
              </a:spcAft>
              <a:buSzPts val="14000"/>
              <a:buNone/>
              <a:defRPr sz="14000" b="1"/>
            </a:lvl6pPr>
            <a:lvl7pPr lvl="6" algn="ctr">
              <a:lnSpc>
                <a:spcPct val="100000"/>
              </a:lnSpc>
              <a:spcBef>
                <a:spcPts val="0"/>
              </a:spcBef>
              <a:spcAft>
                <a:spcPts val="0"/>
              </a:spcAft>
              <a:buSzPts val="14000"/>
              <a:buNone/>
              <a:defRPr sz="14000" b="1"/>
            </a:lvl7pPr>
            <a:lvl8pPr lvl="7" algn="ctr">
              <a:lnSpc>
                <a:spcPct val="100000"/>
              </a:lnSpc>
              <a:spcBef>
                <a:spcPts val="0"/>
              </a:spcBef>
              <a:spcAft>
                <a:spcPts val="0"/>
              </a:spcAft>
              <a:buSzPts val="14000"/>
              <a:buNone/>
              <a:defRPr sz="14000" b="1"/>
            </a:lvl8pPr>
            <a:lvl9pPr lvl="8" algn="ctr">
              <a:lnSpc>
                <a:spcPct val="100000"/>
              </a:lnSpc>
              <a:spcBef>
                <a:spcPts val="0"/>
              </a:spcBef>
              <a:spcAft>
                <a:spcPts val="0"/>
              </a:spcAft>
              <a:buSzPts val="14000"/>
              <a:buNone/>
              <a:defRPr sz="14000" b="1"/>
            </a:lvl9pPr>
          </a:lstStyle>
          <a:p>
            <a:r>
              <a:t>xx%</a:t>
            </a:r>
          </a:p>
        </p:txBody>
      </p:sp>
      <p:sp>
        <p:nvSpPr>
          <p:cNvPr id="52" name="Google Shape;52;p69"/>
          <p:cNvSpPr txBox="1">
            <a:spLocks noGrp="1"/>
          </p:cNvSpPr>
          <p:nvPr>
            <p:ph type="body" idx="1"/>
          </p:nvPr>
        </p:nvSpPr>
        <p:spPr>
          <a:xfrm>
            <a:off x="311700" y="3071300"/>
            <a:ext cx="8520600" cy="9018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53" name="Google Shape;53;p6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7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pearmint">
    <p:bg>
      <p:bgPr>
        <a:blipFill>
          <a:blip r:embed="rId13">
            <a:alphaModFix/>
          </a:blip>
          <a:stretch>
            <a:fillRect/>
          </a:stretch>
        </a:blipFill>
        <a:effectLst/>
      </p:bgPr>
    </p:bg>
    <p:spTree>
      <p:nvGrpSpPr>
        <p:cNvPr id="1" name="Shape 5"/>
        <p:cNvGrpSpPr/>
        <p:nvPr/>
      </p:nvGrpSpPr>
      <p:grpSpPr>
        <a:xfrm>
          <a:off x="0" y="0"/>
          <a:ext cx="0" cy="0"/>
          <a:chOff x="0" y="0"/>
          <a:chExt cx="0" cy="0"/>
        </a:xfrm>
      </p:grpSpPr>
      <p:sp>
        <p:nvSpPr>
          <p:cNvPr id="6" name="Google Shape;6;p5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dk1"/>
              </a:buClr>
              <a:buSzPts val="2800"/>
              <a:buFont typeface="Proxima Nova"/>
              <a:buNone/>
              <a:defRPr sz="2800" b="0" i="0" u="none" strike="noStrike" cap="none">
                <a:solidFill>
                  <a:schemeClr val="dk1"/>
                </a:solidFill>
                <a:latin typeface="Proxima Nova"/>
                <a:ea typeface="Proxima Nova"/>
                <a:cs typeface="Proxima Nova"/>
                <a:sym typeface="Proxima Nova"/>
              </a:defRPr>
            </a:lvl1pPr>
            <a:lvl2pPr marR="0" lvl="1" algn="l">
              <a:lnSpc>
                <a:spcPct val="100000"/>
              </a:lnSpc>
              <a:spcBef>
                <a:spcPts val="0"/>
              </a:spcBef>
              <a:spcAft>
                <a:spcPts val="0"/>
              </a:spcAft>
              <a:buClr>
                <a:schemeClr val="dk1"/>
              </a:buClr>
              <a:buSzPts val="2800"/>
              <a:buFont typeface="Proxima Nova"/>
              <a:buNone/>
              <a:defRPr sz="2800" b="0" i="0" u="none" strike="noStrike" cap="none">
                <a:solidFill>
                  <a:schemeClr val="dk1"/>
                </a:solidFill>
                <a:latin typeface="Proxima Nova"/>
                <a:ea typeface="Proxima Nova"/>
                <a:cs typeface="Proxima Nova"/>
                <a:sym typeface="Proxima Nova"/>
              </a:defRPr>
            </a:lvl2pPr>
            <a:lvl3pPr marR="0" lvl="2" algn="l">
              <a:lnSpc>
                <a:spcPct val="100000"/>
              </a:lnSpc>
              <a:spcBef>
                <a:spcPts val="0"/>
              </a:spcBef>
              <a:spcAft>
                <a:spcPts val="0"/>
              </a:spcAft>
              <a:buClr>
                <a:schemeClr val="dk1"/>
              </a:buClr>
              <a:buSzPts val="2800"/>
              <a:buFont typeface="Proxima Nova"/>
              <a:buNone/>
              <a:defRPr sz="2800" b="0" i="0" u="none" strike="noStrike" cap="none">
                <a:solidFill>
                  <a:schemeClr val="dk1"/>
                </a:solidFill>
                <a:latin typeface="Proxima Nova"/>
                <a:ea typeface="Proxima Nova"/>
                <a:cs typeface="Proxima Nova"/>
                <a:sym typeface="Proxima Nova"/>
              </a:defRPr>
            </a:lvl3pPr>
            <a:lvl4pPr marR="0" lvl="3" algn="l">
              <a:lnSpc>
                <a:spcPct val="100000"/>
              </a:lnSpc>
              <a:spcBef>
                <a:spcPts val="0"/>
              </a:spcBef>
              <a:spcAft>
                <a:spcPts val="0"/>
              </a:spcAft>
              <a:buClr>
                <a:schemeClr val="dk1"/>
              </a:buClr>
              <a:buSzPts val="2800"/>
              <a:buFont typeface="Proxima Nova"/>
              <a:buNone/>
              <a:defRPr sz="2800" b="0" i="0" u="none" strike="noStrike" cap="none">
                <a:solidFill>
                  <a:schemeClr val="dk1"/>
                </a:solidFill>
                <a:latin typeface="Proxima Nova"/>
                <a:ea typeface="Proxima Nova"/>
                <a:cs typeface="Proxima Nova"/>
                <a:sym typeface="Proxima Nova"/>
              </a:defRPr>
            </a:lvl4pPr>
            <a:lvl5pPr marR="0" lvl="4" algn="l">
              <a:lnSpc>
                <a:spcPct val="100000"/>
              </a:lnSpc>
              <a:spcBef>
                <a:spcPts val="0"/>
              </a:spcBef>
              <a:spcAft>
                <a:spcPts val="0"/>
              </a:spcAft>
              <a:buClr>
                <a:schemeClr val="dk1"/>
              </a:buClr>
              <a:buSzPts val="2800"/>
              <a:buFont typeface="Proxima Nova"/>
              <a:buNone/>
              <a:defRPr sz="2800" b="0" i="0" u="none" strike="noStrike" cap="none">
                <a:solidFill>
                  <a:schemeClr val="dk1"/>
                </a:solidFill>
                <a:latin typeface="Proxima Nova"/>
                <a:ea typeface="Proxima Nova"/>
                <a:cs typeface="Proxima Nova"/>
                <a:sym typeface="Proxima Nova"/>
              </a:defRPr>
            </a:lvl5pPr>
            <a:lvl6pPr marR="0" lvl="5" algn="l">
              <a:lnSpc>
                <a:spcPct val="100000"/>
              </a:lnSpc>
              <a:spcBef>
                <a:spcPts val="0"/>
              </a:spcBef>
              <a:spcAft>
                <a:spcPts val="0"/>
              </a:spcAft>
              <a:buClr>
                <a:schemeClr val="dk1"/>
              </a:buClr>
              <a:buSzPts val="2800"/>
              <a:buFont typeface="Proxima Nova"/>
              <a:buNone/>
              <a:defRPr sz="2800" b="0" i="0" u="none" strike="noStrike" cap="none">
                <a:solidFill>
                  <a:schemeClr val="dk1"/>
                </a:solidFill>
                <a:latin typeface="Proxima Nova"/>
                <a:ea typeface="Proxima Nova"/>
                <a:cs typeface="Proxima Nova"/>
                <a:sym typeface="Proxima Nova"/>
              </a:defRPr>
            </a:lvl6pPr>
            <a:lvl7pPr marR="0" lvl="6" algn="l">
              <a:lnSpc>
                <a:spcPct val="100000"/>
              </a:lnSpc>
              <a:spcBef>
                <a:spcPts val="0"/>
              </a:spcBef>
              <a:spcAft>
                <a:spcPts val="0"/>
              </a:spcAft>
              <a:buClr>
                <a:schemeClr val="dk1"/>
              </a:buClr>
              <a:buSzPts val="2800"/>
              <a:buFont typeface="Proxima Nova"/>
              <a:buNone/>
              <a:defRPr sz="2800" b="0" i="0" u="none" strike="noStrike" cap="none">
                <a:solidFill>
                  <a:schemeClr val="dk1"/>
                </a:solidFill>
                <a:latin typeface="Proxima Nova"/>
                <a:ea typeface="Proxima Nova"/>
                <a:cs typeface="Proxima Nova"/>
                <a:sym typeface="Proxima Nova"/>
              </a:defRPr>
            </a:lvl7pPr>
            <a:lvl8pPr marR="0" lvl="7" algn="l">
              <a:lnSpc>
                <a:spcPct val="100000"/>
              </a:lnSpc>
              <a:spcBef>
                <a:spcPts val="0"/>
              </a:spcBef>
              <a:spcAft>
                <a:spcPts val="0"/>
              </a:spcAft>
              <a:buClr>
                <a:schemeClr val="dk1"/>
              </a:buClr>
              <a:buSzPts val="2800"/>
              <a:buFont typeface="Proxima Nova"/>
              <a:buNone/>
              <a:defRPr sz="2800" b="0" i="0" u="none" strike="noStrike" cap="none">
                <a:solidFill>
                  <a:schemeClr val="dk1"/>
                </a:solidFill>
                <a:latin typeface="Proxima Nova"/>
                <a:ea typeface="Proxima Nova"/>
                <a:cs typeface="Proxima Nova"/>
                <a:sym typeface="Proxima Nova"/>
              </a:defRPr>
            </a:lvl8pPr>
            <a:lvl9pPr marR="0" lvl="8" algn="l">
              <a:lnSpc>
                <a:spcPct val="100000"/>
              </a:lnSpc>
              <a:spcBef>
                <a:spcPts val="0"/>
              </a:spcBef>
              <a:spcAft>
                <a:spcPts val="0"/>
              </a:spcAft>
              <a:buClr>
                <a:schemeClr val="dk1"/>
              </a:buClr>
              <a:buSzPts val="2800"/>
              <a:buFont typeface="Proxima Nova"/>
              <a:buNone/>
              <a:defRPr sz="2800" b="0" i="0" u="none" strike="noStrike" cap="none">
                <a:solidFill>
                  <a:schemeClr val="dk1"/>
                </a:solidFill>
                <a:latin typeface="Proxima Nova"/>
                <a:ea typeface="Proxima Nova"/>
                <a:cs typeface="Proxima Nova"/>
                <a:sym typeface="Proxima Nova"/>
              </a:defRPr>
            </a:lvl9pPr>
          </a:lstStyle>
          <a:p>
            <a:endParaRPr/>
          </a:p>
        </p:txBody>
      </p:sp>
      <p:sp>
        <p:nvSpPr>
          <p:cNvPr id="7" name="Google Shape;7;p5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a:lnSpc>
                <a:spcPct val="115000"/>
              </a:lnSpc>
              <a:spcBef>
                <a:spcPts val="0"/>
              </a:spcBef>
              <a:spcAft>
                <a:spcPts val="0"/>
              </a:spcAft>
              <a:buClr>
                <a:schemeClr val="accent3"/>
              </a:buClr>
              <a:buSzPts val="1800"/>
              <a:buFont typeface="Proxima Nova"/>
              <a:buChar char="●"/>
              <a:defRPr sz="1800" b="0" i="0" u="none" strike="noStrike" cap="none">
                <a:solidFill>
                  <a:schemeClr val="accent3"/>
                </a:solidFill>
                <a:latin typeface="Proxima Nova"/>
                <a:ea typeface="Proxima Nova"/>
                <a:cs typeface="Proxima Nova"/>
                <a:sym typeface="Proxima Nova"/>
              </a:defRPr>
            </a:lvl1pPr>
            <a:lvl2pPr marL="914400" marR="0" lvl="1" indent="-317500" algn="l">
              <a:lnSpc>
                <a:spcPct val="115000"/>
              </a:lnSpc>
              <a:spcBef>
                <a:spcPts val="1600"/>
              </a:spcBef>
              <a:spcAft>
                <a:spcPts val="0"/>
              </a:spcAft>
              <a:buClr>
                <a:schemeClr val="accent3"/>
              </a:buClr>
              <a:buSzPts val="1400"/>
              <a:buFont typeface="Proxima Nova"/>
              <a:buChar char="○"/>
              <a:defRPr sz="1400" b="0" i="0" u="none" strike="noStrike" cap="none">
                <a:solidFill>
                  <a:schemeClr val="accent3"/>
                </a:solidFill>
                <a:latin typeface="Proxima Nova"/>
                <a:ea typeface="Proxima Nova"/>
                <a:cs typeface="Proxima Nova"/>
                <a:sym typeface="Proxima Nova"/>
              </a:defRPr>
            </a:lvl2pPr>
            <a:lvl3pPr marL="1371600" marR="0" lvl="2" indent="-317500" algn="l">
              <a:lnSpc>
                <a:spcPct val="115000"/>
              </a:lnSpc>
              <a:spcBef>
                <a:spcPts val="1600"/>
              </a:spcBef>
              <a:spcAft>
                <a:spcPts val="0"/>
              </a:spcAft>
              <a:buClr>
                <a:schemeClr val="accent3"/>
              </a:buClr>
              <a:buSzPts val="1400"/>
              <a:buFont typeface="Proxima Nova"/>
              <a:buChar char="■"/>
              <a:defRPr sz="1400" b="0" i="0" u="none" strike="noStrike" cap="none">
                <a:solidFill>
                  <a:schemeClr val="accent3"/>
                </a:solidFill>
                <a:latin typeface="Proxima Nova"/>
                <a:ea typeface="Proxima Nova"/>
                <a:cs typeface="Proxima Nova"/>
                <a:sym typeface="Proxima Nova"/>
              </a:defRPr>
            </a:lvl3pPr>
            <a:lvl4pPr marL="1828800" marR="0" lvl="3" indent="-317500" algn="l">
              <a:lnSpc>
                <a:spcPct val="115000"/>
              </a:lnSpc>
              <a:spcBef>
                <a:spcPts val="1600"/>
              </a:spcBef>
              <a:spcAft>
                <a:spcPts val="0"/>
              </a:spcAft>
              <a:buClr>
                <a:schemeClr val="accent3"/>
              </a:buClr>
              <a:buSzPts val="1400"/>
              <a:buFont typeface="Proxima Nova"/>
              <a:buChar char="●"/>
              <a:defRPr sz="1400" b="0" i="0" u="none" strike="noStrike" cap="none">
                <a:solidFill>
                  <a:schemeClr val="accent3"/>
                </a:solidFill>
                <a:latin typeface="Proxima Nova"/>
                <a:ea typeface="Proxima Nova"/>
                <a:cs typeface="Proxima Nova"/>
                <a:sym typeface="Proxima Nova"/>
              </a:defRPr>
            </a:lvl4pPr>
            <a:lvl5pPr marL="2286000" marR="0" lvl="4" indent="-317500" algn="l">
              <a:lnSpc>
                <a:spcPct val="115000"/>
              </a:lnSpc>
              <a:spcBef>
                <a:spcPts val="1600"/>
              </a:spcBef>
              <a:spcAft>
                <a:spcPts val="0"/>
              </a:spcAft>
              <a:buClr>
                <a:schemeClr val="accent3"/>
              </a:buClr>
              <a:buSzPts val="1400"/>
              <a:buFont typeface="Proxima Nova"/>
              <a:buChar char="○"/>
              <a:defRPr sz="1400" b="0" i="0" u="none" strike="noStrike" cap="none">
                <a:solidFill>
                  <a:schemeClr val="accent3"/>
                </a:solidFill>
                <a:latin typeface="Proxima Nova"/>
                <a:ea typeface="Proxima Nova"/>
                <a:cs typeface="Proxima Nova"/>
                <a:sym typeface="Proxima Nova"/>
              </a:defRPr>
            </a:lvl5pPr>
            <a:lvl6pPr marL="2743200" marR="0" lvl="5" indent="-317500" algn="l">
              <a:lnSpc>
                <a:spcPct val="115000"/>
              </a:lnSpc>
              <a:spcBef>
                <a:spcPts val="1600"/>
              </a:spcBef>
              <a:spcAft>
                <a:spcPts val="0"/>
              </a:spcAft>
              <a:buClr>
                <a:schemeClr val="accent3"/>
              </a:buClr>
              <a:buSzPts val="1400"/>
              <a:buFont typeface="Proxima Nova"/>
              <a:buChar char="■"/>
              <a:defRPr sz="1400" b="0" i="0" u="none" strike="noStrike" cap="none">
                <a:solidFill>
                  <a:schemeClr val="accent3"/>
                </a:solidFill>
                <a:latin typeface="Proxima Nova"/>
                <a:ea typeface="Proxima Nova"/>
                <a:cs typeface="Proxima Nova"/>
                <a:sym typeface="Proxima Nova"/>
              </a:defRPr>
            </a:lvl6pPr>
            <a:lvl7pPr marL="3200400" marR="0" lvl="6" indent="-317500" algn="l">
              <a:lnSpc>
                <a:spcPct val="115000"/>
              </a:lnSpc>
              <a:spcBef>
                <a:spcPts val="1600"/>
              </a:spcBef>
              <a:spcAft>
                <a:spcPts val="0"/>
              </a:spcAft>
              <a:buClr>
                <a:schemeClr val="accent3"/>
              </a:buClr>
              <a:buSzPts val="1400"/>
              <a:buFont typeface="Proxima Nova"/>
              <a:buChar char="●"/>
              <a:defRPr sz="1400" b="0" i="0" u="none" strike="noStrike" cap="none">
                <a:solidFill>
                  <a:schemeClr val="accent3"/>
                </a:solidFill>
                <a:latin typeface="Proxima Nova"/>
                <a:ea typeface="Proxima Nova"/>
                <a:cs typeface="Proxima Nova"/>
                <a:sym typeface="Proxima Nova"/>
              </a:defRPr>
            </a:lvl7pPr>
            <a:lvl8pPr marL="3657600" marR="0" lvl="7" indent="-317500" algn="l">
              <a:lnSpc>
                <a:spcPct val="115000"/>
              </a:lnSpc>
              <a:spcBef>
                <a:spcPts val="1600"/>
              </a:spcBef>
              <a:spcAft>
                <a:spcPts val="0"/>
              </a:spcAft>
              <a:buClr>
                <a:schemeClr val="accent3"/>
              </a:buClr>
              <a:buSzPts val="1400"/>
              <a:buFont typeface="Proxima Nova"/>
              <a:buChar char="○"/>
              <a:defRPr sz="1400" b="0" i="0" u="none" strike="noStrike" cap="none">
                <a:solidFill>
                  <a:schemeClr val="accent3"/>
                </a:solidFill>
                <a:latin typeface="Proxima Nova"/>
                <a:ea typeface="Proxima Nova"/>
                <a:cs typeface="Proxima Nova"/>
                <a:sym typeface="Proxima Nova"/>
              </a:defRPr>
            </a:lvl8pPr>
            <a:lvl9pPr marL="4114800" marR="0" lvl="8" indent="-317500" algn="l">
              <a:lnSpc>
                <a:spcPct val="115000"/>
              </a:lnSpc>
              <a:spcBef>
                <a:spcPts val="1600"/>
              </a:spcBef>
              <a:spcAft>
                <a:spcPts val="1600"/>
              </a:spcAft>
              <a:buClr>
                <a:schemeClr val="accent3"/>
              </a:buClr>
              <a:buSzPts val="1400"/>
              <a:buFont typeface="Proxima Nova"/>
              <a:buChar char="■"/>
              <a:defRPr sz="1400" b="0" i="0" u="none" strike="noStrike" cap="none">
                <a:solidFill>
                  <a:schemeClr val="accent3"/>
                </a:solidFill>
                <a:latin typeface="Proxima Nova"/>
                <a:ea typeface="Proxima Nova"/>
                <a:cs typeface="Proxima Nova"/>
                <a:sym typeface="Proxima Nova"/>
              </a:defRPr>
            </a:lvl9pPr>
          </a:lstStyle>
          <a:p>
            <a:endParaRPr/>
          </a:p>
        </p:txBody>
      </p:sp>
      <p:sp>
        <p:nvSpPr>
          <p:cNvPr id="8" name="Google Shape;8;p5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pt-BR"/>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hyperlink" Target="https://github.com/sysbiolab" TargetMode="External"/><Relationship Id="rId4" Type="http://schemas.openxmlformats.org/officeDocument/2006/relationships/hyperlink" Target="https://github.com/flaviogckessler"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flaviogckessler" TargetMode="External"/><Relationship Id="rId7"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7.jpg"/><Relationship Id="rId5" Type="http://schemas.openxmlformats.org/officeDocument/2006/relationships/image" Target="../media/image6.png"/><Relationship Id="rId4" Type="http://schemas.openxmlformats.org/officeDocument/2006/relationships/hyperlink" Target="https://github.com/sysbiolab"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sysbiolab"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jpe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hyperlink" Target="https://www.datacamp.com/pt/tutorial/r-studio-tutorial" TargetMode="External"/><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41.png"/></Relationships>
</file>

<file path=ppt/slides/_rels/slide2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44.png"/></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2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3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51.png"/></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35.png"/></Relationships>
</file>

<file path=ppt/slides/_rels/slide3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image" Target="../media/image56.jpg"/></Relationships>
</file>

<file path=ppt/slides/_rels/slide3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60.png"/><Relationship Id="rId4" Type="http://schemas.openxmlformats.org/officeDocument/2006/relationships/image" Target="../media/image59.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4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doi.org/10.1038/s41588-025-02193-3" TargetMode="External"/><Relationship Id="rId2" Type="http://schemas.openxmlformats.org/officeDocument/2006/relationships/notesSlide" Target="../notesSlides/notesSlide43.xml"/><Relationship Id="rId1" Type="http://schemas.openxmlformats.org/officeDocument/2006/relationships/slideLayout" Target="../slideLayouts/slideLayout2.xml"/><Relationship Id="rId5" Type="http://schemas.openxmlformats.org/officeDocument/2006/relationships/image" Target="../media/image66.png"/><Relationship Id="rId4" Type="http://schemas.openxmlformats.org/officeDocument/2006/relationships/image" Target="../media/image65.png"/></Relationships>
</file>

<file path=ppt/slides/_rels/slide4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4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48.xml"/><Relationship Id="rId1" Type="http://schemas.openxmlformats.org/officeDocument/2006/relationships/slideLayout" Target="../slideLayouts/slideLayout2.xml"/><Relationship Id="rId5" Type="http://schemas.openxmlformats.org/officeDocument/2006/relationships/hyperlink" Target="https://www.10xgenomics.com/support/software/space-ranger/latest/algorithms-overview/gene-expression" TargetMode="External"/><Relationship Id="rId4" Type="http://schemas.openxmlformats.org/officeDocument/2006/relationships/image" Target="../media/image73.png"/></Relationships>
</file>

<file path=ppt/slides/_rels/slide4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5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51.xml"/><Relationship Id="rId1" Type="http://schemas.openxmlformats.org/officeDocument/2006/relationships/slideLayout" Target="../slideLayouts/slideLayout2.xml"/><Relationship Id="rId5" Type="http://schemas.openxmlformats.org/officeDocument/2006/relationships/image" Target="../media/image76.png"/><Relationship Id="rId4" Type="http://schemas.openxmlformats.org/officeDocument/2006/relationships/image" Target="../media/image75.png"/></Relationships>
</file>

<file path=ppt/slides/_rels/slide52.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61.xml"/><Relationship Id="rId1" Type="http://schemas.openxmlformats.org/officeDocument/2006/relationships/slideLayout" Target="../slideLayouts/slideLayout2.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64.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65.xml"/><Relationship Id="rId1" Type="http://schemas.openxmlformats.org/officeDocument/2006/relationships/slideLayout" Target="../slideLayouts/slideLayout2.xml"/><Relationship Id="rId5" Type="http://schemas.openxmlformats.org/officeDocument/2006/relationships/image" Target="../media/image86.png"/><Relationship Id="rId4" Type="http://schemas.openxmlformats.org/officeDocument/2006/relationships/image" Target="../media/image85.png"/></Relationships>
</file>

<file path=ppt/slides/_rels/slide66.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66.xml"/><Relationship Id="rId1" Type="http://schemas.openxmlformats.org/officeDocument/2006/relationships/slideLayout" Target="../slideLayouts/slideLayout2.xml"/><Relationship Id="rId4" Type="http://schemas.openxmlformats.org/officeDocument/2006/relationships/image" Target="../media/image88.png"/></Relationships>
</file>

<file path=ppt/slides/_rels/slide67.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image" Target="../media/image88.png"/></Relationships>
</file>

<file path=ppt/slides/_rels/slide68.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68.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0.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71.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71.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72.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72.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91.png"/></Relationships>
</file>

<file path=ppt/slides/_rels/slide73.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73.xml"/><Relationship Id="rId1" Type="http://schemas.openxmlformats.org/officeDocument/2006/relationships/slideLayout" Target="../slideLayouts/slideLayout2.xml"/><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image" Target="../media/image93.png"/></Relationships>
</file>

<file path=ppt/slides/_rels/slide74.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74.xml"/><Relationship Id="rId1" Type="http://schemas.openxmlformats.org/officeDocument/2006/relationships/slideLayout" Target="../slideLayouts/slideLayout2.xml"/><Relationship Id="rId6" Type="http://schemas.openxmlformats.org/officeDocument/2006/relationships/image" Target="../media/image97.png"/><Relationship Id="rId5" Type="http://schemas.openxmlformats.org/officeDocument/2006/relationships/hyperlink" Target="https://github.com/flaviogckessler/Curso_ST" TargetMode="External"/><Relationship Id="rId4" Type="http://schemas.openxmlformats.org/officeDocument/2006/relationships/image" Target="../media/image46.png"/></Relationships>
</file>

<file path=ppt/slides/_rels/slide75.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75.xml"/><Relationship Id="rId1" Type="http://schemas.openxmlformats.org/officeDocument/2006/relationships/slideLayout" Target="../slideLayouts/slideLayout2.xml"/><Relationship Id="rId6" Type="http://schemas.openxmlformats.org/officeDocument/2006/relationships/hyperlink" Target="https://flaviogckessler.github.io/Curso_ST/vinhetas/Configuracao_do_ambiente_RStudio.html" TargetMode="External"/><Relationship Id="rId5" Type="http://schemas.openxmlformats.org/officeDocument/2006/relationships/image" Target="../media/image46.png"/><Relationship Id="rId4" Type="http://schemas.openxmlformats.org/officeDocument/2006/relationships/image" Target="../media/image99.png"/></Relationships>
</file>

<file path=ppt/slides/_rels/slide76.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77.xml"/><Relationship Id="rId1" Type="http://schemas.openxmlformats.org/officeDocument/2006/relationships/slideLayout" Target="../slideLayouts/slideLayout2.xml"/><Relationship Id="rId5" Type="http://schemas.openxmlformats.org/officeDocument/2006/relationships/image" Target="../media/image102.png"/><Relationship Id="rId4" Type="http://schemas.openxmlformats.org/officeDocument/2006/relationships/image" Target="../media/image14.png"/></Relationships>
</file>

<file path=ppt/slides/_rels/slide78.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78.xml"/><Relationship Id="rId1" Type="http://schemas.openxmlformats.org/officeDocument/2006/relationships/slideLayout" Target="../slideLayouts/slideLayout2.xml"/><Relationship Id="rId5" Type="http://schemas.openxmlformats.org/officeDocument/2006/relationships/image" Target="../media/image105.png"/><Relationship Id="rId4" Type="http://schemas.openxmlformats.org/officeDocument/2006/relationships/image" Target="../media/image104.png"/></Relationships>
</file>

<file path=ppt/slides/_rels/slide7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g3f8c134e9bc_0_47"/>
          <p:cNvSpPr txBox="1">
            <a:spLocks noGrp="1"/>
          </p:cNvSpPr>
          <p:nvPr>
            <p:ph type="ctrTitle"/>
          </p:nvPr>
        </p:nvSpPr>
        <p:spPr>
          <a:xfrm>
            <a:off x="519975" y="643075"/>
            <a:ext cx="4320000" cy="15885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800"/>
              <a:buNone/>
            </a:pPr>
            <a:r>
              <a:rPr lang="pt-BR" sz="3500" dirty="0"/>
              <a:t>Análise de Dados de </a:t>
            </a:r>
            <a:endParaRPr sz="3500" dirty="0"/>
          </a:p>
          <a:p>
            <a:pPr marL="0" lvl="0" indent="0" algn="l" rtl="0">
              <a:lnSpc>
                <a:spcPct val="100000"/>
              </a:lnSpc>
              <a:spcBef>
                <a:spcPts val="0"/>
              </a:spcBef>
              <a:spcAft>
                <a:spcPts val="0"/>
              </a:spcAft>
              <a:buSzPts val="4800"/>
              <a:buNone/>
            </a:pPr>
            <a:r>
              <a:rPr lang="pt-BR" sz="3500" dirty="0"/>
              <a:t>Transcriptômica Espacial</a:t>
            </a:r>
            <a:endParaRPr sz="2000" i="1" dirty="0">
              <a:solidFill>
                <a:schemeClr val="lt2"/>
              </a:solidFill>
            </a:endParaRPr>
          </a:p>
        </p:txBody>
      </p:sp>
      <p:sp>
        <p:nvSpPr>
          <p:cNvPr id="61" name="Google Shape;61;g3f8c134e9bc_0_47"/>
          <p:cNvSpPr txBox="1">
            <a:spLocks noGrp="1"/>
          </p:cNvSpPr>
          <p:nvPr>
            <p:ph type="subTitle" idx="1"/>
          </p:nvPr>
        </p:nvSpPr>
        <p:spPr>
          <a:xfrm>
            <a:off x="601618" y="3989475"/>
            <a:ext cx="3537900" cy="9081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2400"/>
              <a:buNone/>
            </a:pPr>
            <a:r>
              <a:rPr lang="pt-BR" sz="1900"/>
              <a:t>Flávio Gabriel Carazza-Kessler</a:t>
            </a:r>
            <a:endParaRPr sz="1900"/>
          </a:p>
          <a:p>
            <a:pPr marL="0" lvl="0" indent="0" algn="r" rtl="0">
              <a:lnSpc>
                <a:spcPct val="100000"/>
              </a:lnSpc>
              <a:spcBef>
                <a:spcPts val="0"/>
              </a:spcBef>
              <a:spcAft>
                <a:spcPts val="0"/>
              </a:spcAft>
              <a:buSzPts val="2400"/>
              <a:buNone/>
            </a:pPr>
            <a:r>
              <a:rPr lang="pt-BR" sz="1200"/>
              <a:t>Mestre  em Bioquímica, UFRGS</a:t>
            </a:r>
            <a:endParaRPr sz="1200"/>
          </a:p>
          <a:p>
            <a:pPr marL="0" lvl="0" indent="0" algn="r" rtl="0">
              <a:lnSpc>
                <a:spcPct val="100000"/>
              </a:lnSpc>
              <a:spcBef>
                <a:spcPts val="0"/>
              </a:spcBef>
              <a:spcAft>
                <a:spcPts val="0"/>
              </a:spcAft>
              <a:buSzPts val="2400"/>
              <a:buNone/>
            </a:pPr>
            <a:r>
              <a:rPr lang="pt-BR" sz="1200"/>
              <a:t>Doutorando em Bioinformática, UFPR</a:t>
            </a:r>
            <a:endParaRPr sz="1200"/>
          </a:p>
        </p:txBody>
      </p:sp>
      <p:pic>
        <p:nvPicPr>
          <p:cNvPr id="62" name="Google Shape;62;g3f8c134e9bc_0_47" title="UFPR_branco_transparente.png"/>
          <p:cNvPicPr preferRelativeResize="0"/>
          <p:nvPr/>
        </p:nvPicPr>
        <p:blipFill>
          <a:blip r:embed="rId3">
            <a:alphaModFix/>
          </a:blip>
          <a:stretch>
            <a:fillRect/>
          </a:stretch>
        </p:blipFill>
        <p:spPr>
          <a:xfrm>
            <a:off x="4057875" y="4094375"/>
            <a:ext cx="1396599" cy="6983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2"/>
          <p:cNvSpPr txBox="1">
            <a:spLocks noGrp="1"/>
          </p:cNvSpPr>
          <p:nvPr>
            <p:ph type="title"/>
          </p:nvPr>
        </p:nvSpPr>
        <p:spPr>
          <a:xfrm>
            <a:off x="311700" y="2164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b="1"/>
              <a:t>Análise de Dados de Transcriptômica Espacial</a:t>
            </a:r>
            <a:endParaRPr b="1"/>
          </a:p>
          <a:p>
            <a:pPr marL="0" lvl="0" indent="0" algn="l" rtl="0">
              <a:lnSpc>
                <a:spcPct val="100000"/>
              </a:lnSpc>
              <a:spcBef>
                <a:spcPts val="0"/>
              </a:spcBef>
              <a:spcAft>
                <a:spcPts val="0"/>
              </a:spcAft>
              <a:buSzPts val="2800"/>
              <a:buNone/>
            </a:pPr>
            <a:endParaRPr b="1"/>
          </a:p>
        </p:txBody>
      </p:sp>
      <p:sp>
        <p:nvSpPr>
          <p:cNvPr id="73" name="Google Shape;73;p2"/>
          <p:cNvSpPr txBox="1">
            <a:spLocks noGrp="1"/>
          </p:cNvSpPr>
          <p:nvPr>
            <p:ph type="body" idx="1"/>
          </p:nvPr>
        </p:nvSpPr>
        <p:spPr>
          <a:xfrm>
            <a:off x="1714500" y="771475"/>
            <a:ext cx="7117800" cy="1633200"/>
          </a:xfrm>
          <a:prstGeom prst="rect">
            <a:avLst/>
          </a:prstGeom>
          <a:noFill/>
          <a:ln>
            <a:noFill/>
          </a:ln>
        </p:spPr>
        <p:txBody>
          <a:bodyPr spcFirstLastPara="1" wrap="square" lIns="91425" tIns="91425" rIns="91425" bIns="91425" anchor="t" anchorCtr="0">
            <a:noAutofit/>
          </a:bodyPr>
          <a:lstStyle/>
          <a:p>
            <a:pPr marL="457200" lvl="0" indent="-314325" algn="l" rtl="0">
              <a:lnSpc>
                <a:spcPct val="115000"/>
              </a:lnSpc>
              <a:spcBef>
                <a:spcPts val="0"/>
              </a:spcBef>
              <a:spcAft>
                <a:spcPts val="0"/>
              </a:spcAft>
              <a:buClr>
                <a:schemeClr val="dk1"/>
              </a:buClr>
              <a:buSzPts val="1350"/>
              <a:buAutoNum type="arabicPeriod"/>
            </a:pPr>
            <a:r>
              <a:rPr lang="pt-BR" sz="1350">
                <a:solidFill>
                  <a:schemeClr val="dk1"/>
                </a:solidFill>
              </a:rPr>
              <a:t>Apresentar os fundamentos teóricos relacionadas à transcriptômica de alta resolução, com foco em </a:t>
            </a:r>
            <a:r>
              <a:rPr lang="pt-BR" sz="1350" b="1">
                <a:solidFill>
                  <a:schemeClr val="dk1"/>
                </a:solidFill>
              </a:rPr>
              <a:t>transcriptômica espacial</a:t>
            </a:r>
            <a:r>
              <a:rPr lang="pt-BR" sz="1350">
                <a:solidFill>
                  <a:schemeClr val="dk1"/>
                </a:solidFill>
              </a:rPr>
              <a:t> </a:t>
            </a:r>
            <a:endParaRPr sz="1350">
              <a:solidFill>
                <a:schemeClr val="dk1"/>
              </a:solidFill>
            </a:endParaRPr>
          </a:p>
          <a:p>
            <a:pPr marL="457200" lvl="0" indent="-314325" algn="l" rtl="0">
              <a:lnSpc>
                <a:spcPct val="115000"/>
              </a:lnSpc>
              <a:spcBef>
                <a:spcPts val="0"/>
              </a:spcBef>
              <a:spcAft>
                <a:spcPts val="0"/>
              </a:spcAft>
              <a:buClr>
                <a:schemeClr val="dk1"/>
              </a:buClr>
              <a:buSzPts val="1350"/>
              <a:buAutoNum type="arabicPeriod"/>
            </a:pPr>
            <a:r>
              <a:rPr lang="pt-BR" sz="1350" b="1">
                <a:solidFill>
                  <a:schemeClr val="dk1"/>
                </a:solidFill>
              </a:rPr>
              <a:t>Treinamento prático</a:t>
            </a:r>
            <a:r>
              <a:rPr lang="pt-BR" sz="1350">
                <a:solidFill>
                  <a:schemeClr val="dk1"/>
                </a:solidFill>
              </a:rPr>
              <a:t> com os passos fundamentais para a análise desse tipo de dado.</a:t>
            </a:r>
            <a:endParaRPr sz="1350">
              <a:solidFill>
                <a:schemeClr val="dk1"/>
              </a:solidFill>
            </a:endParaRPr>
          </a:p>
          <a:p>
            <a:pPr marL="457200" lvl="0" indent="-314325" algn="l" rtl="0">
              <a:lnSpc>
                <a:spcPct val="115000"/>
              </a:lnSpc>
              <a:spcBef>
                <a:spcPts val="0"/>
              </a:spcBef>
              <a:spcAft>
                <a:spcPts val="0"/>
              </a:spcAft>
              <a:buClr>
                <a:schemeClr val="dk1"/>
              </a:buClr>
              <a:buSzPts val="1350"/>
              <a:buAutoNum type="arabicPeriod"/>
            </a:pPr>
            <a:r>
              <a:rPr lang="pt-BR" sz="1350" b="1">
                <a:solidFill>
                  <a:schemeClr val="dk1"/>
                </a:solidFill>
              </a:rPr>
              <a:t>Capacitação para aplicação</a:t>
            </a:r>
            <a:r>
              <a:rPr lang="pt-BR" sz="1350">
                <a:solidFill>
                  <a:schemeClr val="dk1"/>
                </a:solidFill>
              </a:rPr>
              <a:t> desses fundamentos nas áreas da Ciência da Saúde e Biológicas</a:t>
            </a:r>
            <a:endParaRPr sz="1350">
              <a:solidFill>
                <a:schemeClr val="dk1"/>
              </a:solidFill>
            </a:endParaRPr>
          </a:p>
          <a:p>
            <a:pPr marL="0" lvl="0" indent="0" algn="l" rtl="0">
              <a:lnSpc>
                <a:spcPct val="115000"/>
              </a:lnSpc>
              <a:spcBef>
                <a:spcPts val="1600"/>
              </a:spcBef>
              <a:spcAft>
                <a:spcPts val="0"/>
              </a:spcAft>
              <a:buSzPts val="1800"/>
              <a:buNone/>
            </a:pPr>
            <a:endParaRPr sz="1350">
              <a:solidFill>
                <a:schemeClr val="dk1"/>
              </a:solidFill>
            </a:endParaRPr>
          </a:p>
          <a:p>
            <a:pPr marL="0" lvl="0" indent="0" algn="l" rtl="0">
              <a:lnSpc>
                <a:spcPct val="115000"/>
              </a:lnSpc>
              <a:spcBef>
                <a:spcPts val="1600"/>
              </a:spcBef>
              <a:spcAft>
                <a:spcPts val="1600"/>
              </a:spcAft>
              <a:buSzPts val="1800"/>
              <a:buNone/>
            </a:pPr>
            <a:endParaRPr sz="1350">
              <a:solidFill>
                <a:schemeClr val="dk1"/>
              </a:solidFill>
            </a:endParaRPr>
          </a:p>
        </p:txBody>
      </p:sp>
      <p:sp>
        <p:nvSpPr>
          <p:cNvPr id="74" name="Google Shape;74;p2"/>
          <p:cNvSpPr txBox="1"/>
          <p:nvPr/>
        </p:nvSpPr>
        <p:spPr>
          <a:xfrm>
            <a:off x="311700" y="872025"/>
            <a:ext cx="1185000" cy="630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pt-BR" sz="1700" b="1" i="0" u="none" strike="noStrike" cap="none">
                <a:solidFill>
                  <a:schemeClr val="dk1"/>
                </a:solidFill>
                <a:highlight>
                  <a:srgbClr val="D9D9D9"/>
                </a:highlight>
                <a:latin typeface="Proxima Nova"/>
                <a:ea typeface="Proxima Nova"/>
                <a:cs typeface="Proxima Nova"/>
                <a:sym typeface="Proxima Nova"/>
              </a:rPr>
              <a:t>Objetivo</a:t>
            </a:r>
            <a:endParaRPr sz="1700" b="1" i="0" u="none" strike="noStrike" cap="none">
              <a:solidFill>
                <a:schemeClr val="dk1"/>
              </a:solidFill>
              <a:highlight>
                <a:srgbClr val="D9D9D9"/>
              </a:highlight>
              <a:latin typeface="Proxima Nova"/>
              <a:ea typeface="Proxima Nova"/>
              <a:cs typeface="Proxima Nova"/>
              <a:sym typeface="Proxima Nova"/>
            </a:endParaRPr>
          </a:p>
          <a:p>
            <a:pPr marL="0" marR="0" lvl="0" indent="0" algn="l" rtl="0">
              <a:lnSpc>
                <a:spcPct val="100000"/>
              </a:lnSpc>
              <a:spcBef>
                <a:spcPts val="0"/>
              </a:spcBef>
              <a:spcAft>
                <a:spcPts val="0"/>
              </a:spcAft>
              <a:buClr>
                <a:srgbClr val="000000"/>
              </a:buClr>
              <a:buSzPts val="1500"/>
              <a:buFont typeface="Arial"/>
              <a:buNone/>
            </a:pPr>
            <a:endParaRPr sz="1700" b="1" i="0" u="none" strike="noStrike" cap="none">
              <a:solidFill>
                <a:schemeClr val="dk1"/>
              </a:solidFill>
              <a:highlight>
                <a:srgbClr val="D9D9D9"/>
              </a:highlight>
              <a:latin typeface="Proxima Nova"/>
              <a:ea typeface="Proxima Nova"/>
              <a:cs typeface="Proxima Nova"/>
              <a:sym typeface="Proxima Nova"/>
            </a:endParaRPr>
          </a:p>
        </p:txBody>
      </p:sp>
      <p:grpSp>
        <p:nvGrpSpPr>
          <p:cNvPr id="75" name="Google Shape;75;p2"/>
          <p:cNvGrpSpPr/>
          <p:nvPr/>
        </p:nvGrpSpPr>
        <p:grpSpPr>
          <a:xfrm>
            <a:off x="3490972" y="2171601"/>
            <a:ext cx="2604537" cy="2693120"/>
            <a:chOff x="3071457" y="2013875"/>
            <a:chExt cx="1944600" cy="1569600"/>
          </a:xfrm>
        </p:grpSpPr>
        <p:sp>
          <p:nvSpPr>
            <p:cNvPr id="76" name="Google Shape;76;p2"/>
            <p:cNvSpPr/>
            <p:nvPr/>
          </p:nvSpPr>
          <p:spPr>
            <a:xfrm rot="10800000" flipH="1">
              <a:off x="3071457" y="2013875"/>
              <a:ext cx="1944600" cy="1569600"/>
            </a:xfrm>
            <a:prstGeom prst="round2DiagRect">
              <a:avLst>
                <a:gd name="adj1" fmla="val 0"/>
                <a:gd name="adj2" fmla="val 17764"/>
              </a:avLst>
            </a:prstGeom>
            <a:solidFill>
              <a:schemeClr val="tx2">
                <a:lumMod val="75000"/>
              </a:schemeClr>
            </a:solidFill>
            <a:ln>
              <a:noFill/>
            </a:ln>
          </p:spPr>
          <p:txBody>
            <a:bodyPr spcFirstLastPara="1" wrap="square" lIns="104425" tIns="104425" rIns="104425" bIns="104425" anchor="ctr" anchorCtr="0">
              <a:noAutofit/>
            </a:bodyPr>
            <a:lstStyle/>
            <a:p>
              <a:pPr marL="0" marR="0" lvl="0" indent="0" algn="l" rtl="0">
                <a:lnSpc>
                  <a:spcPct val="100000"/>
                </a:lnSpc>
                <a:spcBef>
                  <a:spcPts val="0"/>
                </a:spcBef>
                <a:spcAft>
                  <a:spcPts val="0"/>
                </a:spcAft>
                <a:buClr>
                  <a:srgbClr val="000000"/>
                </a:buClr>
                <a:buSzPts val="1599"/>
                <a:buFont typeface="Arial"/>
                <a:buNone/>
              </a:pPr>
              <a:endParaRPr sz="1599" b="0" i="0" u="none" strike="noStrike" cap="none">
                <a:solidFill>
                  <a:srgbClr val="000000"/>
                </a:solidFill>
                <a:latin typeface="Proxima Nova"/>
                <a:ea typeface="Proxima Nova"/>
                <a:cs typeface="Proxima Nova"/>
                <a:sym typeface="Proxima Nova"/>
              </a:endParaRPr>
            </a:p>
          </p:txBody>
        </p:sp>
        <p:sp>
          <p:nvSpPr>
            <p:cNvPr id="77" name="Google Shape;77;p2"/>
            <p:cNvSpPr txBox="1"/>
            <p:nvPr/>
          </p:nvSpPr>
          <p:spPr>
            <a:xfrm>
              <a:off x="3316102" y="2094121"/>
              <a:ext cx="1451700" cy="459900"/>
            </a:xfrm>
            <a:prstGeom prst="rect">
              <a:avLst/>
            </a:prstGeom>
            <a:solidFill>
              <a:schemeClr val="tx2">
                <a:lumMod val="75000"/>
              </a:schemeClr>
            </a:solidFill>
            <a:ln>
              <a:noFill/>
            </a:ln>
          </p:spPr>
          <p:txBody>
            <a:bodyPr spcFirstLastPara="1" wrap="square" lIns="104425" tIns="104425" rIns="104425" bIns="104425" anchor="t" anchorCtr="0">
              <a:noAutofit/>
            </a:bodyPr>
            <a:lstStyle/>
            <a:p>
              <a:pPr marL="0" marR="0" lvl="0" indent="0" algn="l" rtl="0">
                <a:lnSpc>
                  <a:spcPct val="100000"/>
                </a:lnSpc>
                <a:spcBef>
                  <a:spcPts val="0"/>
                </a:spcBef>
                <a:spcAft>
                  <a:spcPts val="0"/>
                </a:spcAft>
                <a:buClr>
                  <a:srgbClr val="000000"/>
                </a:buClr>
                <a:buSzPts val="1256"/>
                <a:buFont typeface="Arial"/>
                <a:buNone/>
              </a:pPr>
              <a:r>
                <a:rPr lang="pt-BR" sz="1256" b="1" i="0" u="none" strike="noStrike" cap="none">
                  <a:solidFill>
                    <a:srgbClr val="FFFFFF"/>
                  </a:solidFill>
                  <a:latin typeface="Proxima Nova"/>
                  <a:ea typeface="Proxima Nova"/>
                  <a:cs typeface="Proxima Nova"/>
                  <a:sym typeface="Proxima Nova"/>
                </a:rPr>
                <a:t>Aula 2</a:t>
              </a:r>
              <a:endParaRPr sz="1256" b="1" i="0" u="none" strike="noStrike" cap="none">
                <a:solidFill>
                  <a:srgbClr val="FFFFFF"/>
                </a:solidFill>
                <a:latin typeface="Proxima Nova"/>
                <a:ea typeface="Proxima Nova"/>
                <a:cs typeface="Proxima Nova"/>
                <a:sym typeface="Proxima Nova"/>
              </a:endParaRPr>
            </a:p>
            <a:p>
              <a:pPr marL="0" marR="0" lvl="0" indent="0" algn="l" rtl="0">
                <a:lnSpc>
                  <a:spcPct val="100000"/>
                </a:lnSpc>
                <a:spcBef>
                  <a:spcPts val="0"/>
                </a:spcBef>
                <a:spcAft>
                  <a:spcPts val="0"/>
                </a:spcAft>
                <a:buClr>
                  <a:srgbClr val="000000"/>
                </a:buClr>
                <a:buSzPts val="1256"/>
                <a:buFont typeface="Arial"/>
                <a:buNone/>
              </a:pPr>
              <a:r>
                <a:rPr lang="pt-BR" sz="1256" b="1" i="0" u="none" strike="noStrike" cap="none">
                  <a:solidFill>
                    <a:srgbClr val="FFFFFF"/>
                  </a:solidFill>
                  <a:latin typeface="Proxima Nova"/>
                  <a:ea typeface="Proxima Nova"/>
                  <a:cs typeface="Proxima Nova"/>
                  <a:sym typeface="Proxima Nova"/>
                </a:rPr>
                <a:t>Pré-processamento + An</a:t>
              </a:r>
              <a:r>
                <a:rPr lang="pt-BR" sz="1256" b="1">
                  <a:solidFill>
                    <a:srgbClr val="FFFFFF"/>
                  </a:solidFill>
                  <a:latin typeface="Proxima Nova"/>
                  <a:ea typeface="Proxima Nova"/>
                  <a:cs typeface="Proxima Nova"/>
                  <a:sym typeface="Proxima Nova"/>
                </a:rPr>
                <a:t>álises iniciais</a:t>
              </a:r>
              <a:endParaRPr sz="1256" b="1" i="0" u="none" strike="noStrike" cap="none">
                <a:solidFill>
                  <a:srgbClr val="FFFFFF"/>
                </a:solidFill>
                <a:latin typeface="Proxima Nova"/>
                <a:ea typeface="Proxima Nova"/>
                <a:cs typeface="Proxima Nova"/>
                <a:sym typeface="Proxima Nova"/>
              </a:endParaRPr>
            </a:p>
          </p:txBody>
        </p:sp>
        <p:sp>
          <p:nvSpPr>
            <p:cNvPr id="78" name="Google Shape;78;p2"/>
            <p:cNvSpPr txBox="1"/>
            <p:nvPr/>
          </p:nvSpPr>
          <p:spPr>
            <a:xfrm>
              <a:off x="3314926" y="2554021"/>
              <a:ext cx="1451700" cy="867753"/>
            </a:xfrm>
            <a:prstGeom prst="rect">
              <a:avLst/>
            </a:prstGeom>
            <a:solidFill>
              <a:schemeClr val="tx2">
                <a:lumMod val="75000"/>
              </a:schemeClr>
            </a:solidFill>
            <a:ln>
              <a:noFill/>
            </a:ln>
          </p:spPr>
          <p:txBody>
            <a:bodyPr spcFirstLastPara="1" wrap="square" lIns="104425" tIns="104425" rIns="104425" bIns="104425" anchor="t" anchorCtr="0">
              <a:noAutofit/>
            </a:bodyPr>
            <a:lstStyle/>
            <a:p>
              <a:pPr marL="0" marR="0" lvl="0" indent="0" algn="l" rtl="0">
                <a:lnSpc>
                  <a:spcPct val="115000"/>
                </a:lnSpc>
                <a:spcBef>
                  <a:spcPts val="0"/>
                </a:spcBef>
                <a:spcAft>
                  <a:spcPts val="0"/>
                </a:spcAft>
                <a:buClr>
                  <a:srgbClr val="000000"/>
                </a:buClr>
                <a:buSzPts val="1142"/>
                <a:buFont typeface="Arial"/>
                <a:buNone/>
              </a:pPr>
              <a:r>
                <a:rPr lang="pt-BR" sz="1142" dirty="0">
                  <a:solidFill>
                    <a:srgbClr val="FFFFFF"/>
                  </a:solidFill>
                  <a:latin typeface="Proxima Nova"/>
                  <a:ea typeface="Proxima Nova"/>
                  <a:cs typeface="Proxima Nova"/>
                  <a:sym typeface="Proxima Nova"/>
                </a:rPr>
                <a:t>Upload de dados</a:t>
              </a:r>
              <a:endParaRPr sz="1142" dirty="0">
                <a:solidFill>
                  <a:srgbClr val="FFFFFF"/>
                </a:solidFill>
                <a:latin typeface="Proxima Nova"/>
                <a:ea typeface="Proxima Nova"/>
                <a:cs typeface="Proxima Nova"/>
                <a:sym typeface="Proxima Nova"/>
              </a:endParaRPr>
            </a:p>
            <a:p>
              <a:pPr marL="0" marR="0" lvl="0" indent="0" algn="l" rtl="0">
                <a:lnSpc>
                  <a:spcPct val="115000"/>
                </a:lnSpc>
                <a:spcBef>
                  <a:spcPts val="0"/>
                </a:spcBef>
                <a:spcAft>
                  <a:spcPts val="0"/>
                </a:spcAft>
                <a:buClr>
                  <a:srgbClr val="000000"/>
                </a:buClr>
                <a:buSzPts val="1142"/>
                <a:buFont typeface="Arial"/>
                <a:buNone/>
              </a:pPr>
              <a:endParaRPr sz="1142" dirty="0">
                <a:solidFill>
                  <a:srgbClr val="FFFFFF"/>
                </a:solidFill>
                <a:latin typeface="Proxima Nova"/>
                <a:ea typeface="Proxima Nova"/>
                <a:cs typeface="Proxima Nova"/>
                <a:sym typeface="Proxima Nova"/>
              </a:endParaRPr>
            </a:p>
            <a:p>
              <a:pPr marL="0" marR="0" lvl="0" indent="0" algn="l" rtl="0">
                <a:lnSpc>
                  <a:spcPct val="115000"/>
                </a:lnSpc>
                <a:spcBef>
                  <a:spcPts val="0"/>
                </a:spcBef>
                <a:spcAft>
                  <a:spcPts val="0"/>
                </a:spcAft>
                <a:buClr>
                  <a:srgbClr val="000000"/>
                </a:buClr>
                <a:buSzPts val="1142"/>
                <a:buFont typeface="Arial"/>
                <a:buNone/>
              </a:pPr>
              <a:r>
                <a:rPr lang="pt-BR" sz="1142" b="0" i="0" u="none" strike="noStrike" cap="none" dirty="0">
                  <a:solidFill>
                    <a:srgbClr val="FFFFFF"/>
                  </a:solidFill>
                  <a:latin typeface="Proxima Nova"/>
                  <a:ea typeface="Proxima Nova"/>
                  <a:cs typeface="Proxima Nova"/>
                  <a:sym typeface="Proxima Nova"/>
                </a:rPr>
                <a:t>Etapas de pré-processamento</a:t>
              </a:r>
              <a:r>
                <a:rPr lang="pt-BR" sz="1142" dirty="0">
                  <a:solidFill>
                    <a:srgbClr val="FFFFFF"/>
                  </a:solidFill>
                  <a:latin typeface="Proxima Nova"/>
                  <a:ea typeface="Proxima Nova"/>
                  <a:cs typeface="Proxima Nova"/>
                  <a:sym typeface="Proxima Nova"/>
                </a:rPr>
                <a:t>,</a:t>
              </a:r>
              <a:r>
                <a:rPr lang="pt-BR" sz="1142" b="0" i="0" u="none" strike="noStrike" cap="none" dirty="0">
                  <a:solidFill>
                    <a:srgbClr val="FFFFFF"/>
                  </a:solidFill>
                  <a:latin typeface="Proxima Nova"/>
                  <a:ea typeface="Proxima Nova"/>
                  <a:cs typeface="Proxima Nova"/>
                  <a:sym typeface="Proxima Nova"/>
                </a:rPr>
                <a:t> clusterização</a:t>
              </a:r>
              <a:endParaRPr sz="1142" dirty="0">
                <a:solidFill>
                  <a:srgbClr val="FFFFFF"/>
                </a:solidFill>
                <a:latin typeface="Proxima Nova"/>
                <a:ea typeface="Proxima Nova"/>
                <a:cs typeface="Proxima Nova"/>
                <a:sym typeface="Proxima Nova"/>
              </a:endParaRPr>
            </a:p>
            <a:p>
              <a:pPr marL="0" marR="0" lvl="0" indent="0" algn="l" rtl="0">
                <a:lnSpc>
                  <a:spcPct val="115000"/>
                </a:lnSpc>
                <a:spcBef>
                  <a:spcPts val="0"/>
                </a:spcBef>
                <a:spcAft>
                  <a:spcPts val="0"/>
                </a:spcAft>
                <a:buClr>
                  <a:srgbClr val="000000"/>
                </a:buClr>
                <a:buSzPts val="1142"/>
                <a:buFont typeface="Arial"/>
                <a:buNone/>
              </a:pPr>
              <a:endParaRPr sz="1142" dirty="0">
                <a:solidFill>
                  <a:srgbClr val="FFFFFF"/>
                </a:solidFill>
                <a:latin typeface="Proxima Nova"/>
                <a:ea typeface="Proxima Nova"/>
                <a:cs typeface="Proxima Nova"/>
                <a:sym typeface="Proxima Nova"/>
              </a:endParaRPr>
            </a:p>
            <a:p>
              <a:pPr marL="0" marR="0" lvl="0" indent="0" algn="l" rtl="0">
                <a:lnSpc>
                  <a:spcPct val="115000"/>
                </a:lnSpc>
                <a:spcBef>
                  <a:spcPts val="0"/>
                </a:spcBef>
                <a:spcAft>
                  <a:spcPts val="0"/>
                </a:spcAft>
                <a:buClr>
                  <a:srgbClr val="000000"/>
                </a:buClr>
                <a:buSzPts val="1142"/>
                <a:buFont typeface="Arial"/>
                <a:buNone/>
              </a:pPr>
              <a:r>
                <a:rPr lang="pt-BR" sz="1142" dirty="0" err="1">
                  <a:solidFill>
                    <a:srgbClr val="FFFFFF"/>
                  </a:solidFill>
                  <a:latin typeface="Proxima Nova"/>
                  <a:ea typeface="Proxima Nova"/>
                  <a:cs typeface="Proxima Nova"/>
                  <a:sym typeface="Proxima Nova"/>
                </a:rPr>
                <a:t>Seurat</a:t>
              </a:r>
              <a:endParaRPr sz="1142" dirty="0">
                <a:solidFill>
                  <a:srgbClr val="FFFFFF"/>
                </a:solidFill>
                <a:latin typeface="Proxima Nova"/>
                <a:ea typeface="Proxima Nova"/>
                <a:cs typeface="Proxima Nova"/>
                <a:sym typeface="Proxima Nova"/>
              </a:endParaRPr>
            </a:p>
          </p:txBody>
        </p:sp>
      </p:grpSp>
      <p:grpSp>
        <p:nvGrpSpPr>
          <p:cNvPr id="79" name="Google Shape;79;p2"/>
          <p:cNvGrpSpPr/>
          <p:nvPr/>
        </p:nvGrpSpPr>
        <p:grpSpPr>
          <a:xfrm>
            <a:off x="881289" y="2171357"/>
            <a:ext cx="2612366" cy="2693120"/>
            <a:chOff x="1126863" y="2013875"/>
            <a:chExt cx="1944600" cy="1569600"/>
          </a:xfrm>
        </p:grpSpPr>
        <p:sp>
          <p:nvSpPr>
            <p:cNvPr id="80" name="Google Shape;80;p2"/>
            <p:cNvSpPr/>
            <p:nvPr/>
          </p:nvSpPr>
          <p:spPr>
            <a:xfrm>
              <a:off x="1126863" y="2013875"/>
              <a:ext cx="1944600" cy="1569600"/>
            </a:xfrm>
            <a:prstGeom prst="round2DiagRect">
              <a:avLst>
                <a:gd name="adj1" fmla="val 0"/>
                <a:gd name="adj2" fmla="val 17764"/>
              </a:avLst>
            </a:prstGeom>
            <a:solidFill>
              <a:schemeClr val="tx2"/>
            </a:solidFill>
            <a:ln>
              <a:noFill/>
            </a:ln>
          </p:spPr>
          <p:txBody>
            <a:bodyPr spcFirstLastPara="1" wrap="square" lIns="104425" tIns="104425" rIns="104425" bIns="104425" anchor="ctr" anchorCtr="0">
              <a:noAutofit/>
            </a:bodyPr>
            <a:lstStyle/>
            <a:p>
              <a:pPr marL="0" marR="0" lvl="0" indent="0" algn="l" rtl="0">
                <a:lnSpc>
                  <a:spcPct val="100000"/>
                </a:lnSpc>
                <a:spcBef>
                  <a:spcPts val="0"/>
                </a:spcBef>
                <a:spcAft>
                  <a:spcPts val="0"/>
                </a:spcAft>
                <a:buClr>
                  <a:srgbClr val="000000"/>
                </a:buClr>
                <a:buSzPts val="1599"/>
                <a:buFont typeface="Arial"/>
                <a:buNone/>
              </a:pPr>
              <a:endParaRPr sz="1599" b="0" i="0" u="none" strike="noStrike" cap="none">
                <a:solidFill>
                  <a:srgbClr val="000000"/>
                </a:solidFill>
                <a:latin typeface="Proxima Nova"/>
                <a:ea typeface="Proxima Nova"/>
                <a:cs typeface="Proxima Nova"/>
                <a:sym typeface="Proxima Nova"/>
              </a:endParaRPr>
            </a:p>
          </p:txBody>
        </p:sp>
        <p:sp>
          <p:nvSpPr>
            <p:cNvPr id="81" name="Google Shape;81;p2"/>
            <p:cNvSpPr txBox="1"/>
            <p:nvPr/>
          </p:nvSpPr>
          <p:spPr>
            <a:xfrm>
              <a:off x="1351627" y="2094121"/>
              <a:ext cx="1519111" cy="523536"/>
            </a:xfrm>
            <a:prstGeom prst="rect">
              <a:avLst/>
            </a:prstGeom>
            <a:solidFill>
              <a:schemeClr val="tx2"/>
            </a:solidFill>
            <a:ln>
              <a:noFill/>
            </a:ln>
          </p:spPr>
          <p:txBody>
            <a:bodyPr spcFirstLastPara="1" wrap="square" lIns="104425" tIns="104425" rIns="104425" bIns="104425" anchor="t" anchorCtr="0">
              <a:noAutofit/>
            </a:bodyPr>
            <a:lstStyle/>
            <a:p>
              <a:pPr marL="0" marR="0" lvl="0" indent="0" algn="l" rtl="0">
                <a:lnSpc>
                  <a:spcPct val="100000"/>
                </a:lnSpc>
                <a:spcBef>
                  <a:spcPts val="0"/>
                </a:spcBef>
                <a:spcAft>
                  <a:spcPts val="0"/>
                </a:spcAft>
                <a:buClr>
                  <a:srgbClr val="000000"/>
                </a:buClr>
                <a:buSzPts val="1256"/>
                <a:buFont typeface="Arial"/>
                <a:buNone/>
              </a:pPr>
              <a:r>
                <a:rPr lang="pt-BR" sz="1256" b="1" i="0" u="none" strike="noStrike" cap="none" dirty="0">
                  <a:solidFill>
                    <a:srgbClr val="FFFFFF"/>
                  </a:solidFill>
                  <a:latin typeface="Proxima Nova"/>
                  <a:ea typeface="Proxima Nova"/>
                  <a:cs typeface="Proxima Nova"/>
                  <a:sym typeface="Proxima Nova"/>
                </a:rPr>
                <a:t>Aula 1</a:t>
              </a:r>
              <a:endParaRPr sz="1256" b="1" i="0" u="none" strike="noStrike" cap="none" dirty="0">
                <a:solidFill>
                  <a:srgbClr val="FFFFFF"/>
                </a:solidFill>
                <a:latin typeface="Proxima Nova"/>
                <a:ea typeface="Proxima Nova"/>
                <a:cs typeface="Proxima Nova"/>
                <a:sym typeface="Proxima Nova"/>
              </a:endParaRPr>
            </a:p>
            <a:p>
              <a:pPr marL="0" marR="0" lvl="0" indent="0" algn="l" rtl="0">
                <a:lnSpc>
                  <a:spcPct val="100000"/>
                </a:lnSpc>
                <a:spcBef>
                  <a:spcPts val="0"/>
                </a:spcBef>
                <a:spcAft>
                  <a:spcPts val="0"/>
                </a:spcAft>
                <a:buClr>
                  <a:srgbClr val="000000"/>
                </a:buClr>
                <a:buSzPts val="1256"/>
                <a:buFont typeface="Arial"/>
                <a:buNone/>
              </a:pPr>
              <a:r>
                <a:rPr lang="pt-BR" sz="1256" b="1" i="0" u="none" strike="noStrike" cap="none" dirty="0">
                  <a:solidFill>
                    <a:srgbClr val="FFFFFF"/>
                  </a:solidFill>
                  <a:latin typeface="Proxima Nova"/>
                  <a:ea typeface="Proxima Nova"/>
                  <a:cs typeface="Proxima Nova"/>
                  <a:sym typeface="Proxima Nova"/>
                </a:rPr>
                <a:t>Introdução à transcriptômica</a:t>
              </a:r>
              <a:r>
                <a:rPr lang="pt-BR" sz="1256" b="1" dirty="0">
                  <a:solidFill>
                    <a:srgbClr val="FFFFFF"/>
                  </a:solidFill>
                  <a:latin typeface="Proxima Nova"/>
                  <a:ea typeface="Proxima Nova"/>
                  <a:cs typeface="Proxima Nova"/>
                  <a:sym typeface="Proxima Nova"/>
                </a:rPr>
                <a:t> espacial</a:t>
              </a:r>
              <a:endParaRPr sz="1256" b="1" i="0" u="none" strike="noStrike" cap="none" dirty="0">
                <a:solidFill>
                  <a:srgbClr val="FFFFFF"/>
                </a:solidFill>
                <a:latin typeface="Proxima Nova"/>
                <a:ea typeface="Proxima Nova"/>
                <a:cs typeface="Proxima Nova"/>
                <a:sym typeface="Proxima Nova"/>
              </a:endParaRPr>
            </a:p>
          </p:txBody>
        </p:sp>
        <p:sp>
          <p:nvSpPr>
            <p:cNvPr id="82" name="Google Shape;82;p2"/>
            <p:cNvSpPr txBox="1"/>
            <p:nvPr/>
          </p:nvSpPr>
          <p:spPr>
            <a:xfrm>
              <a:off x="1372178" y="2554021"/>
              <a:ext cx="1451700" cy="816786"/>
            </a:xfrm>
            <a:prstGeom prst="rect">
              <a:avLst/>
            </a:prstGeom>
            <a:noFill/>
            <a:ln>
              <a:noFill/>
            </a:ln>
          </p:spPr>
          <p:txBody>
            <a:bodyPr spcFirstLastPara="1" wrap="square" lIns="104425" tIns="104425" rIns="104425" bIns="104425" anchor="t" anchorCtr="0">
              <a:noAutofit/>
            </a:bodyPr>
            <a:lstStyle/>
            <a:p>
              <a:pPr marL="0" marR="0" lvl="0" indent="0" algn="l" rtl="0">
                <a:lnSpc>
                  <a:spcPct val="115000"/>
                </a:lnSpc>
                <a:spcBef>
                  <a:spcPts val="0"/>
                </a:spcBef>
                <a:spcAft>
                  <a:spcPts val="0"/>
                </a:spcAft>
                <a:buClr>
                  <a:srgbClr val="000000"/>
                </a:buClr>
                <a:buSzPts val="1142"/>
                <a:buFont typeface="Arial"/>
                <a:buNone/>
              </a:pPr>
              <a:r>
                <a:rPr lang="pt-BR" sz="1142" b="0" i="0" u="none" strike="noStrike" cap="none" dirty="0">
                  <a:solidFill>
                    <a:srgbClr val="FFFFFF"/>
                  </a:solidFill>
                  <a:latin typeface="Proxima Nova"/>
                  <a:ea typeface="Proxima Nova"/>
                  <a:cs typeface="Proxima Nova"/>
                  <a:sym typeface="Proxima Nova"/>
                </a:rPr>
                <a:t>Fundamentos teóricos: metodologias e análise.</a:t>
              </a:r>
              <a:endParaRPr sz="1142" b="0" i="0" u="none" strike="noStrike" cap="none" dirty="0">
                <a:solidFill>
                  <a:srgbClr val="FFFFFF"/>
                </a:solidFill>
                <a:latin typeface="Proxima Nova"/>
                <a:ea typeface="Proxima Nova"/>
                <a:cs typeface="Proxima Nova"/>
                <a:sym typeface="Proxima Nova"/>
              </a:endParaRPr>
            </a:p>
            <a:p>
              <a:pPr marL="0" marR="0" lvl="0" indent="0" algn="l" rtl="0">
                <a:lnSpc>
                  <a:spcPct val="115000"/>
                </a:lnSpc>
                <a:spcBef>
                  <a:spcPts val="685"/>
                </a:spcBef>
                <a:spcAft>
                  <a:spcPts val="685"/>
                </a:spcAft>
                <a:buClr>
                  <a:srgbClr val="000000"/>
                </a:buClr>
                <a:buSzPts val="1142"/>
                <a:buFont typeface="Arial"/>
                <a:buNone/>
              </a:pPr>
              <a:r>
                <a:rPr lang="pt-BR" sz="1142" b="0" i="0" u="none" strike="noStrike" cap="none" dirty="0">
                  <a:solidFill>
                    <a:srgbClr val="FFFFFF"/>
                  </a:solidFill>
                  <a:latin typeface="Proxima Nova"/>
                  <a:ea typeface="Proxima Nova"/>
                  <a:cs typeface="Proxima Nova"/>
                  <a:sym typeface="Proxima Nova"/>
                </a:rPr>
                <a:t>Apresentação ao ambiente das aulas práticas.</a:t>
              </a:r>
              <a:endParaRPr sz="1142" b="0" i="0" u="none" strike="noStrike" cap="none" dirty="0">
                <a:solidFill>
                  <a:srgbClr val="FFFFFF"/>
                </a:solidFill>
                <a:latin typeface="Proxima Nova"/>
                <a:ea typeface="Proxima Nova"/>
                <a:cs typeface="Proxima Nova"/>
                <a:sym typeface="Proxima Nova"/>
              </a:endParaRPr>
            </a:p>
          </p:txBody>
        </p:sp>
      </p:grpSp>
      <p:grpSp>
        <p:nvGrpSpPr>
          <p:cNvPr id="83" name="Google Shape;83;p2"/>
          <p:cNvGrpSpPr/>
          <p:nvPr/>
        </p:nvGrpSpPr>
        <p:grpSpPr>
          <a:xfrm>
            <a:off x="3345263" y="3259405"/>
            <a:ext cx="298753" cy="297392"/>
            <a:chOff x="4858109" y="2631368"/>
            <a:chExt cx="316442" cy="315000"/>
          </a:xfrm>
        </p:grpSpPr>
        <p:sp>
          <p:nvSpPr>
            <p:cNvPr id="84" name="Google Shape;84;p2"/>
            <p:cNvSpPr/>
            <p:nvPr/>
          </p:nvSpPr>
          <p:spPr>
            <a:xfrm>
              <a:off x="4859551" y="2631368"/>
              <a:ext cx="315000" cy="315000"/>
            </a:xfrm>
            <a:prstGeom prst="ellipse">
              <a:avLst/>
            </a:prstGeom>
            <a:solidFill>
              <a:srgbClr val="FFFFFF"/>
            </a:solidFill>
            <a:ln>
              <a:noFill/>
            </a:ln>
          </p:spPr>
          <p:txBody>
            <a:bodyPr spcFirstLastPara="1" wrap="square" lIns="104425" tIns="104425" rIns="104425" bIns="104425" anchor="ctr" anchorCtr="0">
              <a:noAutofit/>
            </a:bodyPr>
            <a:lstStyle/>
            <a:p>
              <a:pPr marL="0" marR="0" lvl="0" indent="0" algn="l" rtl="0">
                <a:lnSpc>
                  <a:spcPct val="100000"/>
                </a:lnSpc>
                <a:spcBef>
                  <a:spcPts val="0"/>
                </a:spcBef>
                <a:spcAft>
                  <a:spcPts val="0"/>
                </a:spcAft>
                <a:buClr>
                  <a:srgbClr val="000000"/>
                </a:buClr>
                <a:buSzPts val="1599"/>
                <a:buFont typeface="Arial"/>
                <a:buNone/>
              </a:pPr>
              <a:endParaRPr sz="1599" b="0" i="0" u="none" strike="noStrike" cap="none">
                <a:solidFill>
                  <a:srgbClr val="000000"/>
                </a:solidFill>
                <a:latin typeface="Proxima Nova"/>
                <a:ea typeface="Proxima Nova"/>
                <a:cs typeface="Proxima Nova"/>
                <a:sym typeface="Proxima Nova"/>
              </a:endParaRPr>
            </a:p>
          </p:txBody>
        </p:sp>
        <p:sp>
          <p:nvSpPr>
            <p:cNvPr id="85" name="Google Shape;85;p2"/>
            <p:cNvSpPr/>
            <p:nvPr/>
          </p:nvSpPr>
          <p:spPr>
            <a:xfrm>
              <a:off x="4858109" y="2739300"/>
              <a:ext cx="239100" cy="99000"/>
            </a:xfrm>
            <a:prstGeom prst="rightArrow">
              <a:avLst>
                <a:gd name="adj1" fmla="val 32020"/>
                <a:gd name="adj2" fmla="val 66970"/>
              </a:avLst>
            </a:prstGeom>
            <a:solidFill>
              <a:schemeClr val="bg2">
                <a:lumMod val="50000"/>
              </a:schemeClr>
            </a:solidFill>
            <a:ln>
              <a:noFill/>
            </a:ln>
          </p:spPr>
          <p:txBody>
            <a:bodyPr spcFirstLastPara="1" wrap="square" lIns="104425" tIns="104425" rIns="104425" bIns="104425" anchor="ctr" anchorCtr="0">
              <a:noAutofit/>
            </a:bodyPr>
            <a:lstStyle/>
            <a:p>
              <a:pPr marL="0" marR="0" lvl="0" indent="0" algn="l" rtl="0">
                <a:lnSpc>
                  <a:spcPct val="100000"/>
                </a:lnSpc>
                <a:spcBef>
                  <a:spcPts val="0"/>
                </a:spcBef>
                <a:spcAft>
                  <a:spcPts val="0"/>
                </a:spcAft>
                <a:buClr>
                  <a:srgbClr val="000000"/>
                </a:buClr>
                <a:buSzPts val="1599"/>
                <a:buFont typeface="Arial"/>
                <a:buNone/>
              </a:pPr>
              <a:br>
                <a:rPr lang="pt-BR" sz="1599" b="0" i="0" u="none" strike="noStrike" cap="none">
                  <a:solidFill>
                    <a:srgbClr val="000000"/>
                  </a:solidFill>
                  <a:latin typeface="Proxima Nova"/>
                  <a:ea typeface="Proxima Nova"/>
                  <a:cs typeface="Proxima Nova"/>
                  <a:sym typeface="Proxima Nova"/>
                </a:rPr>
              </a:br>
              <a:endParaRPr sz="1599" b="0" i="0" u="none" strike="noStrike" cap="none">
                <a:solidFill>
                  <a:srgbClr val="000000"/>
                </a:solidFill>
                <a:latin typeface="Proxima Nova"/>
                <a:ea typeface="Proxima Nova"/>
                <a:cs typeface="Proxima Nova"/>
                <a:sym typeface="Proxima Nova"/>
              </a:endParaRPr>
            </a:p>
          </p:txBody>
        </p:sp>
      </p:grpSp>
      <p:grpSp>
        <p:nvGrpSpPr>
          <p:cNvPr id="86" name="Google Shape;86;p2"/>
          <p:cNvGrpSpPr/>
          <p:nvPr/>
        </p:nvGrpSpPr>
        <p:grpSpPr>
          <a:xfrm>
            <a:off x="6095692" y="2171353"/>
            <a:ext cx="2604497" cy="2693267"/>
            <a:chOff x="5015948" y="2013876"/>
            <a:chExt cx="3001200" cy="1725900"/>
          </a:xfrm>
        </p:grpSpPr>
        <p:sp>
          <p:nvSpPr>
            <p:cNvPr id="87" name="Google Shape;87;p2"/>
            <p:cNvSpPr/>
            <p:nvPr/>
          </p:nvSpPr>
          <p:spPr>
            <a:xfrm>
              <a:off x="5015948" y="2013876"/>
              <a:ext cx="3001200" cy="1725900"/>
            </a:xfrm>
            <a:prstGeom prst="round2DiagRect">
              <a:avLst>
                <a:gd name="adj1" fmla="val 0"/>
                <a:gd name="adj2" fmla="val 17764"/>
              </a:avLst>
            </a:prstGeom>
            <a:solidFill>
              <a:schemeClr val="tx2">
                <a:lumMod val="50000"/>
              </a:schemeClr>
            </a:solidFill>
            <a:ln>
              <a:noFill/>
            </a:ln>
          </p:spPr>
          <p:txBody>
            <a:bodyPr spcFirstLastPara="1" wrap="square" lIns="104425" tIns="104425" rIns="104425" bIns="104425" anchor="ctr" anchorCtr="0">
              <a:noAutofit/>
            </a:bodyPr>
            <a:lstStyle/>
            <a:p>
              <a:pPr marL="0" marR="0" lvl="0" indent="0" algn="l" rtl="0">
                <a:lnSpc>
                  <a:spcPct val="100000"/>
                </a:lnSpc>
                <a:spcBef>
                  <a:spcPts val="0"/>
                </a:spcBef>
                <a:spcAft>
                  <a:spcPts val="0"/>
                </a:spcAft>
                <a:buClr>
                  <a:srgbClr val="000000"/>
                </a:buClr>
                <a:buSzPts val="1599"/>
                <a:buFont typeface="Arial"/>
                <a:buNone/>
              </a:pPr>
              <a:endParaRPr sz="1599" b="0" i="0" u="none" strike="noStrike" cap="none">
                <a:solidFill>
                  <a:srgbClr val="000000"/>
                </a:solidFill>
                <a:latin typeface="Proxima Nova"/>
                <a:ea typeface="Proxima Nova"/>
                <a:cs typeface="Proxima Nova"/>
                <a:sym typeface="Proxima Nova"/>
              </a:endParaRPr>
            </a:p>
            <a:p>
              <a:pPr marL="0" marR="0" lvl="0" indent="0" algn="l" rtl="0">
                <a:lnSpc>
                  <a:spcPct val="100000"/>
                </a:lnSpc>
                <a:spcBef>
                  <a:spcPts val="0"/>
                </a:spcBef>
                <a:spcAft>
                  <a:spcPts val="0"/>
                </a:spcAft>
                <a:buClr>
                  <a:srgbClr val="000000"/>
                </a:buClr>
                <a:buSzPts val="1599"/>
                <a:buFont typeface="Arial"/>
                <a:buNone/>
              </a:pPr>
              <a:endParaRPr sz="1599" b="0" i="0" u="none" strike="noStrike" cap="none">
                <a:solidFill>
                  <a:srgbClr val="000000"/>
                </a:solidFill>
                <a:latin typeface="Proxima Nova"/>
                <a:ea typeface="Proxima Nova"/>
                <a:cs typeface="Proxima Nova"/>
                <a:sym typeface="Proxima Nova"/>
              </a:endParaRPr>
            </a:p>
            <a:p>
              <a:pPr marL="0" marR="0" lvl="0" indent="0" algn="l" rtl="0">
                <a:lnSpc>
                  <a:spcPct val="100000"/>
                </a:lnSpc>
                <a:spcBef>
                  <a:spcPts val="0"/>
                </a:spcBef>
                <a:spcAft>
                  <a:spcPts val="0"/>
                </a:spcAft>
                <a:buClr>
                  <a:srgbClr val="000000"/>
                </a:buClr>
                <a:buSzPts val="1599"/>
                <a:buFont typeface="Arial"/>
                <a:buNone/>
              </a:pPr>
              <a:endParaRPr sz="1599" b="0" i="0" u="none" strike="noStrike" cap="none">
                <a:solidFill>
                  <a:srgbClr val="000000"/>
                </a:solidFill>
                <a:latin typeface="Proxima Nova"/>
                <a:ea typeface="Proxima Nova"/>
                <a:cs typeface="Proxima Nova"/>
                <a:sym typeface="Proxima Nova"/>
              </a:endParaRPr>
            </a:p>
            <a:p>
              <a:pPr marL="0" marR="0" lvl="0" indent="0" algn="l" rtl="0">
                <a:lnSpc>
                  <a:spcPct val="100000"/>
                </a:lnSpc>
                <a:spcBef>
                  <a:spcPts val="0"/>
                </a:spcBef>
                <a:spcAft>
                  <a:spcPts val="0"/>
                </a:spcAft>
                <a:buClr>
                  <a:srgbClr val="000000"/>
                </a:buClr>
                <a:buSzPts val="1599"/>
                <a:buFont typeface="Arial"/>
                <a:buNone/>
              </a:pPr>
              <a:endParaRPr sz="1599" b="0" i="0" u="none" strike="noStrike" cap="none">
                <a:solidFill>
                  <a:srgbClr val="000000"/>
                </a:solidFill>
                <a:latin typeface="Proxima Nova"/>
                <a:ea typeface="Proxima Nova"/>
                <a:cs typeface="Proxima Nova"/>
                <a:sym typeface="Proxima Nova"/>
              </a:endParaRPr>
            </a:p>
          </p:txBody>
        </p:sp>
        <p:sp>
          <p:nvSpPr>
            <p:cNvPr id="88" name="Google Shape;88;p2"/>
            <p:cNvSpPr txBox="1"/>
            <p:nvPr/>
          </p:nvSpPr>
          <p:spPr>
            <a:xfrm>
              <a:off x="5360225" y="2105842"/>
              <a:ext cx="2349300" cy="459900"/>
            </a:xfrm>
            <a:prstGeom prst="rect">
              <a:avLst/>
            </a:prstGeom>
            <a:solidFill>
              <a:schemeClr val="tx2">
                <a:lumMod val="50000"/>
              </a:schemeClr>
            </a:solidFill>
            <a:ln>
              <a:noFill/>
            </a:ln>
          </p:spPr>
          <p:txBody>
            <a:bodyPr spcFirstLastPara="1" wrap="square" lIns="104425" tIns="104425" rIns="104425" bIns="104425" anchor="t" anchorCtr="0">
              <a:noAutofit/>
            </a:bodyPr>
            <a:lstStyle/>
            <a:p>
              <a:pPr marL="0" marR="0" lvl="0" indent="0" algn="l" rtl="0">
                <a:lnSpc>
                  <a:spcPct val="100000"/>
                </a:lnSpc>
                <a:spcBef>
                  <a:spcPts val="0"/>
                </a:spcBef>
                <a:spcAft>
                  <a:spcPts val="0"/>
                </a:spcAft>
                <a:buClr>
                  <a:srgbClr val="000000"/>
                </a:buClr>
                <a:buSzPts val="1256"/>
                <a:buFont typeface="Arial"/>
                <a:buNone/>
              </a:pPr>
              <a:r>
                <a:rPr lang="pt-BR" sz="1256" b="1" i="0" u="none" strike="noStrike" cap="none">
                  <a:solidFill>
                    <a:srgbClr val="FFFFFF"/>
                  </a:solidFill>
                  <a:latin typeface="Proxima Nova"/>
                  <a:ea typeface="Proxima Nova"/>
                  <a:cs typeface="Proxima Nova"/>
                  <a:sym typeface="Proxima Nova"/>
                </a:rPr>
                <a:t>Aula 3</a:t>
              </a:r>
              <a:endParaRPr sz="1256" b="1" i="0" u="none" strike="noStrike" cap="none">
                <a:solidFill>
                  <a:srgbClr val="FFFFFF"/>
                </a:solidFill>
                <a:latin typeface="Proxima Nova"/>
                <a:ea typeface="Proxima Nova"/>
                <a:cs typeface="Proxima Nova"/>
                <a:sym typeface="Proxima Nova"/>
              </a:endParaRPr>
            </a:p>
            <a:p>
              <a:pPr marL="0" marR="0" lvl="0" indent="0" algn="l" rtl="0">
                <a:lnSpc>
                  <a:spcPct val="100000"/>
                </a:lnSpc>
                <a:spcBef>
                  <a:spcPts val="0"/>
                </a:spcBef>
                <a:spcAft>
                  <a:spcPts val="0"/>
                </a:spcAft>
                <a:buClr>
                  <a:srgbClr val="000000"/>
                </a:buClr>
                <a:buSzPts val="1256"/>
                <a:buFont typeface="Arial"/>
                <a:buNone/>
              </a:pPr>
              <a:r>
                <a:rPr lang="pt-BR" sz="1256" b="1" i="0" u="none" strike="noStrike" cap="none">
                  <a:solidFill>
                    <a:srgbClr val="FFFFFF"/>
                  </a:solidFill>
                  <a:latin typeface="Proxima Nova"/>
                  <a:ea typeface="Proxima Nova"/>
                  <a:cs typeface="Proxima Nova"/>
                  <a:sym typeface="Proxima Nova"/>
                </a:rPr>
                <a:t>Análise Downstream</a:t>
              </a:r>
              <a:endParaRPr sz="1256" b="1" i="0" u="none" strike="noStrike" cap="none">
                <a:solidFill>
                  <a:srgbClr val="FFFFFF"/>
                </a:solidFill>
                <a:latin typeface="Proxima Nova"/>
                <a:ea typeface="Proxima Nova"/>
                <a:cs typeface="Proxima Nova"/>
                <a:sym typeface="Proxima Nova"/>
              </a:endParaRPr>
            </a:p>
            <a:p>
              <a:pPr marL="0" marR="0" lvl="0" indent="0" algn="l" rtl="0">
                <a:lnSpc>
                  <a:spcPct val="100000"/>
                </a:lnSpc>
                <a:spcBef>
                  <a:spcPts val="0"/>
                </a:spcBef>
                <a:spcAft>
                  <a:spcPts val="0"/>
                </a:spcAft>
                <a:buClr>
                  <a:srgbClr val="000000"/>
                </a:buClr>
                <a:buSzPts val="1256"/>
                <a:buFont typeface="Arial"/>
                <a:buNone/>
              </a:pPr>
              <a:endParaRPr sz="1256" b="1" i="0" u="none" strike="noStrike" cap="none">
                <a:solidFill>
                  <a:srgbClr val="FFFFFF"/>
                </a:solidFill>
                <a:latin typeface="Proxima Nova"/>
                <a:ea typeface="Proxima Nova"/>
                <a:cs typeface="Proxima Nova"/>
                <a:sym typeface="Proxima Nova"/>
              </a:endParaRPr>
            </a:p>
          </p:txBody>
        </p:sp>
        <p:sp>
          <p:nvSpPr>
            <p:cNvPr id="89" name="Google Shape;89;p2"/>
            <p:cNvSpPr txBox="1"/>
            <p:nvPr/>
          </p:nvSpPr>
          <p:spPr>
            <a:xfrm>
              <a:off x="5360216" y="2565748"/>
              <a:ext cx="2349300" cy="996300"/>
            </a:xfrm>
            <a:prstGeom prst="rect">
              <a:avLst/>
            </a:prstGeom>
            <a:solidFill>
              <a:schemeClr val="tx2">
                <a:lumMod val="50000"/>
              </a:schemeClr>
            </a:solidFill>
            <a:ln>
              <a:noFill/>
            </a:ln>
          </p:spPr>
          <p:txBody>
            <a:bodyPr spcFirstLastPara="1" wrap="square" lIns="104425" tIns="104425" rIns="104425" bIns="104425" anchor="t" anchorCtr="0">
              <a:noAutofit/>
            </a:bodyPr>
            <a:lstStyle/>
            <a:p>
              <a:pPr>
                <a:lnSpc>
                  <a:spcPct val="115000"/>
                </a:lnSpc>
                <a:spcBef>
                  <a:spcPts val="343"/>
                </a:spcBef>
                <a:buSzPts val="1142"/>
              </a:pPr>
              <a:r>
                <a:rPr lang="pt-BR" sz="1100" dirty="0" err="1">
                  <a:solidFill>
                    <a:srgbClr val="FFFFFF"/>
                  </a:solidFill>
                  <a:latin typeface="Proxima Nova"/>
                  <a:ea typeface="Proxima Nova"/>
                  <a:cs typeface="Proxima Nova"/>
                  <a:sym typeface="Proxima Nova"/>
                </a:rPr>
                <a:t>Deconvolução</a:t>
              </a:r>
              <a:br>
                <a:rPr lang="pt-BR" sz="1100" dirty="0">
                  <a:solidFill>
                    <a:srgbClr val="FFFFFF"/>
                  </a:solidFill>
                  <a:latin typeface="Proxima Nova"/>
                  <a:ea typeface="Proxima Nova"/>
                  <a:cs typeface="Proxima Nova"/>
                  <a:sym typeface="Proxima Nova"/>
                </a:rPr>
              </a:br>
              <a:r>
                <a:rPr lang="pt-BR" sz="600" dirty="0">
                  <a:solidFill>
                    <a:srgbClr val="FFFFFF"/>
                  </a:solidFill>
                  <a:latin typeface="Proxima Nova"/>
                  <a:ea typeface="Proxima Nova"/>
                  <a:cs typeface="Proxima Nova"/>
                  <a:sym typeface="Proxima Nova"/>
                </a:rPr>
                <a:t> </a:t>
              </a:r>
              <a:endParaRPr sz="1142" dirty="0">
                <a:solidFill>
                  <a:srgbClr val="FFFFFF"/>
                </a:solidFill>
                <a:latin typeface="Proxima Nova"/>
                <a:ea typeface="Proxima Nova"/>
                <a:cs typeface="Proxima Nova"/>
                <a:sym typeface="Proxima Nova"/>
              </a:endParaRPr>
            </a:p>
            <a:p>
              <a:pPr>
                <a:lnSpc>
                  <a:spcPct val="115000"/>
                </a:lnSpc>
                <a:spcBef>
                  <a:spcPts val="343"/>
                </a:spcBef>
                <a:buSzPts val="1142"/>
              </a:pPr>
              <a:r>
                <a:rPr lang="pt-BR" sz="1100" dirty="0">
                  <a:solidFill>
                    <a:srgbClr val="FFFFFF"/>
                  </a:solidFill>
                  <a:latin typeface="Proxima Nova"/>
                  <a:ea typeface="Proxima Nova"/>
                  <a:cs typeface="Proxima Nova"/>
                  <a:sym typeface="Proxima Nova"/>
                </a:rPr>
                <a:t>Comunicação celular</a:t>
              </a:r>
              <a:br>
                <a:rPr lang="pt-BR" sz="1100" dirty="0">
                  <a:solidFill>
                    <a:srgbClr val="FFFFFF"/>
                  </a:solidFill>
                  <a:latin typeface="Proxima Nova"/>
                  <a:ea typeface="Proxima Nova"/>
                  <a:cs typeface="Proxima Nova"/>
                  <a:sym typeface="Proxima Nova"/>
                </a:rPr>
              </a:br>
              <a:r>
                <a:rPr lang="pt-BR" sz="600" dirty="0">
                  <a:solidFill>
                    <a:srgbClr val="FFFFFF"/>
                  </a:solidFill>
                  <a:latin typeface="Proxima Nova"/>
                  <a:ea typeface="Proxima Nova"/>
                  <a:cs typeface="Proxima Nova"/>
                  <a:sym typeface="Proxima Nova"/>
                </a:rPr>
                <a:t> </a:t>
              </a:r>
              <a:endParaRPr sz="1142" dirty="0">
                <a:solidFill>
                  <a:srgbClr val="FFFFFF"/>
                </a:solidFill>
                <a:latin typeface="Proxima Nova"/>
                <a:ea typeface="Proxima Nova"/>
                <a:cs typeface="Proxima Nova"/>
                <a:sym typeface="Proxima Nova"/>
              </a:endParaRPr>
            </a:p>
            <a:p>
              <a:pPr>
                <a:lnSpc>
                  <a:spcPct val="115000"/>
                </a:lnSpc>
                <a:spcBef>
                  <a:spcPts val="343"/>
                </a:spcBef>
                <a:buSzPts val="1142"/>
              </a:pPr>
              <a:r>
                <a:rPr lang="pt-BR" sz="1100" dirty="0">
                  <a:solidFill>
                    <a:srgbClr val="FFFFFF"/>
                  </a:solidFill>
                  <a:latin typeface="Proxima Nova"/>
                  <a:ea typeface="Proxima Nova"/>
                  <a:cs typeface="Proxima Nova"/>
                  <a:sym typeface="Proxima Nova"/>
                </a:rPr>
                <a:t>Visualização dos dados</a:t>
              </a:r>
              <a:br>
                <a:rPr lang="pt-BR" sz="1100" dirty="0">
                  <a:solidFill>
                    <a:srgbClr val="FFFFFF"/>
                  </a:solidFill>
                  <a:latin typeface="Proxima Nova"/>
                  <a:ea typeface="Proxima Nova"/>
                  <a:cs typeface="Proxima Nova"/>
                  <a:sym typeface="Proxima Nova"/>
                </a:rPr>
              </a:br>
              <a:r>
                <a:rPr lang="pt-BR" sz="600" dirty="0">
                  <a:solidFill>
                    <a:srgbClr val="FFFFFF"/>
                  </a:solidFill>
                  <a:latin typeface="Proxima Nova"/>
                  <a:ea typeface="Proxima Nova"/>
                  <a:cs typeface="Proxima Nova"/>
                  <a:sym typeface="Proxima Nova"/>
                </a:rPr>
                <a:t> </a:t>
              </a:r>
              <a:endParaRPr sz="1142" dirty="0">
                <a:solidFill>
                  <a:srgbClr val="FFFFFF"/>
                </a:solidFill>
                <a:latin typeface="Proxima Nova"/>
                <a:ea typeface="Proxima Nova"/>
                <a:cs typeface="Proxima Nova"/>
                <a:sym typeface="Proxima Nova"/>
              </a:endParaRPr>
            </a:p>
            <a:p>
              <a:pPr marL="457200" marR="0" lvl="0" indent="-300990" algn="l" rtl="0">
                <a:lnSpc>
                  <a:spcPct val="115000"/>
                </a:lnSpc>
                <a:spcBef>
                  <a:spcPts val="343"/>
                </a:spcBef>
                <a:spcAft>
                  <a:spcPts val="0"/>
                </a:spcAft>
                <a:buClr>
                  <a:srgbClr val="FFFFFF"/>
                </a:buClr>
                <a:buSzPts val="1142"/>
                <a:buFont typeface="Proxima Nova"/>
                <a:buChar char="+"/>
              </a:pPr>
              <a:r>
                <a:rPr lang="pt-BR" sz="1142" dirty="0">
                  <a:solidFill>
                    <a:srgbClr val="FFFFFF"/>
                  </a:solidFill>
                  <a:latin typeface="Proxima Nova"/>
                  <a:ea typeface="Proxima Nova"/>
                  <a:cs typeface="Proxima Nova"/>
                  <a:sym typeface="Proxima Nova"/>
                </a:rPr>
                <a:t>Spin-off</a:t>
              </a:r>
              <a:endParaRPr sz="1142" dirty="0">
                <a:solidFill>
                  <a:srgbClr val="FFFFFF"/>
                </a:solidFill>
                <a:latin typeface="Proxima Nova"/>
                <a:ea typeface="Proxima Nova"/>
                <a:cs typeface="Proxima Nova"/>
              </a:endParaRPr>
            </a:p>
          </p:txBody>
        </p:sp>
      </p:grpSp>
      <p:grpSp>
        <p:nvGrpSpPr>
          <p:cNvPr id="90" name="Google Shape;90;p2"/>
          <p:cNvGrpSpPr/>
          <p:nvPr/>
        </p:nvGrpSpPr>
        <p:grpSpPr>
          <a:xfrm>
            <a:off x="5961127" y="3259405"/>
            <a:ext cx="298753" cy="297392"/>
            <a:chOff x="4858109" y="2631368"/>
            <a:chExt cx="316442" cy="315000"/>
          </a:xfrm>
        </p:grpSpPr>
        <p:sp>
          <p:nvSpPr>
            <p:cNvPr id="91" name="Google Shape;91;p2"/>
            <p:cNvSpPr/>
            <p:nvPr/>
          </p:nvSpPr>
          <p:spPr>
            <a:xfrm>
              <a:off x="4859551" y="2631368"/>
              <a:ext cx="315000" cy="315000"/>
            </a:xfrm>
            <a:prstGeom prst="ellipse">
              <a:avLst/>
            </a:prstGeom>
            <a:solidFill>
              <a:srgbClr val="FFFFFF"/>
            </a:solidFill>
            <a:ln>
              <a:noFill/>
            </a:ln>
          </p:spPr>
          <p:txBody>
            <a:bodyPr spcFirstLastPara="1" wrap="square" lIns="104425" tIns="104425" rIns="104425" bIns="104425" anchor="ctr" anchorCtr="0">
              <a:noAutofit/>
            </a:bodyPr>
            <a:lstStyle/>
            <a:p>
              <a:pPr marL="0" marR="0" lvl="0" indent="0" algn="l" rtl="0">
                <a:lnSpc>
                  <a:spcPct val="100000"/>
                </a:lnSpc>
                <a:spcBef>
                  <a:spcPts val="0"/>
                </a:spcBef>
                <a:spcAft>
                  <a:spcPts val="0"/>
                </a:spcAft>
                <a:buClr>
                  <a:srgbClr val="000000"/>
                </a:buClr>
                <a:buSzPts val="1599"/>
                <a:buFont typeface="Arial"/>
                <a:buNone/>
              </a:pPr>
              <a:endParaRPr sz="1599" b="0" i="0" u="none" strike="noStrike" cap="none">
                <a:solidFill>
                  <a:srgbClr val="000000"/>
                </a:solidFill>
                <a:latin typeface="Proxima Nova"/>
                <a:ea typeface="Proxima Nova"/>
                <a:cs typeface="Proxima Nova"/>
                <a:sym typeface="Proxima Nova"/>
              </a:endParaRPr>
            </a:p>
          </p:txBody>
        </p:sp>
        <p:sp>
          <p:nvSpPr>
            <p:cNvPr id="92" name="Google Shape;92;p2"/>
            <p:cNvSpPr/>
            <p:nvPr/>
          </p:nvSpPr>
          <p:spPr>
            <a:xfrm>
              <a:off x="4858109" y="2739300"/>
              <a:ext cx="239100" cy="99000"/>
            </a:xfrm>
            <a:prstGeom prst="rightArrow">
              <a:avLst>
                <a:gd name="adj1" fmla="val 32020"/>
                <a:gd name="adj2" fmla="val 66970"/>
              </a:avLst>
            </a:prstGeom>
            <a:solidFill>
              <a:schemeClr val="bg2">
                <a:lumMod val="50000"/>
              </a:schemeClr>
            </a:solidFill>
            <a:ln>
              <a:noFill/>
            </a:ln>
          </p:spPr>
          <p:txBody>
            <a:bodyPr spcFirstLastPara="1" wrap="square" lIns="104425" tIns="104425" rIns="104425" bIns="104425" anchor="ctr" anchorCtr="0">
              <a:noAutofit/>
            </a:bodyPr>
            <a:lstStyle/>
            <a:p>
              <a:pPr marL="0" marR="0" lvl="0" indent="0" algn="l" rtl="0">
                <a:lnSpc>
                  <a:spcPct val="100000"/>
                </a:lnSpc>
                <a:spcBef>
                  <a:spcPts val="0"/>
                </a:spcBef>
                <a:spcAft>
                  <a:spcPts val="0"/>
                </a:spcAft>
                <a:buClr>
                  <a:srgbClr val="000000"/>
                </a:buClr>
                <a:buSzPts val="1599"/>
                <a:buFont typeface="Arial"/>
                <a:buNone/>
              </a:pPr>
              <a:br>
                <a:rPr lang="pt-BR" sz="1599" b="0" i="0" u="none" strike="noStrike" cap="none">
                  <a:solidFill>
                    <a:srgbClr val="000000"/>
                  </a:solidFill>
                  <a:latin typeface="Proxima Nova"/>
                  <a:ea typeface="Proxima Nova"/>
                  <a:cs typeface="Proxima Nova"/>
                  <a:sym typeface="Proxima Nova"/>
                </a:rPr>
              </a:br>
              <a:endParaRPr sz="1599" b="0" i="0" u="none" strike="noStrike" cap="none">
                <a:solidFill>
                  <a:srgbClr val="000000"/>
                </a:solidFill>
                <a:latin typeface="Proxima Nova"/>
                <a:ea typeface="Proxima Nova"/>
                <a:cs typeface="Proxima Nova"/>
                <a:sym typeface="Proxima Nova"/>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3"/>
          <p:cNvSpPr txBox="1">
            <a:spLocks noGrp="1"/>
          </p:cNvSpPr>
          <p:nvPr>
            <p:ph type="title"/>
          </p:nvPr>
        </p:nvSpPr>
        <p:spPr>
          <a:xfrm>
            <a:off x="265500" y="2425025"/>
            <a:ext cx="3938100" cy="15096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pt-BR" sz="3900"/>
              <a:t>Introdução às transcriptômicas de alta resolução</a:t>
            </a:r>
            <a:endParaRPr sz="3900"/>
          </a:p>
        </p:txBody>
      </p:sp>
      <p:sp>
        <p:nvSpPr>
          <p:cNvPr id="98" name="Google Shape;98;p3"/>
          <p:cNvSpPr txBox="1">
            <a:spLocks noGrp="1"/>
          </p:cNvSpPr>
          <p:nvPr>
            <p:ph type="body" idx="2"/>
          </p:nvPr>
        </p:nvSpPr>
        <p:spPr>
          <a:xfrm>
            <a:off x="4838400" y="724200"/>
            <a:ext cx="3938100" cy="3695100"/>
          </a:xfrm>
          <a:prstGeom prst="rect">
            <a:avLst/>
          </a:prstGeom>
          <a:noFill/>
          <a:ln>
            <a:noFill/>
          </a:ln>
        </p:spPr>
        <p:txBody>
          <a:bodyPr spcFirstLastPara="1" wrap="square" lIns="91425" tIns="91425" rIns="91425" bIns="91425" anchor="ctr" anchorCtr="0">
            <a:noAutofit/>
          </a:bodyPr>
          <a:lstStyle/>
          <a:p>
            <a:pPr marL="457200" lvl="0" indent="-342900" algn="l" rtl="0">
              <a:lnSpc>
                <a:spcPct val="120000"/>
              </a:lnSpc>
              <a:spcBef>
                <a:spcPts val="0"/>
              </a:spcBef>
              <a:spcAft>
                <a:spcPts val="0"/>
              </a:spcAft>
              <a:buSzPts val="1800"/>
              <a:buChar char="●"/>
            </a:pPr>
            <a:r>
              <a:rPr lang="pt-BR" dirty="0"/>
              <a:t>Apresentações</a:t>
            </a:r>
            <a:endParaRPr dirty="0"/>
          </a:p>
          <a:p>
            <a:pPr marL="457200" lvl="0" indent="-342900" algn="l" rtl="0">
              <a:lnSpc>
                <a:spcPct val="120000"/>
              </a:lnSpc>
              <a:spcBef>
                <a:spcPts val="0"/>
              </a:spcBef>
              <a:spcAft>
                <a:spcPts val="0"/>
              </a:spcAft>
              <a:buSzPts val="1800"/>
              <a:buChar char="●"/>
            </a:pPr>
            <a:r>
              <a:rPr lang="pt-BR" dirty="0"/>
              <a:t>Fundamentos teóricos</a:t>
            </a:r>
            <a:endParaRPr dirty="0"/>
          </a:p>
          <a:p>
            <a:pPr marL="914400" lvl="1" indent="-314325" algn="l" rtl="0">
              <a:lnSpc>
                <a:spcPct val="120000"/>
              </a:lnSpc>
              <a:spcBef>
                <a:spcPts val="0"/>
              </a:spcBef>
              <a:spcAft>
                <a:spcPts val="0"/>
              </a:spcAft>
              <a:buSzPts val="1350"/>
              <a:buChar char="○"/>
            </a:pPr>
            <a:r>
              <a:rPr lang="pt-BR" sz="1350" dirty="0"/>
              <a:t>Objetivo de transcriptômicas de alta resolução</a:t>
            </a:r>
            <a:endParaRPr sz="1350" dirty="0"/>
          </a:p>
          <a:p>
            <a:pPr marL="914400" lvl="1" indent="-314325" algn="l" rtl="0">
              <a:lnSpc>
                <a:spcPct val="120000"/>
              </a:lnSpc>
              <a:spcBef>
                <a:spcPts val="0"/>
              </a:spcBef>
              <a:spcAft>
                <a:spcPts val="0"/>
              </a:spcAft>
              <a:buSzPts val="1350"/>
              <a:buChar char="○"/>
            </a:pPr>
            <a:r>
              <a:rPr lang="pt-BR" sz="1350" dirty="0"/>
              <a:t>Métodos de transcriptômica de células individuais</a:t>
            </a:r>
            <a:endParaRPr sz="1350" dirty="0"/>
          </a:p>
          <a:p>
            <a:pPr marL="914400" lvl="1" indent="-314325" algn="l" rtl="0">
              <a:lnSpc>
                <a:spcPct val="120000"/>
              </a:lnSpc>
              <a:spcBef>
                <a:spcPts val="0"/>
              </a:spcBef>
              <a:spcAft>
                <a:spcPts val="0"/>
              </a:spcAft>
              <a:buSzPts val="1350"/>
              <a:buChar char="○"/>
            </a:pPr>
            <a:r>
              <a:rPr lang="pt-BR" sz="1350" dirty="0"/>
              <a:t>Métodos de transcriptômica espacial</a:t>
            </a:r>
            <a:endParaRPr sz="1350" dirty="0"/>
          </a:p>
          <a:p>
            <a:pPr marL="914400" lvl="1" indent="-314325" algn="l" rtl="0">
              <a:lnSpc>
                <a:spcPct val="120000"/>
              </a:lnSpc>
              <a:spcBef>
                <a:spcPts val="0"/>
              </a:spcBef>
              <a:spcAft>
                <a:spcPts val="0"/>
              </a:spcAft>
              <a:buSzPts val="1350"/>
              <a:buChar char="○"/>
            </a:pPr>
            <a:r>
              <a:rPr lang="pt-BR" sz="1350" dirty="0"/>
              <a:t>Análise de dados</a:t>
            </a:r>
          </a:p>
          <a:p>
            <a:pPr marL="914400" lvl="1" indent="-314325" algn="l" rtl="0">
              <a:lnSpc>
                <a:spcPct val="120000"/>
              </a:lnSpc>
              <a:spcBef>
                <a:spcPts val="0"/>
              </a:spcBef>
              <a:spcAft>
                <a:spcPts val="0"/>
              </a:spcAft>
              <a:buSzPts val="1350"/>
              <a:buChar char="○"/>
            </a:pPr>
            <a:r>
              <a:rPr lang="pt-BR" sz="1350" dirty="0"/>
              <a:t>Workflows de análise de dados de transcriptômica espacial</a:t>
            </a:r>
            <a:endParaRPr sz="1350" dirty="0"/>
          </a:p>
          <a:p>
            <a:pPr marL="457200" lvl="0" indent="-342900" algn="l" rtl="0">
              <a:lnSpc>
                <a:spcPct val="120000"/>
              </a:lnSpc>
              <a:spcBef>
                <a:spcPts val="0"/>
              </a:spcBef>
              <a:spcAft>
                <a:spcPts val="0"/>
              </a:spcAft>
              <a:buSzPts val="1800"/>
              <a:buChar char="●"/>
            </a:pPr>
            <a:r>
              <a:rPr lang="pt-BR" dirty="0"/>
              <a:t>Preparação do ambiente para análise</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4"/>
          <p:cNvSpPr txBox="1">
            <a:spLocks noGrp="1"/>
          </p:cNvSpPr>
          <p:nvPr>
            <p:ph type="ctrTitle"/>
          </p:nvPr>
        </p:nvSpPr>
        <p:spPr>
          <a:xfrm>
            <a:off x="510450" y="381000"/>
            <a:ext cx="8123100" cy="9000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800"/>
              <a:buNone/>
            </a:pPr>
            <a:r>
              <a:rPr lang="pt-BR" sz="5000"/>
              <a:t>Apresentação</a:t>
            </a:r>
            <a:endParaRPr sz="5000" i="1">
              <a:solidFill>
                <a:schemeClr val="lt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5"/>
          <p:cNvSpPr txBox="1">
            <a:spLocks noGrp="1"/>
          </p:cNvSpPr>
          <p:nvPr>
            <p:ph type="title"/>
          </p:nvPr>
        </p:nvSpPr>
        <p:spPr>
          <a:xfrm>
            <a:off x="311700" y="2164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sz="3000" b="1"/>
              <a:t>Instrutores</a:t>
            </a:r>
            <a:endParaRPr sz="3000" b="1"/>
          </a:p>
        </p:txBody>
      </p:sp>
      <p:pic>
        <p:nvPicPr>
          <p:cNvPr id="109" name="Google Shape;109;p5"/>
          <p:cNvPicPr preferRelativeResize="0"/>
          <p:nvPr/>
        </p:nvPicPr>
        <p:blipFill rotWithShape="1">
          <a:blip r:embed="rId3">
            <a:alphaModFix/>
          </a:blip>
          <a:srcRect/>
          <a:stretch/>
        </p:blipFill>
        <p:spPr>
          <a:xfrm>
            <a:off x="2512450" y="860476"/>
            <a:ext cx="1114500" cy="1254893"/>
          </a:xfrm>
          <a:prstGeom prst="rect">
            <a:avLst/>
          </a:prstGeom>
          <a:noFill/>
          <a:ln>
            <a:noFill/>
          </a:ln>
        </p:spPr>
      </p:pic>
      <p:sp>
        <p:nvSpPr>
          <p:cNvPr id="110" name="Google Shape;110;p5"/>
          <p:cNvSpPr txBox="1"/>
          <p:nvPr/>
        </p:nvSpPr>
        <p:spPr>
          <a:xfrm>
            <a:off x="3741975" y="860475"/>
            <a:ext cx="4558500" cy="1255500"/>
          </a:xfrm>
          <a:prstGeom prst="rect">
            <a:avLst/>
          </a:prstGeom>
          <a:noFill/>
          <a:ln>
            <a:noFill/>
          </a:ln>
        </p:spPr>
        <p:txBody>
          <a:bodyPr spcFirstLastPara="1" wrap="square" lIns="91425" tIns="91425" rIns="91425" bIns="91425" anchor="ctr" anchorCtr="0">
            <a:spAutoFit/>
          </a:bodyPr>
          <a:lstStyle/>
          <a:p>
            <a:pPr marL="0" marR="0" lvl="0" indent="0" algn="l" rtl="0">
              <a:lnSpc>
                <a:spcPct val="115000"/>
              </a:lnSpc>
              <a:spcBef>
                <a:spcPts val="0"/>
              </a:spcBef>
              <a:spcAft>
                <a:spcPts val="0"/>
              </a:spcAft>
              <a:buClr>
                <a:srgbClr val="000000"/>
              </a:buClr>
              <a:buSzPts val="1200"/>
              <a:buFont typeface="Arial"/>
              <a:buNone/>
            </a:pPr>
            <a:r>
              <a:rPr lang="pt-BR" sz="1300" b="0" i="0" u="none" strike="noStrike" cap="none">
                <a:solidFill>
                  <a:schemeClr val="dk1"/>
                </a:solidFill>
                <a:latin typeface="Arial"/>
                <a:ea typeface="Arial"/>
                <a:cs typeface="Arial"/>
                <a:sym typeface="Arial"/>
              </a:rPr>
              <a:t>Doutorando em Bioinformática na UFPR</a:t>
            </a:r>
            <a:endParaRPr sz="1300" b="0" i="0" u="none" strike="noStrike" cap="none">
              <a:solidFill>
                <a:schemeClr val="dk1"/>
              </a:solidFill>
              <a:latin typeface="Arial"/>
              <a:ea typeface="Arial"/>
              <a:cs typeface="Arial"/>
              <a:sym typeface="Arial"/>
            </a:endParaRPr>
          </a:p>
          <a:p>
            <a:pPr marL="0" marR="0" lvl="0" indent="0" algn="l" rtl="0">
              <a:lnSpc>
                <a:spcPct val="115000"/>
              </a:lnSpc>
              <a:spcBef>
                <a:spcPts val="1600"/>
              </a:spcBef>
              <a:spcAft>
                <a:spcPts val="0"/>
              </a:spcAft>
              <a:buClr>
                <a:srgbClr val="000000"/>
              </a:buClr>
              <a:buSzPts val="1200"/>
              <a:buFont typeface="Arial"/>
              <a:buNone/>
            </a:pPr>
            <a:r>
              <a:rPr lang="pt-BR" sz="1300" b="0" i="0" u="none" strike="noStrike" cap="none">
                <a:solidFill>
                  <a:schemeClr val="dk1"/>
                </a:solidFill>
                <a:latin typeface="Arial"/>
                <a:ea typeface="Arial"/>
                <a:cs typeface="Arial"/>
                <a:sym typeface="Arial"/>
              </a:rPr>
              <a:t>Mestre em Bioquímica </a:t>
            </a:r>
            <a:r>
              <a:rPr lang="pt-BR" sz="1300">
                <a:solidFill>
                  <a:schemeClr val="dk1"/>
                </a:solidFill>
              </a:rPr>
              <a:t>pela </a:t>
            </a:r>
            <a:r>
              <a:rPr lang="pt-BR" sz="1300" b="0" i="0" u="none" strike="noStrike" cap="none">
                <a:solidFill>
                  <a:schemeClr val="dk1"/>
                </a:solidFill>
                <a:latin typeface="Arial"/>
                <a:ea typeface="Arial"/>
                <a:cs typeface="Arial"/>
                <a:sym typeface="Arial"/>
              </a:rPr>
              <a:t>UFRGS</a:t>
            </a:r>
            <a:endParaRPr sz="1300" b="0" i="0" u="none" strike="noStrike" cap="none">
              <a:solidFill>
                <a:schemeClr val="dk1"/>
              </a:solidFill>
              <a:latin typeface="Arial"/>
              <a:ea typeface="Arial"/>
              <a:cs typeface="Arial"/>
              <a:sym typeface="Arial"/>
            </a:endParaRPr>
          </a:p>
          <a:p>
            <a:pPr marL="0" marR="0" lvl="0" indent="0" algn="l" rtl="0">
              <a:lnSpc>
                <a:spcPct val="115000"/>
              </a:lnSpc>
              <a:spcBef>
                <a:spcPts val="1600"/>
              </a:spcBef>
              <a:spcAft>
                <a:spcPts val="0"/>
              </a:spcAft>
              <a:buClr>
                <a:srgbClr val="000000"/>
              </a:buClr>
              <a:buSzPts val="1200"/>
              <a:buFont typeface="Arial"/>
              <a:buNone/>
            </a:pPr>
            <a:r>
              <a:rPr lang="pt-BR" sz="1300" b="0" i="0" u="none" strike="noStrike" cap="none">
                <a:solidFill>
                  <a:schemeClr val="dk1"/>
                </a:solidFill>
                <a:latin typeface="Arial"/>
                <a:ea typeface="Arial"/>
                <a:cs typeface="Arial"/>
                <a:sym typeface="Arial"/>
              </a:rPr>
              <a:t>Bacharel em Biotecnologia pela UFRGS (Bioinformática)</a:t>
            </a:r>
            <a:endParaRPr sz="1300">
              <a:solidFill>
                <a:schemeClr val="dk1"/>
              </a:solidFill>
            </a:endParaRPr>
          </a:p>
        </p:txBody>
      </p:sp>
      <p:sp>
        <p:nvSpPr>
          <p:cNvPr id="111" name="Google Shape;111;p5"/>
          <p:cNvSpPr txBox="1"/>
          <p:nvPr/>
        </p:nvSpPr>
        <p:spPr>
          <a:xfrm>
            <a:off x="2512450" y="2453100"/>
            <a:ext cx="5787900" cy="1133100"/>
          </a:xfrm>
          <a:prstGeom prst="rect">
            <a:avLst/>
          </a:prstGeom>
          <a:noFill/>
          <a:ln>
            <a:noFill/>
          </a:ln>
        </p:spPr>
        <p:txBody>
          <a:bodyPr spcFirstLastPara="1" wrap="square" lIns="91425" tIns="91425" rIns="91425" bIns="91425" anchor="ctr" anchorCtr="0">
            <a:spAutoFit/>
          </a:bodyPr>
          <a:lstStyle/>
          <a:p>
            <a:pPr lvl="0" algn="just">
              <a:lnSpc>
                <a:spcPct val="115000"/>
              </a:lnSpc>
              <a:spcBef>
                <a:spcPts val="1600"/>
              </a:spcBef>
              <a:buSzPts val="1200"/>
            </a:pPr>
            <a:r>
              <a:rPr lang="pt-BR" b="1" dirty="0">
                <a:solidFill>
                  <a:schemeClr val="dk1"/>
                </a:solidFill>
              </a:rPr>
              <a:t>Recentemente, tem atuado</a:t>
            </a:r>
            <a:r>
              <a:rPr lang="pt-BR" b="1" i="0" u="none" strike="noStrike" cap="none" dirty="0">
                <a:solidFill>
                  <a:schemeClr val="dk1"/>
                </a:solidFill>
              </a:rPr>
              <a:t> no desenvolvimento de ferramentas de análise de dados de transcriptômica espacial. Associado ao grupo </a:t>
            </a:r>
            <a:r>
              <a:rPr lang="pt-BR" b="1" i="0" u="none" strike="noStrike" cap="none" dirty="0" err="1">
                <a:solidFill>
                  <a:schemeClr val="dk1"/>
                </a:solidFill>
              </a:rPr>
              <a:t>SysbioLab</a:t>
            </a:r>
            <a:r>
              <a:rPr lang="pt-BR" b="1" i="0" u="none" strike="noStrike" cap="none" dirty="0">
                <a:solidFill>
                  <a:schemeClr val="dk1"/>
                </a:solidFill>
              </a:rPr>
              <a:t>, </a:t>
            </a:r>
            <a:r>
              <a:rPr lang="pt-BR" b="1" dirty="0">
                <a:solidFill>
                  <a:schemeClr val="dk1"/>
                </a:solidFill>
              </a:rPr>
              <a:t>PPG Associado em Bioinformática UFPR</a:t>
            </a:r>
            <a:r>
              <a:rPr lang="pt-BR" b="1" i="0" u="none" strike="noStrike" cap="none" dirty="0">
                <a:solidFill>
                  <a:schemeClr val="dk1"/>
                </a:solidFill>
              </a:rPr>
              <a:t>.</a:t>
            </a:r>
            <a:endParaRPr b="1" i="0" u="none" strike="noStrike" cap="none" dirty="0">
              <a:solidFill>
                <a:schemeClr val="dk1"/>
              </a:solidFill>
            </a:endParaRPr>
          </a:p>
        </p:txBody>
      </p:sp>
      <p:sp>
        <p:nvSpPr>
          <p:cNvPr id="112" name="Google Shape;112;p5"/>
          <p:cNvSpPr txBox="1"/>
          <p:nvPr/>
        </p:nvSpPr>
        <p:spPr>
          <a:xfrm>
            <a:off x="1133097" y="4331177"/>
            <a:ext cx="6877800" cy="400200"/>
          </a:xfrm>
          <a:prstGeom prst="rect">
            <a:avLst/>
          </a:prstGeom>
          <a:noFill/>
          <a:ln>
            <a:noFill/>
          </a:ln>
        </p:spPr>
        <p:txBody>
          <a:bodyPr spcFirstLastPara="1" wrap="square" lIns="91425" tIns="91425" rIns="91425" bIns="91425" anchor="ctr" anchorCtr="0">
            <a:spAutoFit/>
          </a:bodyPr>
          <a:lstStyle/>
          <a:p>
            <a:pPr marL="0" marR="0" lvl="0" indent="0" algn="ctr" rtl="0">
              <a:lnSpc>
                <a:spcPct val="115000"/>
              </a:lnSpc>
              <a:spcBef>
                <a:spcPts val="1600"/>
              </a:spcBef>
              <a:spcAft>
                <a:spcPts val="0"/>
              </a:spcAft>
              <a:buClr>
                <a:srgbClr val="000000"/>
              </a:buClr>
              <a:buSzPts val="1200"/>
              <a:buFont typeface="Arial"/>
              <a:buNone/>
            </a:pPr>
            <a:r>
              <a:rPr lang="pt-BR" u="sng">
                <a:solidFill>
                  <a:schemeClr val="hlink"/>
                </a:solidFill>
                <a:hlinkClick r:id="rId4"/>
              </a:rPr>
              <a:t>github.com/flaviogckessler</a:t>
            </a:r>
            <a:r>
              <a:rPr lang="pt-BR"/>
              <a:t>	</a:t>
            </a:r>
            <a:r>
              <a:rPr lang="pt-BR" u="sng">
                <a:solidFill>
                  <a:schemeClr val="dk1"/>
                </a:solidFill>
                <a:hlinkClick r:id="rId5">
                  <a:extLst>
                    <a:ext uri="{A12FA001-AC4F-418D-AE19-62706E023703}">
                      <ahyp:hlinkClr xmlns:ahyp="http://schemas.microsoft.com/office/drawing/2018/hyperlinkcolor" val="tx"/>
                    </a:ext>
                  </a:extLst>
                </a:hlinkClick>
              </a:rPr>
              <a:t>github.com/sysbiolab</a:t>
            </a:r>
            <a:r>
              <a:rPr lang="pt-BR">
                <a:solidFill>
                  <a:schemeClr val="dk1"/>
                </a:solidFill>
              </a:rPr>
              <a:t>	flaviogckessler@gmail.com</a:t>
            </a:r>
            <a:endParaRPr>
              <a:solidFill>
                <a:schemeClr val="dk1"/>
              </a:solidFill>
            </a:endParaRPr>
          </a:p>
        </p:txBody>
      </p:sp>
      <p:pic>
        <p:nvPicPr>
          <p:cNvPr id="113" name="Google Shape;113;p5"/>
          <p:cNvPicPr preferRelativeResize="0"/>
          <p:nvPr/>
        </p:nvPicPr>
        <p:blipFill rotWithShape="1">
          <a:blip r:embed="rId6">
            <a:alphaModFix/>
          </a:blip>
          <a:srcRect r="73206" b="14698"/>
          <a:stretch/>
        </p:blipFill>
        <p:spPr>
          <a:xfrm>
            <a:off x="311700" y="860475"/>
            <a:ext cx="1883450" cy="2827050"/>
          </a:xfrm>
          <a:prstGeom prst="rect">
            <a:avLst/>
          </a:prstGeom>
          <a:noFill/>
          <a:ln>
            <a:noFill/>
          </a:ln>
        </p:spPr>
      </p:pic>
      <p:pic>
        <p:nvPicPr>
          <p:cNvPr id="114" name="Google Shape;114;p5" title="github_icon_128px.png"/>
          <p:cNvPicPr preferRelativeResize="0"/>
          <p:nvPr/>
        </p:nvPicPr>
        <p:blipFill>
          <a:blip r:embed="rId7">
            <a:alphaModFix/>
          </a:blip>
          <a:stretch>
            <a:fillRect/>
          </a:stretch>
        </p:blipFill>
        <p:spPr>
          <a:xfrm>
            <a:off x="452725" y="4191099"/>
            <a:ext cx="680375" cy="6803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25BA3345-91C7-6A0A-381E-267D328AE838}"/>
            </a:ext>
          </a:extLst>
        </p:cNvPr>
        <p:cNvGrpSpPr/>
        <p:nvPr/>
      </p:nvGrpSpPr>
      <p:grpSpPr>
        <a:xfrm>
          <a:off x="0" y="0"/>
          <a:ext cx="0" cy="0"/>
          <a:chOff x="0" y="0"/>
          <a:chExt cx="0" cy="0"/>
        </a:xfrm>
      </p:grpSpPr>
      <p:sp>
        <p:nvSpPr>
          <p:cNvPr id="108" name="Google Shape;108;p5">
            <a:extLst>
              <a:ext uri="{FF2B5EF4-FFF2-40B4-BE49-F238E27FC236}">
                <a16:creationId xmlns:a16="http://schemas.microsoft.com/office/drawing/2014/main" id="{1240BE32-B048-FE5A-CAE2-2067759FF357}"/>
              </a:ext>
            </a:extLst>
          </p:cNvPr>
          <p:cNvSpPr txBox="1">
            <a:spLocks noGrp="1"/>
          </p:cNvSpPr>
          <p:nvPr>
            <p:ph type="title"/>
          </p:nvPr>
        </p:nvSpPr>
        <p:spPr>
          <a:xfrm>
            <a:off x="311700" y="2164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sz="3000" b="1"/>
              <a:t>Instrutores</a:t>
            </a:r>
            <a:endParaRPr sz="3000" b="1"/>
          </a:p>
        </p:txBody>
      </p:sp>
      <p:sp>
        <p:nvSpPr>
          <p:cNvPr id="110" name="Google Shape;110;p5">
            <a:extLst>
              <a:ext uri="{FF2B5EF4-FFF2-40B4-BE49-F238E27FC236}">
                <a16:creationId xmlns:a16="http://schemas.microsoft.com/office/drawing/2014/main" id="{A8062077-BE56-8E60-6B78-068BC5208FA4}"/>
              </a:ext>
            </a:extLst>
          </p:cNvPr>
          <p:cNvSpPr txBox="1"/>
          <p:nvPr/>
        </p:nvSpPr>
        <p:spPr>
          <a:xfrm>
            <a:off x="3741974" y="730599"/>
            <a:ext cx="5402025" cy="1515256"/>
          </a:xfrm>
          <a:prstGeom prst="rect">
            <a:avLst/>
          </a:prstGeom>
          <a:noFill/>
          <a:ln>
            <a:noFill/>
          </a:ln>
        </p:spPr>
        <p:txBody>
          <a:bodyPr spcFirstLastPara="1" wrap="square" lIns="91425" tIns="91425" rIns="91425" bIns="91425" anchor="ctr" anchorCtr="0">
            <a:spAutoFit/>
          </a:bodyPr>
          <a:lstStyle/>
          <a:p>
            <a:pPr marL="0" marR="0" lvl="0" indent="0" algn="l" rtl="0">
              <a:lnSpc>
                <a:spcPct val="115000"/>
              </a:lnSpc>
              <a:spcBef>
                <a:spcPts val="0"/>
              </a:spcBef>
              <a:spcAft>
                <a:spcPts val="0"/>
              </a:spcAft>
              <a:buClr>
                <a:srgbClr val="000000"/>
              </a:buClr>
              <a:buSzPts val="1200"/>
              <a:buFont typeface="Arial"/>
              <a:buNone/>
            </a:pPr>
            <a:r>
              <a:rPr lang="pt-BR" sz="1300" b="0" i="0" u="none" strike="noStrike" cap="none" dirty="0">
                <a:solidFill>
                  <a:schemeClr val="dk1"/>
                </a:solidFill>
                <a:latin typeface="Arial"/>
                <a:ea typeface="Arial"/>
                <a:cs typeface="Arial"/>
                <a:sym typeface="Arial"/>
              </a:rPr>
              <a:t>Doutoranda em Bioinformática na UFPR, com pe</a:t>
            </a:r>
            <a:r>
              <a:rPr lang="pt-BR" sz="1300" dirty="0">
                <a:solidFill>
                  <a:schemeClr val="dk1"/>
                </a:solidFill>
              </a:rPr>
              <a:t>ríodo sanduíche no The Rosalind Franklin </a:t>
            </a:r>
            <a:r>
              <a:rPr lang="pt-BR" sz="1300" dirty="0" err="1">
                <a:solidFill>
                  <a:schemeClr val="dk1"/>
                </a:solidFill>
              </a:rPr>
              <a:t>Institute</a:t>
            </a:r>
            <a:r>
              <a:rPr lang="pt-BR" sz="1300" dirty="0">
                <a:solidFill>
                  <a:schemeClr val="dk1"/>
                </a:solidFill>
              </a:rPr>
              <a:t> (Reino Unido)</a:t>
            </a:r>
            <a:endParaRPr sz="1300" b="0" i="0" u="none" strike="noStrike" cap="none" dirty="0">
              <a:solidFill>
                <a:schemeClr val="dk1"/>
              </a:solidFill>
              <a:latin typeface="Arial"/>
              <a:ea typeface="Arial"/>
              <a:cs typeface="Arial"/>
              <a:sym typeface="Arial"/>
            </a:endParaRPr>
          </a:p>
          <a:p>
            <a:pPr marL="0" marR="0" lvl="0" indent="0" algn="l" rtl="0">
              <a:lnSpc>
                <a:spcPct val="115000"/>
              </a:lnSpc>
              <a:spcBef>
                <a:spcPts val="1600"/>
              </a:spcBef>
              <a:spcAft>
                <a:spcPts val="0"/>
              </a:spcAft>
              <a:buClr>
                <a:srgbClr val="000000"/>
              </a:buClr>
              <a:buSzPts val="1200"/>
              <a:buFont typeface="Arial"/>
              <a:buNone/>
            </a:pPr>
            <a:r>
              <a:rPr lang="pt-BR" sz="1300" b="0" i="0" u="none" strike="noStrike" cap="none" dirty="0">
                <a:solidFill>
                  <a:schemeClr val="dk1"/>
                </a:solidFill>
                <a:latin typeface="Arial"/>
                <a:ea typeface="Arial"/>
                <a:cs typeface="Arial"/>
                <a:sym typeface="Arial"/>
              </a:rPr>
              <a:t>Mestre em Engenharia de Bioprocessos e Biotecnologia </a:t>
            </a:r>
            <a:r>
              <a:rPr lang="pt-BR" sz="1300" dirty="0">
                <a:solidFill>
                  <a:schemeClr val="dk1"/>
                </a:solidFill>
              </a:rPr>
              <a:t>pela </a:t>
            </a:r>
            <a:r>
              <a:rPr lang="pt-BR" sz="1300" b="0" i="0" u="none" strike="noStrike" cap="none" dirty="0">
                <a:solidFill>
                  <a:schemeClr val="dk1"/>
                </a:solidFill>
                <a:latin typeface="Arial"/>
                <a:ea typeface="Arial"/>
                <a:cs typeface="Arial"/>
                <a:sym typeface="Arial"/>
              </a:rPr>
              <a:t>UFPR</a:t>
            </a:r>
            <a:endParaRPr sz="1300" b="0" i="0" u="none" strike="noStrike" cap="none" dirty="0">
              <a:solidFill>
                <a:schemeClr val="dk1"/>
              </a:solidFill>
              <a:latin typeface="Arial"/>
              <a:ea typeface="Arial"/>
              <a:cs typeface="Arial"/>
              <a:sym typeface="Arial"/>
            </a:endParaRPr>
          </a:p>
          <a:p>
            <a:pPr lvl="0">
              <a:lnSpc>
                <a:spcPct val="115000"/>
              </a:lnSpc>
              <a:spcBef>
                <a:spcPts val="1600"/>
              </a:spcBef>
              <a:buSzPts val="1200"/>
            </a:pPr>
            <a:r>
              <a:rPr lang="pt-BR" sz="1300" b="0" i="0" u="none" strike="noStrike" cap="none" dirty="0">
                <a:solidFill>
                  <a:schemeClr val="dk1"/>
                </a:solidFill>
                <a:latin typeface="Arial"/>
                <a:ea typeface="Arial"/>
                <a:cs typeface="Arial"/>
                <a:sym typeface="Arial"/>
              </a:rPr>
              <a:t>Bacharel em </a:t>
            </a:r>
            <a:r>
              <a:rPr lang="pt-BR" sz="1300" dirty="0">
                <a:solidFill>
                  <a:schemeClr val="dk1"/>
                </a:solidFill>
              </a:rPr>
              <a:t>Engenharia de Bioprocessos e Biotecnologia</a:t>
            </a:r>
            <a:r>
              <a:rPr lang="pt-BR" sz="1300" b="0" i="0" u="none" strike="noStrike" cap="none" dirty="0">
                <a:solidFill>
                  <a:schemeClr val="dk1"/>
                </a:solidFill>
                <a:latin typeface="Arial"/>
                <a:ea typeface="Arial"/>
                <a:cs typeface="Arial"/>
                <a:sym typeface="Arial"/>
              </a:rPr>
              <a:t> pela UFPR</a:t>
            </a:r>
            <a:endParaRPr sz="1300" dirty="0">
              <a:solidFill>
                <a:schemeClr val="dk1"/>
              </a:solidFill>
            </a:endParaRPr>
          </a:p>
        </p:txBody>
      </p:sp>
      <p:sp>
        <p:nvSpPr>
          <p:cNvPr id="111" name="Google Shape;111;p5">
            <a:extLst>
              <a:ext uri="{FF2B5EF4-FFF2-40B4-BE49-F238E27FC236}">
                <a16:creationId xmlns:a16="http://schemas.microsoft.com/office/drawing/2014/main" id="{0EF0F5A4-63CF-EB6B-6BF9-ACD74D49B9AE}"/>
              </a:ext>
            </a:extLst>
          </p:cNvPr>
          <p:cNvSpPr txBox="1"/>
          <p:nvPr/>
        </p:nvSpPr>
        <p:spPr>
          <a:xfrm>
            <a:off x="2512450" y="2453100"/>
            <a:ext cx="5787900" cy="1133100"/>
          </a:xfrm>
          <a:prstGeom prst="rect">
            <a:avLst/>
          </a:prstGeom>
          <a:noFill/>
          <a:ln>
            <a:noFill/>
          </a:ln>
        </p:spPr>
        <p:txBody>
          <a:bodyPr spcFirstLastPara="1" wrap="square" lIns="91425" tIns="91425" rIns="91425" bIns="91425" anchor="ctr" anchorCtr="0">
            <a:spAutoFit/>
          </a:bodyPr>
          <a:lstStyle/>
          <a:p>
            <a:pPr marL="0" marR="0" lvl="0" indent="0" algn="just" rtl="0">
              <a:lnSpc>
                <a:spcPct val="115000"/>
              </a:lnSpc>
              <a:spcBef>
                <a:spcPts val="1600"/>
              </a:spcBef>
              <a:spcAft>
                <a:spcPts val="0"/>
              </a:spcAft>
              <a:buClr>
                <a:srgbClr val="000000"/>
              </a:buClr>
              <a:buSzPts val="1200"/>
              <a:buFont typeface="Arial"/>
              <a:buNone/>
            </a:pPr>
            <a:r>
              <a:rPr lang="pt-BR" b="1" dirty="0">
                <a:solidFill>
                  <a:schemeClr val="dk1"/>
                </a:solidFill>
              </a:rPr>
              <a:t>Recentemente, tem atuado</a:t>
            </a:r>
            <a:r>
              <a:rPr lang="pt-BR" b="1" i="0" u="none" strike="noStrike" cap="none" dirty="0">
                <a:solidFill>
                  <a:schemeClr val="dk1"/>
                </a:solidFill>
              </a:rPr>
              <a:t> no desenvolvimento de ferramentas de análise de dados de transcriptômica espacial. Associada ao grupo </a:t>
            </a:r>
            <a:r>
              <a:rPr lang="pt-BR" b="1" i="0" u="none" strike="noStrike" cap="none" dirty="0" err="1">
                <a:solidFill>
                  <a:schemeClr val="dk1"/>
                </a:solidFill>
              </a:rPr>
              <a:t>SysbioLab</a:t>
            </a:r>
            <a:r>
              <a:rPr lang="pt-BR" b="1" i="0" u="none" strike="noStrike" cap="none" dirty="0">
                <a:solidFill>
                  <a:schemeClr val="dk1"/>
                </a:solidFill>
              </a:rPr>
              <a:t>, PPG Associado em Bioinformática UFPR.</a:t>
            </a:r>
            <a:endParaRPr b="1" i="0" u="none" strike="noStrike" cap="none" dirty="0">
              <a:solidFill>
                <a:schemeClr val="dk1"/>
              </a:solidFill>
            </a:endParaRPr>
          </a:p>
        </p:txBody>
      </p:sp>
      <p:sp>
        <p:nvSpPr>
          <p:cNvPr id="112" name="Google Shape;112;p5">
            <a:extLst>
              <a:ext uri="{FF2B5EF4-FFF2-40B4-BE49-F238E27FC236}">
                <a16:creationId xmlns:a16="http://schemas.microsoft.com/office/drawing/2014/main" id="{89BB49BC-A889-9945-4184-2C7B2F36011C}"/>
              </a:ext>
            </a:extLst>
          </p:cNvPr>
          <p:cNvSpPr txBox="1"/>
          <p:nvPr/>
        </p:nvSpPr>
        <p:spPr>
          <a:xfrm>
            <a:off x="1133097" y="4088607"/>
            <a:ext cx="6877800" cy="885340"/>
          </a:xfrm>
          <a:prstGeom prst="rect">
            <a:avLst/>
          </a:prstGeom>
          <a:noFill/>
          <a:ln>
            <a:noFill/>
          </a:ln>
        </p:spPr>
        <p:txBody>
          <a:bodyPr spcFirstLastPara="1" wrap="square" lIns="91425" tIns="91425" rIns="91425" bIns="91425" anchor="ctr" anchorCtr="0">
            <a:spAutoFit/>
          </a:bodyPr>
          <a:lstStyle/>
          <a:p>
            <a:pPr marL="0" marR="0" lvl="0" indent="0" algn="ctr" rtl="0">
              <a:lnSpc>
                <a:spcPct val="115000"/>
              </a:lnSpc>
              <a:spcBef>
                <a:spcPts val="1600"/>
              </a:spcBef>
              <a:spcAft>
                <a:spcPts val="0"/>
              </a:spcAft>
              <a:buClr>
                <a:srgbClr val="000000"/>
              </a:buClr>
              <a:buSzPts val="1200"/>
              <a:buFont typeface="Arial"/>
              <a:buNone/>
            </a:pPr>
            <a:r>
              <a:rPr lang="pt-BR" u="sng" dirty="0">
                <a:solidFill>
                  <a:schemeClr val="hlink"/>
                </a:solidFill>
                <a:hlinkClick r:id="rId3"/>
              </a:rPr>
              <a:t>github.</a:t>
            </a:r>
            <a:r>
              <a:rPr lang="pt-BR" u="sng" dirty="0">
                <a:solidFill>
                  <a:schemeClr val="hlink"/>
                </a:solidFill>
              </a:rPr>
              <a:t>com</a:t>
            </a:r>
            <a:r>
              <a:rPr lang="pt-BR" u="sng" dirty="0">
                <a:solidFill>
                  <a:schemeClr val="hlink"/>
                </a:solidFill>
                <a:hlinkClick r:id="rId3"/>
              </a:rPr>
              <a:t>/</a:t>
            </a:r>
            <a:r>
              <a:rPr lang="pt-BR" u="sng" dirty="0" err="1">
                <a:solidFill>
                  <a:schemeClr val="hlink"/>
                </a:solidFill>
              </a:rPr>
              <a:t>lanabpq</a:t>
            </a:r>
            <a:r>
              <a:rPr lang="pt-BR" dirty="0">
                <a:solidFill>
                  <a:schemeClr val="hlink"/>
                </a:solidFill>
              </a:rPr>
              <a:t>     </a:t>
            </a:r>
            <a:r>
              <a:rPr lang="pt-BR" dirty="0"/>
              <a:t>	</a:t>
            </a:r>
            <a:r>
              <a:rPr lang="pt-BR" u="sng" dirty="0">
                <a:solidFill>
                  <a:schemeClr val="dk1"/>
                </a:solidFill>
                <a:hlinkClick r:id="rId4">
                  <a:extLst>
                    <a:ext uri="{A12FA001-AC4F-418D-AE19-62706E023703}">
                      <ahyp:hlinkClr xmlns:ahyp="http://schemas.microsoft.com/office/drawing/2018/hyperlinkcolor" val="tx"/>
                    </a:ext>
                  </a:extLst>
                </a:hlinkClick>
              </a:rPr>
              <a:t>github.com/</a:t>
            </a:r>
            <a:r>
              <a:rPr lang="pt-BR" u="sng" dirty="0" err="1">
                <a:solidFill>
                  <a:schemeClr val="dk1"/>
                </a:solidFill>
                <a:hlinkClick r:id="rId4">
                  <a:extLst>
                    <a:ext uri="{A12FA001-AC4F-418D-AE19-62706E023703}">
                      <ahyp:hlinkClr xmlns:ahyp="http://schemas.microsoft.com/office/drawing/2018/hyperlinkcolor" val="tx"/>
                    </a:ext>
                  </a:extLst>
                </a:hlinkClick>
              </a:rPr>
              <a:t>sysbiolab</a:t>
            </a:r>
            <a:r>
              <a:rPr lang="pt-BR" dirty="0">
                <a:solidFill>
                  <a:schemeClr val="dk1"/>
                </a:solidFill>
              </a:rPr>
              <a:t>	                                lanapeters@ufpr.br</a:t>
            </a:r>
            <a:endParaRPr dirty="0">
              <a:solidFill>
                <a:schemeClr val="dk1"/>
              </a:solidFill>
            </a:endParaRPr>
          </a:p>
        </p:txBody>
      </p:sp>
      <p:pic>
        <p:nvPicPr>
          <p:cNvPr id="114" name="Google Shape;114;p5" title="github_icon_128px.png">
            <a:extLst>
              <a:ext uri="{FF2B5EF4-FFF2-40B4-BE49-F238E27FC236}">
                <a16:creationId xmlns:a16="http://schemas.microsoft.com/office/drawing/2014/main" id="{2D7D2B6B-5220-DF91-2374-539853DEC667}"/>
              </a:ext>
            </a:extLst>
          </p:cNvPr>
          <p:cNvPicPr preferRelativeResize="0"/>
          <p:nvPr/>
        </p:nvPicPr>
        <p:blipFill>
          <a:blip r:embed="rId5">
            <a:alphaModFix/>
          </a:blip>
          <a:stretch>
            <a:fillRect/>
          </a:stretch>
        </p:blipFill>
        <p:spPr>
          <a:xfrm>
            <a:off x="452725" y="4191099"/>
            <a:ext cx="680375" cy="680375"/>
          </a:xfrm>
          <a:prstGeom prst="rect">
            <a:avLst/>
          </a:prstGeom>
          <a:noFill/>
          <a:ln>
            <a:noFill/>
          </a:ln>
        </p:spPr>
      </p:pic>
      <p:pic>
        <p:nvPicPr>
          <p:cNvPr id="5" name="Imagem 4">
            <a:extLst>
              <a:ext uri="{FF2B5EF4-FFF2-40B4-BE49-F238E27FC236}">
                <a16:creationId xmlns:a16="http://schemas.microsoft.com/office/drawing/2014/main" id="{791B66F4-2ABB-0222-1CB3-228B794E413F}"/>
              </a:ext>
            </a:extLst>
          </p:cNvPr>
          <p:cNvPicPr>
            <a:picLocks noChangeAspect="1"/>
          </p:cNvPicPr>
          <p:nvPr/>
        </p:nvPicPr>
        <p:blipFill>
          <a:blip r:embed="rId6"/>
          <a:srcRect t="1773" b="7770"/>
          <a:stretch>
            <a:fillRect/>
          </a:stretch>
        </p:blipFill>
        <p:spPr>
          <a:xfrm>
            <a:off x="311700" y="865909"/>
            <a:ext cx="1946591" cy="3126758"/>
          </a:xfrm>
          <a:prstGeom prst="rect">
            <a:avLst/>
          </a:prstGeom>
        </p:spPr>
      </p:pic>
      <p:pic>
        <p:nvPicPr>
          <p:cNvPr id="6" name="Imagem 5" descr="Prévia da imagem">
            <a:extLst>
              <a:ext uri="{FF2B5EF4-FFF2-40B4-BE49-F238E27FC236}">
                <a16:creationId xmlns:a16="http://schemas.microsoft.com/office/drawing/2014/main" id="{36B99609-4DE6-FEC0-4882-17685E049A85}"/>
              </a:ext>
            </a:extLst>
          </p:cNvPr>
          <p:cNvPicPr>
            <a:picLocks noChangeAspect="1"/>
          </p:cNvPicPr>
          <p:nvPr/>
        </p:nvPicPr>
        <p:blipFill>
          <a:blip r:embed="rId7"/>
          <a:srcRect l="10778" t="11654" r="9311" b="16298"/>
          <a:stretch>
            <a:fillRect/>
          </a:stretch>
        </p:blipFill>
        <p:spPr>
          <a:xfrm>
            <a:off x="2480746" y="884741"/>
            <a:ext cx="1261228" cy="1265497"/>
          </a:xfrm>
          <a:prstGeom prst="rect">
            <a:avLst/>
          </a:prstGeom>
        </p:spPr>
      </p:pic>
    </p:spTree>
    <p:extLst>
      <p:ext uri="{BB962C8B-B14F-4D97-AF65-F5344CB8AC3E}">
        <p14:creationId xmlns:p14="http://schemas.microsoft.com/office/powerpoint/2010/main" val="27235233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4ED0BD1-3F37-D004-6227-26BAAC6BAE1A}"/>
            </a:ext>
          </a:extLst>
        </p:cNvPr>
        <p:cNvGrpSpPr/>
        <p:nvPr/>
      </p:nvGrpSpPr>
      <p:grpSpPr>
        <a:xfrm>
          <a:off x="0" y="0"/>
          <a:ext cx="0" cy="0"/>
          <a:chOff x="0" y="0"/>
          <a:chExt cx="0" cy="0"/>
        </a:xfrm>
      </p:grpSpPr>
      <p:sp>
        <p:nvSpPr>
          <p:cNvPr id="108" name="Google Shape;108;p5">
            <a:extLst>
              <a:ext uri="{FF2B5EF4-FFF2-40B4-BE49-F238E27FC236}">
                <a16:creationId xmlns:a16="http://schemas.microsoft.com/office/drawing/2014/main" id="{BE9D27A2-8579-65D1-95FF-8555294AE258}"/>
              </a:ext>
            </a:extLst>
          </p:cNvPr>
          <p:cNvSpPr txBox="1">
            <a:spLocks noGrp="1"/>
          </p:cNvSpPr>
          <p:nvPr>
            <p:ph type="title"/>
          </p:nvPr>
        </p:nvSpPr>
        <p:spPr>
          <a:xfrm>
            <a:off x="311700" y="2164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sz="3000" b="1"/>
              <a:t>Instrutores</a:t>
            </a:r>
            <a:endParaRPr sz="3000" b="1"/>
          </a:p>
        </p:txBody>
      </p:sp>
      <p:sp>
        <p:nvSpPr>
          <p:cNvPr id="110" name="Google Shape;110;p5">
            <a:extLst>
              <a:ext uri="{FF2B5EF4-FFF2-40B4-BE49-F238E27FC236}">
                <a16:creationId xmlns:a16="http://schemas.microsoft.com/office/drawing/2014/main" id="{03660400-1AF8-4F9A-37C2-4D45AB4DE596}"/>
              </a:ext>
            </a:extLst>
          </p:cNvPr>
          <p:cNvSpPr txBox="1"/>
          <p:nvPr/>
        </p:nvSpPr>
        <p:spPr>
          <a:xfrm>
            <a:off x="4364181" y="765736"/>
            <a:ext cx="3936293" cy="1444981"/>
          </a:xfrm>
          <a:prstGeom prst="rect">
            <a:avLst/>
          </a:prstGeom>
          <a:noFill/>
          <a:ln>
            <a:noFill/>
          </a:ln>
        </p:spPr>
        <p:txBody>
          <a:bodyPr spcFirstLastPara="1" wrap="square" lIns="91425" tIns="91425" rIns="91425" bIns="91425" anchor="ctr" anchorCtr="0">
            <a:spAutoFit/>
          </a:bodyPr>
          <a:lstStyle/>
          <a:p>
            <a:pPr marL="0" marR="0" lvl="0" indent="0" algn="l" rtl="0">
              <a:lnSpc>
                <a:spcPct val="115000"/>
              </a:lnSpc>
              <a:spcBef>
                <a:spcPts val="0"/>
              </a:spcBef>
              <a:spcAft>
                <a:spcPts val="0"/>
              </a:spcAft>
              <a:buClr>
                <a:srgbClr val="000000"/>
              </a:buClr>
              <a:buSzPts val="1200"/>
              <a:buFont typeface="Arial"/>
              <a:buNone/>
            </a:pPr>
            <a:r>
              <a:rPr lang="pt-BR" sz="1300" b="0" i="0" u="none" strike="noStrike" cap="none" dirty="0">
                <a:solidFill>
                  <a:schemeClr val="dk1"/>
                </a:solidFill>
                <a:latin typeface="Arial"/>
                <a:ea typeface="Arial"/>
                <a:cs typeface="Arial"/>
                <a:sym typeface="Arial"/>
              </a:rPr>
              <a:t>Mestrando em Bioinformática na UFPR</a:t>
            </a:r>
          </a:p>
          <a:p>
            <a:pPr marL="0" marR="0" lvl="0" indent="0" algn="l" rtl="0">
              <a:lnSpc>
                <a:spcPct val="115000"/>
              </a:lnSpc>
              <a:spcBef>
                <a:spcPts val="0"/>
              </a:spcBef>
              <a:spcAft>
                <a:spcPts val="0"/>
              </a:spcAft>
              <a:buClr>
                <a:srgbClr val="000000"/>
              </a:buClr>
              <a:buSzPts val="1200"/>
              <a:buFont typeface="Arial"/>
              <a:buNone/>
            </a:pPr>
            <a:endParaRPr lang="pt-BR" sz="1300" dirty="0">
              <a:solidFill>
                <a:schemeClr val="dk1"/>
              </a:solidFill>
            </a:endParaRPr>
          </a:p>
          <a:p>
            <a:pPr marL="0" marR="0" lvl="0" indent="0" algn="l" rtl="0">
              <a:lnSpc>
                <a:spcPct val="100000"/>
              </a:lnSpc>
              <a:spcBef>
                <a:spcPts val="0"/>
              </a:spcBef>
              <a:spcAft>
                <a:spcPts val="0"/>
              </a:spcAft>
              <a:buClr>
                <a:srgbClr val="000000"/>
              </a:buClr>
              <a:buSzPts val="1200"/>
              <a:buFont typeface="Arial"/>
              <a:buNone/>
            </a:pPr>
            <a:r>
              <a:rPr lang="pt-BR" sz="1300" b="0" i="0" u="none" strike="noStrike" cap="none" dirty="0">
                <a:solidFill>
                  <a:schemeClr val="dk1"/>
                </a:solidFill>
                <a:latin typeface="Arial"/>
                <a:ea typeface="Arial"/>
                <a:cs typeface="Arial"/>
                <a:sym typeface="Arial"/>
              </a:rPr>
              <a:t>Especializações em Data Science Big Data e Inteligência Artificial Generativa</a:t>
            </a:r>
          </a:p>
          <a:p>
            <a:pPr marL="0" marR="0" lvl="0" indent="0" algn="l" rtl="0">
              <a:lnSpc>
                <a:spcPct val="100000"/>
              </a:lnSpc>
              <a:spcBef>
                <a:spcPts val="0"/>
              </a:spcBef>
              <a:spcAft>
                <a:spcPts val="0"/>
              </a:spcAft>
              <a:buClr>
                <a:srgbClr val="000000"/>
              </a:buClr>
              <a:buSzPts val="1200"/>
              <a:buFont typeface="Arial"/>
              <a:buNone/>
            </a:pPr>
            <a:endParaRPr lang="pt-BR" sz="1300" dirty="0">
              <a:solidFill>
                <a:schemeClr val="dk1"/>
              </a:solidFill>
            </a:endParaRPr>
          </a:p>
          <a:p>
            <a:pPr marL="0" marR="0" lvl="0" indent="0" algn="l" rtl="0">
              <a:lnSpc>
                <a:spcPct val="100000"/>
              </a:lnSpc>
              <a:spcBef>
                <a:spcPts val="0"/>
              </a:spcBef>
              <a:spcAft>
                <a:spcPts val="0"/>
              </a:spcAft>
              <a:buClr>
                <a:srgbClr val="000000"/>
              </a:buClr>
              <a:buSzPts val="1200"/>
              <a:buFont typeface="Arial"/>
              <a:buNone/>
            </a:pPr>
            <a:r>
              <a:rPr lang="pt-BR" sz="1300" b="0" i="0" u="none" strike="noStrike" cap="none" dirty="0">
                <a:solidFill>
                  <a:schemeClr val="dk1"/>
                </a:solidFill>
                <a:latin typeface="Arial"/>
                <a:ea typeface="Arial"/>
                <a:cs typeface="Arial"/>
                <a:sym typeface="Arial"/>
              </a:rPr>
              <a:t>Bacharel em Biomedicina pela UFPR</a:t>
            </a:r>
            <a:endParaRPr sz="1300" b="0" i="0" u="none" strike="noStrike" cap="none" dirty="0">
              <a:solidFill>
                <a:schemeClr val="dk1"/>
              </a:solidFill>
              <a:latin typeface="Arial"/>
              <a:ea typeface="Arial"/>
              <a:cs typeface="Arial"/>
              <a:sym typeface="Arial"/>
            </a:endParaRPr>
          </a:p>
        </p:txBody>
      </p:sp>
      <p:sp>
        <p:nvSpPr>
          <p:cNvPr id="111" name="Google Shape;111;p5">
            <a:extLst>
              <a:ext uri="{FF2B5EF4-FFF2-40B4-BE49-F238E27FC236}">
                <a16:creationId xmlns:a16="http://schemas.microsoft.com/office/drawing/2014/main" id="{2C7A5D26-5649-06CF-97DA-72C3B4418305}"/>
              </a:ext>
            </a:extLst>
          </p:cNvPr>
          <p:cNvSpPr txBox="1"/>
          <p:nvPr/>
        </p:nvSpPr>
        <p:spPr>
          <a:xfrm>
            <a:off x="3352800" y="2329220"/>
            <a:ext cx="4947550" cy="1380861"/>
          </a:xfrm>
          <a:prstGeom prst="rect">
            <a:avLst/>
          </a:prstGeom>
          <a:noFill/>
          <a:ln>
            <a:noFill/>
          </a:ln>
        </p:spPr>
        <p:txBody>
          <a:bodyPr spcFirstLastPara="1" wrap="square" lIns="91425" tIns="91425" rIns="91425" bIns="91425" anchor="ctr" anchorCtr="0">
            <a:spAutoFit/>
          </a:bodyPr>
          <a:lstStyle/>
          <a:p>
            <a:pPr marL="0" marR="0" lvl="0" indent="0" algn="just" rtl="0">
              <a:lnSpc>
                <a:spcPct val="115000"/>
              </a:lnSpc>
              <a:spcBef>
                <a:spcPts val="1600"/>
              </a:spcBef>
              <a:spcAft>
                <a:spcPts val="0"/>
              </a:spcAft>
              <a:buClr>
                <a:srgbClr val="000000"/>
              </a:buClr>
              <a:buSzPts val="1200"/>
              <a:buFont typeface="Arial"/>
              <a:buNone/>
            </a:pPr>
            <a:r>
              <a:rPr lang="pt-BR" b="1" dirty="0">
                <a:solidFill>
                  <a:schemeClr val="dk1"/>
                </a:solidFill>
              </a:rPr>
              <a:t>Recentemente, tem atuado</a:t>
            </a:r>
            <a:r>
              <a:rPr lang="pt-BR" b="1" i="0" u="none" strike="noStrike" cap="none" dirty="0">
                <a:solidFill>
                  <a:schemeClr val="dk1"/>
                </a:solidFill>
              </a:rPr>
              <a:t> no desenvolvimento de ferramentas de análise de dados de transcriptômica espacial. Associado ao grupo </a:t>
            </a:r>
            <a:r>
              <a:rPr lang="pt-BR" b="1" i="0" u="none" strike="noStrike" cap="none" dirty="0" err="1">
                <a:solidFill>
                  <a:schemeClr val="dk1"/>
                </a:solidFill>
              </a:rPr>
              <a:t>SysbioLab</a:t>
            </a:r>
            <a:r>
              <a:rPr lang="pt-BR" b="1" i="0" u="none" strike="noStrike" cap="none" dirty="0">
                <a:solidFill>
                  <a:schemeClr val="dk1"/>
                </a:solidFill>
              </a:rPr>
              <a:t>, PPG </a:t>
            </a:r>
            <a:r>
              <a:rPr lang="pt-BR" b="1" i="0" u="none" strike="noStrike" cap="none" dirty="0" err="1">
                <a:solidFill>
                  <a:schemeClr val="dk1"/>
                </a:solidFill>
              </a:rPr>
              <a:t>Bioinfo</a:t>
            </a:r>
            <a:r>
              <a:rPr lang="pt-BR" b="1" i="0" u="none" strike="noStrike" cap="none" dirty="0">
                <a:solidFill>
                  <a:schemeClr val="dk1"/>
                </a:solidFill>
              </a:rPr>
              <a:t> UFPR.</a:t>
            </a:r>
            <a:endParaRPr b="1" i="0" u="none" strike="noStrike" cap="none" dirty="0">
              <a:solidFill>
                <a:schemeClr val="dk1"/>
              </a:solidFill>
            </a:endParaRPr>
          </a:p>
        </p:txBody>
      </p:sp>
      <p:sp>
        <p:nvSpPr>
          <p:cNvPr id="112" name="Google Shape;112;p5">
            <a:extLst>
              <a:ext uri="{FF2B5EF4-FFF2-40B4-BE49-F238E27FC236}">
                <a16:creationId xmlns:a16="http://schemas.microsoft.com/office/drawing/2014/main" id="{BF38DD72-58E6-0F8E-3B4F-5AF00C517231}"/>
              </a:ext>
            </a:extLst>
          </p:cNvPr>
          <p:cNvSpPr txBox="1"/>
          <p:nvPr/>
        </p:nvSpPr>
        <p:spPr>
          <a:xfrm>
            <a:off x="1133097" y="4088607"/>
            <a:ext cx="6877800" cy="885340"/>
          </a:xfrm>
          <a:prstGeom prst="rect">
            <a:avLst/>
          </a:prstGeom>
          <a:noFill/>
          <a:ln>
            <a:noFill/>
          </a:ln>
        </p:spPr>
        <p:txBody>
          <a:bodyPr spcFirstLastPara="1" wrap="square" lIns="91425" tIns="91425" rIns="91425" bIns="91425" anchor="ctr" anchorCtr="0">
            <a:spAutoFit/>
          </a:bodyPr>
          <a:lstStyle/>
          <a:p>
            <a:pPr lvl="0" algn="ctr">
              <a:lnSpc>
                <a:spcPct val="115000"/>
              </a:lnSpc>
              <a:spcBef>
                <a:spcPts val="1600"/>
              </a:spcBef>
              <a:buSzPts val="1200"/>
            </a:pPr>
            <a:r>
              <a:rPr lang="pt-BR" u="sng" dirty="0">
                <a:solidFill>
                  <a:schemeClr val="hlink"/>
                </a:solidFill>
              </a:rPr>
              <a:t>github.com/</a:t>
            </a:r>
            <a:r>
              <a:rPr lang="pt-BR" u="sng" dirty="0" err="1">
                <a:solidFill>
                  <a:schemeClr val="hlink"/>
                </a:solidFill>
              </a:rPr>
              <a:t>JonathanBack</a:t>
            </a:r>
            <a:r>
              <a:rPr lang="pt-BR" u="sng" dirty="0">
                <a:solidFill>
                  <a:schemeClr val="hlink"/>
                </a:solidFill>
              </a:rPr>
              <a:t> </a:t>
            </a:r>
            <a:r>
              <a:rPr lang="pt-BR" dirty="0"/>
              <a:t>	</a:t>
            </a:r>
            <a:r>
              <a:rPr lang="pt-BR" u="sng" dirty="0">
                <a:solidFill>
                  <a:schemeClr val="dk1"/>
                </a:solidFill>
                <a:hlinkClick r:id="rId3">
                  <a:extLst>
                    <a:ext uri="{A12FA001-AC4F-418D-AE19-62706E023703}">
                      <ahyp:hlinkClr xmlns:ahyp="http://schemas.microsoft.com/office/drawing/2018/hyperlinkcolor" val="tx"/>
                    </a:ext>
                  </a:extLst>
                </a:hlinkClick>
              </a:rPr>
              <a:t>github.com/</a:t>
            </a:r>
            <a:r>
              <a:rPr lang="pt-BR" u="sng" dirty="0" err="1">
                <a:solidFill>
                  <a:schemeClr val="dk1"/>
                </a:solidFill>
                <a:hlinkClick r:id="rId3">
                  <a:extLst>
                    <a:ext uri="{A12FA001-AC4F-418D-AE19-62706E023703}">
                      <ahyp:hlinkClr xmlns:ahyp="http://schemas.microsoft.com/office/drawing/2018/hyperlinkcolor" val="tx"/>
                    </a:ext>
                  </a:extLst>
                </a:hlinkClick>
              </a:rPr>
              <a:t>sysbiolab</a:t>
            </a:r>
            <a:r>
              <a:rPr lang="pt-BR" dirty="0">
                <a:solidFill>
                  <a:schemeClr val="dk1"/>
                </a:solidFill>
              </a:rPr>
              <a:t>	jonathanback01@gmail.com</a:t>
            </a:r>
            <a:endParaRPr dirty="0">
              <a:solidFill>
                <a:schemeClr val="dk1"/>
              </a:solidFill>
            </a:endParaRPr>
          </a:p>
        </p:txBody>
      </p:sp>
      <p:pic>
        <p:nvPicPr>
          <p:cNvPr id="114" name="Google Shape;114;p5" title="github_icon_128px.png">
            <a:extLst>
              <a:ext uri="{FF2B5EF4-FFF2-40B4-BE49-F238E27FC236}">
                <a16:creationId xmlns:a16="http://schemas.microsoft.com/office/drawing/2014/main" id="{E09EBE06-04B7-2C0C-6E6C-E390E2E24270}"/>
              </a:ext>
            </a:extLst>
          </p:cNvPr>
          <p:cNvPicPr preferRelativeResize="0"/>
          <p:nvPr/>
        </p:nvPicPr>
        <p:blipFill>
          <a:blip r:embed="rId4">
            <a:alphaModFix/>
          </a:blip>
          <a:stretch>
            <a:fillRect/>
          </a:stretch>
        </p:blipFill>
        <p:spPr>
          <a:xfrm>
            <a:off x="452725" y="4191099"/>
            <a:ext cx="680375" cy="680375"/>
          </a:xfrm>
          <a:prstGeom prst="rect">
            <a:avLst/>
          </a:prstGeom>
          <a:noFill/>
          <a:ln>
            <a:noFill/>
          </a:ln>
        </p:spPr>
      </p:pic>
      <p:pic>
        <p:nvPicPr>
          <p:cNvPr id="3" name="Imagem 2">
            <a:extLst>
              <a:ext uri="{FF2B5EF4-FFF2-40B4-BE49-F238E27FC236}">
                <a16:creationId xmlns:a16="http://schemas.microsoft.com/office/drawing/2014/main" id="{969F57E9-8CC8-B878-4CE1-A3B747C5532B}"/>
              </a:ext>
            </a:extLst>
          </p:cNvPr>
          <p:cNvPicPr>
            <a:picLocks noChangeAspect="1"/>
          </p:cNvPicPr>
          <p:nvPr/>
        </p:nvPicPr>
        <p:blipFill>
          <a:blip r:embed="rId5"/>
          <a:stretch>
            <a:fillRect/>
          </a:stretch>
        </p:blipFill>
        <p:spPr>
          <a:xfrm>
            <a:off x="311700" y="876770"/>
            <a:ext cx="2325480" cy="2709430"/>
          </a:xfrm>
          <a:prstGeom prst="rect">
            <a:avLst/>
          </a:prstGeom>
        </p:spPr>
      </p:pic>
      <p:pic>
        <p:nvPicPr>
          <p:cNvPr id="4" name="Imagem 3" descr="Prévia da imagem">
            <a:extLst>
              <a:ext uri="{FF2B5EF4-FFF2-40B4-BE49-F238E27FC236}">
                <a16:creationId xmlns:a16="http://schemas.microsoft.com/office/drawing/2014/main" id="{F233FA92-8364-B3E1-101D-C6D9440B0BF3}"/>
              </a:ext>
            </a:extLst>
          </p:cNvPr>
          <p:cNvPicPr>
            <a:picLocks noChangeAspect="1"/>
          </p:cNvPicPr>
          <p:nvPr/>
        </p:nvPicPr>
        <p:blipFill>
          <a:blip r:embed="rId6"/>
          <a:srcRect l="12610" t="12945" r="11510" b="18348"/>
          <a:stretch>
            <a:fillRect/>
          </a:stretch>
        </p:blipFill>
        <p:spPr>
          <a:xfrm>
            <a:off x="2854808" y="837383"/>
            <a:ext cx="1291745" cy="1301686"/>
          </a:xfrm>
          <a:prstGeom prst="rect">
            <a:avLst/>
          </a:prstGeom>
        </p:spPr>
      </p:pic>
    </p:spTree>
    <p:extLst>
      <p:ext uri="{BB962C8B-B14F-4D97-AF65-F5344CB8AC3E}">
        <p14:creationId xmlns:p14="http://schemas.microsoft.com/office/powerpoint/2010/main" val="5121686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6"/>
          <p:cNvSpPr txBox="1">
            <a:spLocks noGrp="1"/>
          </p:cNvSpPr>
          <p:nvPr>
            <p:ph type="title"/>
          </p:nvPr>
        </p:nvSpPr>
        <p:spPr>
          <a:xfrm>
            <a:off x="311700" y="2164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sz="3000" b="1"/>
              <a:t>Participantes</a:t>
            </a:r>
            <a:endParaRPr sz="3000" b="1"/>
          </a:p>
        </p:txBody>
      </p:sp>
      <p:pic>
        <p:nvPicPr>
          <p:cNvPr id="120" name="Google Shape;120;p6"/>
          <p:cNvPicPr preferRelativeResize="0"/>
          <p:nvPr/>
        </p:nvPicPr>
        <p:blipFill rotWithShape="1">
          <a:blip r:embed="rId3">
            <a:alphaModFix/>
          </a:blip>
          <a:srcRect l="475" t="10294" r="603" b="1195"/>
          <a:stretch/>
        </p:blipFill>
        <p:spPr>
          <a:xfrm>
            <a:off x="1098725" y="1009200"/>
            <a:ext cx="6946550" cy="3638974"/>
          </a:xfrm>
          <a:prstGeom prst="rect">
            <a:avLst/>
          </a:prstGeom>
          <a:noFill/>
          <a:ln>
            <a:noFill/>
          </a:ln>
        </p:spPr>
      </p:pic>
      <p:sp>
        <p:nvSpPr>
          <p:cNvPr id="121" name="Google Shape;121;p6"/>
          <p:cNvSpPr txBox="1"/>
          <p:nvPr/>
        </p:nvSpPr>
        <p:spPr>
          <a:xfrm>
            <a:off x="2292750" y="4520800"/>
            <a:ext cx="4558500" cy="384900"/>
          </a:xfrm>
          <a:prstGeom prst="rect">
            <a:avLst/>
          </a:prstGeom>
          <a:noFill/>
          <a:ln>
            <a:noFill/>
          </a:ln>
        </p:spPr>
        <p:txBody>
          <a:bodyPr spcFirstLastPara="1" wrap="square" lIns="91425" tIns="91425" rIns="91425" bIns="91425" anchor="ctr" anchorCtr="0">
            <a:spAutoFit/>
          </a:bodyPr>
          <a:lstStyle/>
          <a:p>
            <a:pPr marL="0" marR="0" lvl="0" indent="0" algn="ctr" rtl="0">
              <a:lnSpc>
                <a:spcPct val="115000"/>
              </a:lnSpc>
              <a:spcBef>
                <a:spcPts val="1600"/>
              </a:spcBef>
              <a:spcAft>
                <a:spcPts val="0"/>
              </a:spcAft>
              <a:buClr>
                <a:srgbClr val="000000"/>
              </a:buClr>
              <a:buSzPts val="1200"/>
              <a:buFont typeface="Arial"/>
              <a:buNone/>
            </a:pPr>
            <a:r>
              <a:rPr lang="pt-BR" sz="1300">
                <a:solidFill>
                  <a:schemeClr val="dk1"/>
                </a:solidFill>
              </a:rPr>
              <a:t>curso semelhante anterior</a:t>
            </a:r>
            <a:endParaRPr sz="13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7"/>
          <p:cNvSpPr txBox="1">
            <a:spLocks noGrp="1"/>
          </p:cNvSpPr>
          <p:nvPr>
            <p:ph type="title"/>
          </p:nvPr>
        </p:nvSpPr>
        <p:spPr>
          <a:xfrm>
            <a:off x="311700" y="2164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sz="3000" b="1"/>
              <a:t>Participantes</a:t>
            </a:r>
            <a:endParaRPr sz="3000" b="1"/>
          </a:p>
        </p:txBody>
      </p:sp>
      <p:pic>
        <p:nvPicPr>
          <p:cNvPr id="127" name="Google Shape;127;p7"/>
          <p:cNvPicPr preferRelativeResize="0"/>
          <p:nvPr/>
        </p:nvPicPr>
        <p:blipFill>
          <a:blip r:embed="rId3">
            <a:alphaModFix/>
          </a:blip>
          <a:stretch>
            <a:fillRect/>
          </a:stretch>
        </p:blipFill>
        <p:spPr>
          <a:xfrm>
            <a:off x="3916125" y="1687288"/>
            <a:ext cx="4805576" cy="1768925"/>
          </a:xfrm>
          <a:prstGeom prst="rect">
            <a:avLst/>
          </a:prstGeom>
          <a:noFill/>
          <a:ln>
            <a:noFill/>
          </a:ln>
        </p:spPr>
      </p:pic>
      <p:pic>
        <p:nvPicPr>
          <p:cNvPr id="128" name="Google Shape;128;p7"/>
          <p:cNvPicPr preferRelativeResize="0"/>
          <p:nvPr/>
        </p:nvPicPr>
        <p:blipFill>
          <a:blip r:embed="rId4">
            <a:alphaModFix/>
          </a:blip>
          <a:stretch>
            <a:fillRect/>
          </a:stretch>
        </p:blipFill>
        <p:spPr>
          <a:xfrm>
            <a:off x="1036875" y="1226684"/>
            <a:ext cx="2690125" cy="26901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8"/>
          <p:cNvSpPr txBox="1">
            <a:spLocks noGrp="1"/>
          </p:cNvSpPr>
          <p:nvPr>
            <p:ph type="title"/>
          </p:nvPr>
        </p:nvSpPr>
        <p:spPr>
          <a:xfrm>
            <a:off x="311700" y="140225"/>
            <a:ext cx="84912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sz="3000" b="1"/>
              <a:t>Ambiente do curso</a:t>
            </a:r>
            <a:endParaRPr sz="3000" b="1"/>
          </a:p>
        </p:txBody>
      </p:sp>
      <p:sp>
        <p:nvSpPr>
          <p:cNvPr id="134" name="Google Shape;134;p8"/>
          <p:cNvSpPr txBox="1">
            <a:spLocks noGrp="1"/>
          </p:cNvSpPr>
          <p:nvPr>
            <p:ph type="body" idx="1"/>
          </p:nvPr>
        </p:nvSpPr>
        <p:spPr>
          <a:xfrm>
            <a:off x="767388" y="787725"/>
            <a:ext cx="3750900" cy="3447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pt-BR" sz="1400">
                <a:solidFill>
                  <a:schemeClr val="dk1"/>
                </a:solidFill>
              </a:rPr>
              <a:t>Atividades práticas: </a:t>
            </a:r>
            <a:r>
              <a:rPr lang="pt-BR" sz="1400" b="1">
                <a:solidFill>
                  <a:schemeClr val="dk1"/>
                </a:solidFill>
              </a:rPr>
              <a:t>Google Classroom</a:t>
            </a:r>
            <a:endParaRPr sz="1400" b="1">
              <a:solidFill>
                <a:schemeClr val="dk1"/>
              </a:solidFill>
            </a:endParaRPr>
          </a:p>
          <a:p>
            <a:pPr marL="0" lvl="0" indent="0" algn="l" rtl="0">
              <a:lnSpc>
                <a:spcPct val="115000"/>
              </a:lnSpc>
              <a:spcBef>
                <a:spcPts val="1600"/>
              </a:spcBef>
              <a:spcAft>
                <a:spcPts val="0"/>
              </a:spcAft>
              <a:buSzPts val="1800"/>
              <a:buNone/>
            </a:pPr>
            <a:endParaRPr sz="1400">
              <a:solidFill>
                <a:schemeClr val="dk1"/>
              </a:solidFill>
            </a:endParaRPr>
          </a:p>
          <a:p>
            <a:pPr marL="0" lvl="0" indent="0" algn="l" rtl="0">
              <a:lnSpc>
                <a:spcPct val="115000"/>
              </a:lnSpc>
              <a:spcBef>
                <a:spcPts val="1600"/>
              </a:spcBef>
              <a:spcAft>
                <a:spcPts val="0"/>
              </a:spcAft>
              <a:buSzPts val="1800"/>
              <a:buNone/>
            </a:pPr>
            <a:endParaRPr sz="1400">
              <a:solidFill>
                <a:schemeClr val="dk1"/>
              </a:solidFill>
            </a:endParaRPr>
          </a:p>
          <a:p>
            <a:pPr marL="0" lvl="0" indent="0" algn="l" rtl="0">
              <a:lnSpc>
                <a:spcPct val="115000"/>
              </a:lnSpc>
              <a:spcBef>
                <a:spcPts val="1600"/>
              </a:spcBef>
              <a:spcAft>
                <a:spcPts val="1600"/>
              </a:spcAft>
              <a:buSzPts val="1800"/>
              <a:buNone/>
            </a:pPr>
            <a:endParaRPr sz="1400">
              <a:solidFill>
                <a:schemeClr val="dk1"/>
              </a:solidFill>
            </a:endParaRPr>
          </a:p>
        </p:txBody>
      </p:sp>
      <p:pic>
        <p:nvPicPr>
          <p:cNvPr id="135" name="Google Shape;135;p8"/>
          <p:cNvPicPr preferRelativeResize="0"/>
          <p:nvPr/>
        </p:nvPicPr>
        <p:blipFill rotWithShape="1">
          <a:blip r:embed="rId3">
            <a:alphaModFix/>
          </a:blip>
          <a:srcRect/>
          <a:stretch/>
        </p:blipFill>
        <p:spPr>
          <a:xfrm>
            <a:off x="733200" y="1207791"/>
            <a:ext cx="800050" cy="638930"/>
          </a:xfrm>
          <a:prstGeom prst="rect">
            <a:avLst/>
          </a:prstGeom>
          <a:noFill/>
          <a:ln>
            <a:noFill/>
          </a:ln>
        </p:spPr>
      </p:pic>
      <p:pic>
        <p:nvPicPr>
          <p:cNvPr id="136" name="Google Shape;136;p8"/>
          <p:cNvPicPr preferRelativeResize="0"/>
          <p:nvPr/>
        </p:nvPicPr>
        <p:blipFill rotWithShape="1">
          <a:blip r:embed="rId4">
            <a:alphaModFix/>
          </a:blip>
          <a:srcRect/>
          <a:stretch/>
        </p:blipFill>
        <p:spPr>
          <a:xfrm>
            <a:off x="1732525" y="1207800"/>
            <a:ext cx="1820637" cy="638925"/>
          </a:xfrm>
          <a:prstGeom prst="rect">
            <a:avLst/>
          </a:prstGeom>
          <a:noFill/>
          <a:ln>
            <a:noFill/>
          </a:ln>
        </p:spPr>
      </p:pic>
      <p:pic>
        <p:nvPicPr>
          <p:cNvPr id="137" name="Google Shape;137;p8"/>
          <p:cNvPicPr preferRelativeResize="0"/>
          <p:nvPr/>
        </p:nvPicPr>
        <p:blipFill rotWithShape="1">
          <a:blip r:embed="rId5">
            <a:alphaModFix/>
          </a:blip>
          <a:srcRect/>
          <a:stretch/>
        </p:blipFill>
        <p:spPr>
          <a:xfrm>
            <a:off x="2202675" y="2289233"/>
            <a:ext cx="6003950" cy="1816100"/>
          </a:xfrm>
          <a:prstGeom prst="rect">
            <a:avLst/>
          </a:prstGeom>
          <a:noFill/>
          <a:ln>
            <a:noFill/>
          </a:ln>
        </p:spPr>
      </p:pic>
      <p:sp>
        <p:nvSpPr>
          <p:cNvPr id="138" name="Google Shape;138;p8"/>
          <p:cNvSpPr txBox="1"/>
          <p:nvPr/>
        </p:nvSpPr>
        <p:spPr>
          <a:xfrm>
            <a:off x="312770" y="4230289"/>
            <a:ext cx="2997457" cy="635920"/>
          </a:xfrm>
          <a:prstGeom prst="rect">
            <a:avLst/>
          </a:prstGeom>
          <a:no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Clr>
                <a:srgbClr val="000000"/>
              </a:buClr>
              <a:buSzPts val="1400"/>
              <a:buFont typeface="Arial"/>
              <a:buNone/>
            </a:pPr>
            <a:r>
              <a:rPr lang="pt-BR" sz="1400" b="0" i="0" u="sng" strike="noStrike" cap="none" dirty="0">
                <a:solidFill>
                  <a:schemeClr val="hlink"/>
                </a:solidFill>
                <a:latin typeface="Proxima Nova"/>
                <a:ea typeface="Proxima Nova"/>
                <a:cs typeface="Proxima Nova"/>
                <a:sym typeface="Proxima Nova"/>
                <a:hlinkClick r:id="rId6">
                  <a:extLst>
                    <a:ext uri="{A12FA001-AC4F-418D-AE19-62706E023703}">
                      <ahyp:hlinkClr xmlns:ahyp="http://schemas.microsoft.com/office/drawing/2018/hyperlinkcolor" val="tx"/>
                    </a:ext>
                  </a:extLst>
                </a:hlinkClick>
              </a:rPr>
              <a:t>Tutorial do RStudio para iniciantes: Um guia completo | DataCamp</a:t>
            </a:r>
            <a:endParaRPr sz="1400" b="0" i="0" u="none" strike="noStrike" cap="none" dirty="0">
              <a:solidFill>
                <a:schemeClr val="hlink"/>
              </a:solidFill>
              <a:latin typeface="Proxima Nova"/>
              <a:ea typeface="Proxima Nova"/>
              <a:cs typeface="Proxima Nova"/>
              <a:sym typeface="Proxima Nov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9"/>
          <p:cNvSpPr txBox="1">
            <a:spLocks noGrp="1"/>
          </p:cNvSpPr>
          <p:nvPr>
            <p:ph type="ctrTitle"/>
          </p:nvPr>
        </p:nvSpPr>
        <p:spPr>
          <a:xfrm>
            <a:off x="510450" y="576957"/>
            <a:ext cx="8123100" cy="15885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800"/>
              <a:buNone/>
            </a:pPr>
            <a:r>
              <a:rPr lang="pt-BR" sz="5000"/>
              <a:t>Fundamentos </a:t>
            </a:r>
            <a:endParaRPr sz="5000"/>
          </a:p>
          <a:p>
            <a:pPr marL="0" lvl="0" indent="0" algn="l" rtl="0">
              <a:lnSpc>
                <a:spcPct val="100000"/>
              </a:lnSpc>
              <a:spcBef>
                <a:spcPts val="0"/>
              </a:spcBef>
              <a:spcAft>
                <a:spcPts val="0"/>
              </a:spcAft>
              <a:buSzPts val="4800"/>
              <a:buNone/>
            </a:pPr>
            <a:r>
              <a:rPr lang="pt-BR" sz="5000"/>
              <a:t>teóricos</a:t>
            </a:r>
            <a:endParaRPr sz="5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10"/>
          <p:cNvSpPr txBox="1">
            <a:spLocks noGrp="1"/>
          </p:cNvSpPr>
          <p:nvPr>
            <p:ph type="title"/>
          </p:nvPr>
        </p:nvSpPr>
        <p:spPr>
          <a:xfrm>
            <a:off x="490250" y="526350"/>
            <a:ext cx="7180200" cy="4090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800"/>
              <a:buNone/>
            </a:pPr>
            <a:r>
              <a:rPr lang="pt-BR" sz="4200"/>
              <a:t>Objetivo de transcriptômicas de alta resolução</a:t>
            </a:r>
            <a:endParaRPr sz="42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pic>
        <p:nvPicPr>
          <p:cNvPr id="153" name="Google Shape;153;p11"/>
          <p:cNvPicPr preferRelativeResize="0"/>
          <p:nvPr/>
        </p:nvPicPr>
        <p:blipFill rotWithShape="1">
          <a:blip r:embed="rId3">
            <a:alphaModFix/>
          </a:blip>
          <a:srcRect/>
          <a:stretch/>
        </p:blipFill>
        <p:spPr>
          <a:xfrm rot="2699988">
            <a:off x="508735" y="936610"/>
            <a:ext cx="1229580" cy="1758308"/>
          </a:xfrm>
          <a:prstGeom prst="rect">
            <a:avLst/>
          </a:prstGeom>
          <a:noFill/>
          <a:ln>
            <a:noFill/>
          </a:ln>
        </p:spPr>
      </p:pic>
      <p:sp>
        <p:nvSpPr>
          <p:cNvPr id="154" name="Google Shape;154;p11"/>
          <p:cNvSpPr txBox="1">
            <a:spLocks noGrp="1"/>
          </p:cNvSpPr>
          <p:nvPr>
            <p:ph type="title"/>
          </p:nvPr>
        </p:nvSpPr>
        <p:spPr>
          <a:xfrm>
            <a:off x="311700" y="292625"/>
            <a:ext cx="6888000" cy="707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sz="1900" b="1"/>
              <a:t>Amostras biológicas têm diferentes níveis de complexidade</a:t>
            </a:r>
            <a:endParaRPr sz="2700" b="1"/>
          </a:p>
        </p:txBody>
      </p:sp>
      <p:pic>
        <p:nvPicPr>
          <p:cNvPr id="155" name="Google Shape;155;p11"/>
          <p:cNvPicPr preferRelativeResize="0"/>
          <p:nvPr/>
        </p:nvPicPr>
        <p:blipFill rotWithShape="1">
          <a:blip r:embed="rId4">
            <a:alphaModFix/>
          </a:blip>
          <a:srcRect l="2931"/>
          <a:stretch/>
        </p:blipFill>
        <p:spPr>
          <a:xfrm>
            <a:off x="863900" y="2726800"/>
            <a:ext cx="2897775" cy="2034975"/>
          </a:xfrm>
          <a:prstGeom prst="rect">
            <a:avLst/>
          </a:prstGeom>
          <a:noFill/>
          <a:ln>
            <a:noFill/>
          </a:ln>
        </p:spPr>
      </p:pic>
      <p:pic>
        <p:nvPicPr>
          <p:cNvPr id="156" name="Google Shape;156;p11"/>
          <p:cNvPicPr preferRelativeResize="0"/>
          <p:nvPr/>
        </p:nvPicPr>
        <p:blipFill rotWithShape="1">
          <a:blip r:embed="rId5">
            <a:alphaModFix/>
          </a:blip>
          <a:srcRect/>
          <a:stretch/>
        </p:blipFill>
        <p:spPr>
          <a:xfrm>
            <a:off x="3328075" y="1015306"/>
            <a:ext cx="3235050" cy="1600919"/>
          </a:xfrm>
          <a:prstGeom prst="rect">
            <a:avLst/>
          </a:prstGeom>
          <a:noFill/>
          <a:ln>
            <a:noFill/>
          </a:ln>
        </p:spPr>
      </p:pic>
      <p:pic>
        <p:nvPicPr>
          <p:cNvPr id="157" name="Google Shape;157;p11"/>
          <p:cNvPicPr preferRelativeResize="0"/>
          <p:nvPr/>
        </p:nvPicPr>
        <p:blipFill rotWithShape="1">
          <a:blip r:embed="rId6">
            <a:alphaModFix/>
          </a:blip>
          <a:srcRect b="21328"/>
          <a:stretch/>
        </p:blipFill>
        <p:spPr>
          <a:xfrm>
            <a:off x="5108800" y="3073563"/>
            <a:ext cx="2034975" cy="1600925"/>
          </a:xfrm>
          <a:prstGeom prst="rect">
            <a:avLst/>
          </a:prstGeom>
          <a:noFill/>
          <a:ln>
            <a:noFill/>
          </a:ln>
        </p:spPr>
      </p:pic>
      <p:cxnSp>
        <p:nvCxnSpPr>
          <p:cNvPr id="158" name="Google Shape;158;p11"/>
          <p:cNvCxnSpPr/>
          <p:nvPr/>
        </p:nvCxnSpPr>
        <p:spPr>
          <a:xfrm rot="10800000" flipH="1">
            <a:off x="3625025" y="4669550"/>
            <a:ext cx="360000" cy="3600"/>
          </a:xfrm>
          <a:prstGeom prst="straightConnector1">
            <a:avLst/>
          </a:prstGeom>
          <a:noFill/>
          <a:ln w="9525" cap="flat" cmpd="sng">
            <a:solidFill>
              <a:schemeClr val="dk2"/>
            </a:solidFill>
            <a:prstDash val="solid"/>
            <a:round/>
            <a:headEnd type="diamond" w="med" len="med"/>
            <a:tailEnd type="diamond" w="med" len="med"/>
          </a:ln>
        </p:spPr>
      </p:cxnSp>
      <p:cxnSp>
        <p:nvCxnSpPr>
          <p:cNvPr id="159" name="Google Shape;159;p11"/>
          <p:cNvCxnSpPr/>
          <p:nvPr/>
        </p:nvCxnSpPr>
        <p:spPr>
          <a:xfrm>
            <a:off x="6789885" y="1075875"/>
            <a:ext cx="219900" cy="2700"/>
          </a:xfrm>
          <a:prstGeom prst="straightConnector1">
            <a:avLst/>
          </a:prstGeom>
          <a:noFill/>
          <a:ln w="9525" cap="flat" cmpd="sng">
            <a:solidFill>
              <a:schemeClr val="dk2"/>
            </a:solidFill>
            <a:prstDash val="solid"/>
            <a:round/>
            <a:headEnd type="diamond" w="med" len="med"/>
            <a:tailEnd type="diamond" w="med" len="med"/>
          </a:ln>
        </p:spPr>
      </p:cxnSp>
      <p:cxnSp>
        <p:nvCxnSpPr>
          <p:cNvPr id="160" name="Google Shape;160;p11"/>
          <p:cNvCxnSpPr/>
          <p:nvPr/>
        </p:nvCxnSpPr>
        <p:spPr>
          <a:xfrm>
            <a:off x="7252685" y="4650063"/>
            <a:ext cx="723600" cy="2700"/>
          </a:xfrm>
          <a:prstGeom prst="straightConnector1">
            <a:avLst/>
          </a:prstGeom>
          <a:noFill/>
          <a:ln w="9525" cap="flat" cmpd="sng">
            <a:solidFill>
              <a:schemeClr val="dk2"/>
            </a:solidFill>
            <a:prstDash val="solid"/>
            <a:round/>
            <a:headEnd type="diamond" w="med" len="med"/>
            <a:tailEnd type="diamond" w="med" len="med"/>
          </a:ln>
        </p:spPr>
      </p:cxnSp>
      <p:pic>
        <p:nvPicPr>
          <p:cNvPr id="161" name="Google Shape;161;p11"/>
          <p:cNvPicPr preferRelativeResize="0"/>
          <p:nvPr/>
        </p:nvPicPr>
        <p:blipFill rotWithShape="1">
          <a:blip r:embed="rId7">
            <a:alphaModFix/>
          </a:blip>
          <a:srcRect l="46324" t="3175" r="32243" b="46581"/>
          <a:stretch/>
        </p:blipFill>
        <p:spPr>
          <a:xfrm>
            <a:off x="7067575" y="1261002"/>
            <a:ext cx="1770600" cy="1770600"/>
          </a:xfrm>
          <a:prstGeom prst="ellipse">
            <a:avLst/>
          </a:prstGeom>
          <a:noFill/>
          <a:ln>
            <a:noFill/>
          </a:ln>
        </p:spPr>
      </p:pic>
      <p:cxnSp>
        <p:nvCxnSpPr>
          <p:cNvPr id="162" name="Google Shape;162;p11"/>
          <p:cNvCxnSpPr/>
          <p:nvPr/>
        </p:nvCxnSpPr>
        <p:spPr>
          <a:xfrm>
            <a:off x="8458060" y="1309900"/>
            <a:ext cx="327600" cy="2700"/>
          </a:xfrm>
          <a:prstGeom prst="straightConnector1">
            <a:avLst/>
          </a:prstGeom>
          <a:noFill/>
          <a:ln w="9525" cap="flat" cmpd="sng">
            <a:solidFill>
              <a:schemeClr val="dk2"/>
            </a:solidFill>
            <a:prstDash val="solid"/>
            <a:round/>
            <a:headEnd type="diamond" w="med" len="med"/>
            <a:tailEnd type="diamond" w="med" len="med"/>
          </a:ln>
        </p:spPr>
      </p:cxnSp>
      <p:cxnSp>
        <p:nvCxnSpPr>
          <p:cNvPr id="163" name="Google Shape;163;p11"/>
          <p:cNvCxnSpPr/>
          <p:nvPr/>
        </p:nvCxnSpPr>
        <p:spPr>
          <a:xfrm rot="10800000" flipH="1">
            <a:off x="1599200" y="2491950"/>
            <a:ext cx="270000" cy="3600"/>
          </a:xfrm>
          <a:prstGeom prst="straightConnector1">
            <a:avLst/>
          </a:prstGeom>
          <a:noFill/>
          <a:ln w="9525" cap="flat" cmpd="sng">
            <a:solidFill>
              <a:schemeClr val="dk2"/>
            </a:solidFill>
            <a:prstDash val="solid"/>
            <a:round/>
            <a:headEnd type="diamond" w="med" len="med"/>
            <a:tailEnd type="diamond" w="med" len="med"/>
          </a:ln>
        </p:spPr>
      </p:cxnSp>
      <p:sp>
        <p:nvSpPr>
          <p:cNvPr id="164" name="Google Shape;164;p11"/>
          <p:cNvSpPr txBox="1"/>
          <p:nvPr/>
        </p:nvSpPr>
        <p:spPr>
          <a:xfrm>
            <a:off x="6429125" y="647475"/>
            <a:ext cx="9414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pt-BR" sz="1600" b="0" i="0" u="none" strike="noStrike" cap="none">
                <a:solidFill>
                  <a:schemeClr val="dk2"/>
                </a:solidFill>
                <a:latin typeface="Proxima Nova"/>
                <a:ea typeface="Proxima Nova"/>
                <a:cs typeface="Proxima Nova"/>
                <a:sym typeface="Proxima Nova"/>
              </a:rPr>
              <a:t>100µm</a:t>
            </a:r>
            <a:endParaRPr sz="1600" b="0" i="0" u="none" strike="noStrike" cap="none">
              <a:solidFill>
                <a:schemeClr val="dk2"/>
              </a:solidFill>
              <a:latin typeface="Proxima Nova"/>
              <a:ea typeface="Proxima Nova"/>
              <a:cs typeface="Proxima Nova"/>
              <a:sym typeface="Proxima Nova"/>
            </a:endParaRPr>
          </a:p>
        </p:txBody>
      </p:sp>
      <p:sp>
        <p:nvSpPr>
          <p:cNvPr id="165" name="Google Shape;165;p11"/>
          <p:cNvSpPr txBox="1"/>
          <p:nvPr/>
        </p:nvSpPr>
        <p:spPr>
          <a:xfrm>
            <a:off x="7143775" y="4243400"/>
            <a:ext cx="9414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pt-BR" sz="1600" b="0" i="0" u="none" strike="noStrike" cap="none">
                <a:solidFill>
                  <a:schemeClr val="dk2"/>
                </a:solidFill>
                <a:latin typeface="Proxima Nova"/>
                <a:ea typeface="Proxima Nova"/>
                <a:cs typeface="Proxima Nova"/>
                <a:sym typeface="Proxima Nova"/>
              </a:rPr>
              <a:t>100µm</a:t>
            </a:r>
            <a:endParaRPr sz="1600" b="0" i="0" u="none" strike="noStrike" cap="none">
              <a:solidFill>
                <a:schemeClr val="dk2"/>
              </a:solidFill>
              <a:latin typeface="Proxima Nova"/>
              <a:ea typeface="Proxima Nova"/>
              <a:cs typeface="Proxima Nova"/>
              <a:sym typeface="Proxima Nova"/>
            </a:endParaRPr>
          </a:p>
        </p:txBody>
      </p:sp>
      <p:sp>
        <p:nvSpPr>
          <p:cNvPr id="166" name="Google Shape;166;p11"/>
          <p:cNvSpPr txBox="1"/>
          <p:nvPr/>
        </p:nvSpPr>
        <p:spPr>
          <a:xfrm>
            <a:off x="8126400" y="862900"/>
            <a:ext cx="9414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pt-BR" sz="1600" b="0" i="0" u="none" strike="noStrike" cap="none">
                <a:solidFill>
                  <a:schemeClr val="dk2"/>
                </a:solidFill>
                <a:latin typeface="Proxima Nova"/>
                <a:ea typeface="Proxima Nova"/>
                <a:cs typeface="Proxima Nova"/>
                <a:sym typeface="Proxima Nova"/>
              </a:rPr>
              <a:t>10µm</a:t>
            </a:r>
            <a:endParaRPr sz="1600" b="0" i="0" u="none" strike="noStrike" cap="none">
              <a:solidFill>
                <a:schemeClr val="dk2"/>
              </a:solidFill>
              <a:latin typeface="Proxima Nova"/>
              <a:ea typeface="Proxima Nova"/>
              <a:cs typeface="Proxima Nova"/>
              <a:sym typeface="Proxima Nova"/>
            </a:endParaRPr>
          </a:p>
        </p:txBody>
      </p:sp>
      <p:sp>
        <p:nvSpPr>
          <p:cNvPr id="167" name="Google Shape;167;p11"/>
          <p:cNvSpPr txBox="1"/>
          <p:nvPr/>
        </p:nvSpPr>
        <p:spPr>
          <a:xfrm>
            <a:off x="3310475" y="4242050"/>
            <a:ext cx="9891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pt-BR" sz="1600" b="0" i="0" u="none" strike="noStrike" cap="none">
                <a:solidFill>
                  <a:schemeClr val="dk2"/>
                </a:solidFill>
                <a:latin typeface="Proxima Nova"/>
                <a:ea typeface="Proxima Nova"/>
                <a:cs typeface="Proxima Nova"/>
                <a:sym typeface="Proxima Nova"/>
              </a:rPr>
              <a:t>1mm</a:t>
            </a:r>
            <a:endParaRPr sz="1600" b="0" i="0" u="none" strike="noStrike" cap="none">
              <a:solidFill>
                <a:schemeClr val="dk2"/>
              </a:solidFill>
              <a:latin typeface="Proxima Nova"/>
              <a:ea typeface="Proxima Nova"/>
              <a:cs typeface="Proxima Nova"/>
              <a:sym typeface="Proxima Nova"/>
            </a:endParaRPr>
          </a:p>
        </p:txBody>
      </p:sp>
      <p:sp>
        <p:nvSpPr>
          <p:cNvPr id="168" name="Google Shape;168;p11"/>
          <p:cNvSpPr txBox="1"/>
          <p:nvPr/>
        </p:nvSpPr>
        <p:spPr>
          <a:xfrm>
            <a:off x="1179950" y="2064450"/>
            <a:ext cx="11085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pt-BR" sz="1600" b="0" i="0" u="none" strike="noStrike" cap="none">
                <a:solidFill>
                  <a:schemeClr val="dk2"/>
                </a:solidFill>
                <a:latin typeface="Proxima Nova"/>
                <a:ea typeface="Proxima Nova"/>
                <a:cs typeface="Proxima Nova"/>
                <a:sym typeface="Proxima Nova"/>
              </a:rPr>
              <a:t>2mm</a:t>
            </a:r>
            <a:endParaRPr sz="1600" b="0" i="0" u="none" strike="noStrike" cap="none">
              <a:solidFill>
                <a:schemeClr val="dk2"/>
              </a:solidFill>
              <a:latin typeface="Proxima Nova"/>
              <a:ea typeface="Proxima Nova"/>
              <a:cs typeface="Proxima Nova"/>
              <a:sym typeface="Proxima Nova"/>
            </a:endParaRPr>
          </a:p>
        </p:txBody>
      </p:sp>
      <p:sp>
        <p:nvSpPr>
          <p:cNvPr id="169" name="Google Shape;169;p11"/>
          <p:cNvSpPr/>
          <p:nvPr/>
        </p:nvSpPr>
        <p:spPr>
          <a:xfrm rot="-435347">
            <a:off x="1869197" y="1791234"/>
            <a:ext cx="674780" cy="935582"/>
          </a:xfrm>
          <a:custGeom>
            <a:avLst/>
            <a:gdLst/>
            <a:ahLst/>
            <a:cxnLst/>
            <a:rect l="l" t="t" r="r" b="b"/>
            <a:pathLst>
              <a:path w="26991" h="37423" extrusionOk="0">
                <a:moveTo>
                  <a:pt x="0" y="211"/>
                </a:moveTo>
                <a:cubicBezTo>
                  <a:pt x="8811" y="211"/>
                  <a:pt x="22117" y="-1639"/>
                  <a:pt x="25695" y="6413"/>
                </a:cubicBezTo>
                <a:cubicBezTo>
                  <a:pt x="29921" y="15921"/>
                  <a:pt x="22151" y="27020"/>
                  <a:pt x="22151" y="37424"/>
                </a:cubicBezTo>
              </a:path>
            </a:pathLst>
          </a:cu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11"/>
          <p:cNvSpPr/>
          <p:nvPr/>
        </p:nvSpPr>
        <p:spPr>
          <a:xfrm>
            <a:off x="4625991" y="2750300"/>
            <a:ext cx="324775" cy="1118625"/>
          </a:xfrm>
          <a:custGeom>
            <a:avLst/>
            <a:gdLst/>
            <a:ahLst/>
            <a:cxnLst/>
            <a:rect l="l" t="t" r="r" b="b"/>
            <a:pathLst>
              <a:path w="12991" h="44745" extrusionOk="0">
                <a:moveTo>
                  <a:pt x="5903" y="0"/>
                </a:moveTo>
                <a:cubicBezTo>
                  <a:pt x="8751" y="9970"/>
                  <a:pt x="1083" y="20242"/>
                  <a:pt x="144" y="30568"/>
                </a:cubicBezTo>
                <a:cubicBezTo>
                  <a:pt x="-433" y="36919"/>
                  <a:pt x="6614" y="44745"/>
                  <a:pt x="12991" y="44745"/>
                </a:cubicBezTo>
              </a:path>
            </a:pathLst>
          </a:cu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1"/>
          <p:cNvSpPr/>
          <p:nvPr/>
        </p:nvSpPr>
        <p:spPr>
          <a:xfrm>
            <a:off x="3810000" y="2739225"/>
            <a:ext cx="487800" cy="603850"/>
          </a:xfrm>
          <a:custGeom>
            <a:avLst/>
            <a:gdLst/>
            <a:ahLst/>
            <a:cxnLst/>
            <a:rect l="l" t="t" r="r" b="b"/>
            <a:pathLst>
              <a:path w="19512" h="24154" extrusionOk="0">
                <a:moveTo>
                  <a:pt x="0" y="23923"/>
                </a:moveTo>
                <a:cubicBezTo>
                  <a:pt x="5783" y="24749"/>
                  <a:pt x="13296" y="22675"/>
                  <a:pt x="16392" y="17720"/>
                </a:cubicBezTo>
                <a:cubicBezTo>
                  <a:pt x="19569" y="12635"/>
                  <a:pt x="19493" y="5996"/>
                  <a:pt x="19493" y="0"/>
                </a:cubicBezTo>
              </a:path>
            </a:pathLst>
          </a:cu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1"/>
          <p:cNvSpPr/>
          <p:nvPr/>
        </p:nvSpPr>
        <p:spPr>
          <a:xfrm rot="214644">
            <a:off x="7323016" y="3153882"/>
            <a:ext cx="573903" cy="697809"/>
          </a:xfrm>
          <a:custGeom>
            <a:avLst/>
            <a:gdLst/>
            <a:ahLst/>
            <a:cxnLst/>
            <a:rect l="l" t="t" r="r" b="b"/>
            <a:pathLst>
              <a:path w="22955" h="27911" extrusionOk="0">
                <a:moveTo>
                  <a:pt x="21708" y="0"/>
                </a:moveTo>
                <a:cubicBezTo>
                  <a:pt x="21708" y="6800"/>
                  <a:pt x="24900" y="14939"/>
                  <a:pt x="20822" y="20380"/>
                </a:cubicBezTo>
                <a:cubicBezTo>
                  <a:pt x="16395" y="26286"/>
                  <a:pt x="7381" y="27911"/>
                  <a:pt x="0" y="27911"/>
                </a:cubicBezTo>
              </a:path>
            </a:pathLst>
          </a:cu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2"/>
          <p:cNvSpPr txBox="1">
            <a:spLocks noGrp="1"/>
          </p:cNvSpPr>
          <p:nvPr>
            <p:ph type="title"/>
          </p:nvPr>
        </p:nvSpPr>
        <p:spPr>
          <a:xfrm>
            <a:off x="311700" y="292625"/>
            <a:ext cx="5615400" cy="707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sz="1900" b="1"/>
              <a:t>Lisados celulares mascaram essa complexidade</a:t>
            </a:r>
            <a:endParaRPr sz="2700" b="1"/>
          </a:p>
        </p:txBody>
      </p:sp>
      <p:pic>
        <p:nvPicPr>
          <p:cNvPr id="178" name="Google Shape;178;p12"/>
          <p:cNvPicPr preferRelativeResize="0"/>
          <p:nvPr/>
        </p:nvPicPr>
        <p:blipFill rotWithShape="1">
          <a:blip r:embed="rId3">
            <a:alphaModFix/>
          </a:blip>
          <a:srcRect/>
          <a:stretch/>
        </p:blipFill>
        <p:spPr>
          <a:xfrm>
            <a:off x="569700" y="1901725"/>
            <a:ext cx="3991775" cy="1601825"/>
          </a:xfrm>
          <a:prstGeom prst="rect">
            <a:avLst/>
          </a:prstGeom>
          <a:noFill/>
          <a:ln>
            <a:noFill/>
          </a:ln>
        </p:spPr>
      </p:pic>
      <p:pic>
        <p:nvPicPr>
          <p:cNvPr id="179" name="Google Shape;179;p12"/>
          <p:cNvPicPr preferRelativeResize="0"/>
          <p:nvPr/>
        </p:nvPicPr>
        <p:blipFill rotWithShape="1">
          <a:blip r:embed="rId4">
            <a:alphaModFix/>
          </a:blip>
          <a:srcRect/>
          <a:stretch/>
        </p:blipFill>
        <p:spPr>
          <a:xfrm rot="5400000">
            <a:off x="6524025" y="1874862"/>
            <a:ext cx="1601075" cy="1655550"/>
          </a:xfrm>
          <a:prstGeom prst="rect">
            <a:avLst/>
          </a:prstGeom>
          <a:noFill/>
          <a:ln>
            <a:noFill/>
          </a:ln>
        </p:spPr>
      </p:pic>
      <p:pic>
        <p:nvPicPr>
          <p:cNvPr id="180" name="Google Shape;180;p12"/>
          <p:cNvPicPr preferRelativeResize="0"/>
          <p:nvPr/>
        </p:nvPicPr>
        <p:blipFill rotWithShape="1">
          <a:blip r:embed="rId5">
            <a:alphaModFix/>
          </a:blip>
          <a:srcRect/>
          <a:stretch/>
        </p:blipFill>
        <p:spPr>
          <a:xfrm>
            <a:off x="5670000" y="442648"/>
            <a:ext cx="1525250" cy="1434875"/>
          </a:xfrm>
          <a:prstGeom prst="rect">
            <a:avLst/>
          </a:prstGeom>
          <a:noFill/>
          <a:ln>
            <a:noFill/>
          </a:ln>
        </p:spPr>
      </p:pic>
      <p:pic>
        <p:nvPicPr>
          <p:cNvPr id="181" name="Google Shape;181;p12"/>
          <p:cNvPicPr preferRelativeResize="0"/>
          <p:nvPr/>
        </p:nvPicPr>
        <p:blipFill rotWithShape="1">
          <a:blip r:embed="rId6">
            <a:alphaModFix/>
          </a:blip>
          <a:srcRect/>
          <a:stretch/>
        </p:blipFill>
        <p:spPr>
          <a:xfrm>
            <a:off x="5683975" y="3448350"/>
            <a:ext cx="1377925" cy="1434875"/>
          </a:xfrm>
          <a:prstGeom prst="rect">
            <a:avLst/>
          </a:prstGeom>
          <a:noFill/>
          <a:ln>
            <a:noFill/>
          </a:ln>
        </p:spPr>
      </p:pic>
      <p:sp>
        <p:nvSpPr>
          <p:cNvPr id="182" name="Google Shape;182;p12"/>
          <p:cNvSpPr txBox="1"/>
          <p:nvPr/>
        </p:nvSpPr>
        <p:spPr>
          <a:xfrm>
            <a:off x="437825" y="1112325"/>
            <a:ext cx="1377900" cy="677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pt-BR" sz="1600" b="0" i="0" u="none" strike="noStrike" cap="none">
                <a:solidFill>
                  <a:schemeClr val="dk1"/>
                </a:solidFill>
                <a:latin typeface="Proxima Nova"/>
                <a:ea typeface="Proxima Nova"/>
                <a:cs typeface="Proxima Nova"/>
                <a:sym typeface="Proxima Nova"/>
              </a:rPr>
              <a:t>Amostra complexa</a:t>
            </a:r>
            <a:endParaRPr sz="1600" b="0" i="0" u="none" strike="noStrike" cap="none">
              <a:solidFill>
                <a:schemeClr val="dk1"/>
              </a:solidFill>
              <a:latin typeface="Proxima Nova"/>
              <a:ea typeface="Proxima Nova"/>
              <a:cs typeface="Proxima Nova"/>
              <a:sym typeface="Proxima Nova"/>
            </a:endParaRPr>
          </a:p>
        </p:txBody>
      </p:sp>
      <p:sp>
        <p:nvSpPr>
          <p:cNvPr id="183" name="Google Shape;183;p12"/>
          <p:cNvSpPr txBox="1"/>
          <p:nvPr/>
        </p:nvSpPr>
        <p:spPr>
          <a:xfrm>
            <a:off x="2927175" y="1358325"/>
            <a:ext cx="18159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pt-BR" sz="1600" b="0" i="0" u="none" strike="noStrike" cap="none">
                <a:solidFill>
                  <a:schemeClr val="dk1"/>
                </a:solidFill>
                <a:latin typeface="Proxima Nova"/>
                <a:ea typeface="Proxima Nova"/>
                <a:cs typeface="Proxima Nova"/>
                <a:sym typeface="Proxima Nova"/>
              </a:rPr>
              <a:t>Heterogeneidade</a:t>
            </a:r>
            <a:endParaRPr sz="1600" b="0" i="0" u="none" strike="noStrike" cap="none">
              <a:solidFill>
                <a:schemeClr val="dk1"/>
              </a:solidFill>
              <a:latin typeface="Proxima Nova"/>
              <a:ea typeface="Proxima Nova"/>
              <a:cs typeface="Proxima Nova"/>
              <a:sym typeface="Proxima Nova"/>
            </a:endParaRPr>
          </a:p>
        </p:txBody>
      </p:sp>
      <p:sp>
        <p:nvSpPr>
          <p:cNvPr id="184" name="Google Shape;184;p12"/>
          <p:cNvSpPr/>
          <p:nvPr/>
        </p:nvSpPr>
        <p:spPr>
          <a:xfrm>
            <a:off x="2161075" y="2433878"/>
            <a:ext cx="874975" cy="360700"/>
          </a:xfrm>
          <a:custGeom>
            <a:avLst/>
            <a:gdLst/>
            <a:ahLst/>
            <a:cxnLst/>
            <a:rect l="l" t="t" r="r" b="b"/>
            <a:pathLst>
              <a:path w="34999" h="14428" extrusionOk="0">
                <a:moveTo>
                  <a:pt x="0" y="6011"/>
                </a:moveTo>
                <a:cubicBezTo>
                  <a:pt x="3251" y="1677"/>
                  <a:pt x="10997" y="-1866"/>
                  <a:pt x="15506" y="1138"/>
                </a:cubicBezTo>
                <a:cubicBezTo>
                  <a:pt x="22051" y="5498"/>
                  <a:pt x="27135" y="14429"/>
                  <a:pt x="34999" y="14429"/>
                </a:cubicBezTo>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12"/>
          <p:cNvSpPr/>
          <p:nvPr/>
        </p:nvSpPr>
        <p:spPr>
          <a:xfrm>
            <a:off x="4810800" y="2493199"/>
            <a:ext cx="1528425" cy="322225"/>
          </a:xfrm>
          <a:custGeom>
            <a:avLst/>
            <a:gdLst/>
            <a:ahLst/>
            <a:cxnLst/>
            <a:rect l="l" t="t" r="r" b="b"/>
            <a:pathLst>
              <a:path w="61137" h="12889" extrusionOk="0">
                <a:moveTo>
                  <a:pt x="0" y="12889"/>
                </a:moveTo>
                <a:cubicBezTo>
                  <a:pt x="10065" y="12889"/>
                  <a:pt x="18146" y="3811"/>
                  <a:pt x="27910" y="1370"/>
                </a:cubicBezTo>
                <a:cubicBezTo>
                  <a:pt x="38656" y="-1316"/>
                  <a:pt x="50060" y="927"/>
                  <a:pt x="61137" y="927"/>
                </a:cubicBezTo>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2"/>
          <p:cNvSpPr/>
          <p:nvPr/>
        </p:nvSpPr>
        <p:spPr>
          <a:xfrm>
            <a:off x="4810800" y="1618225"/>
            <a:ext cx="859225" cy="874975"/>
          </a:xfrm>
          <a:custGeom>
            <a:avLst/>
            <a:gdLst/>
            <a:ahLst/>
            <a:cxnLst/>
            <a:rect l="l" t="t" r="r" b="b"/>
            <a:pathLst>
              <a:path w="31897" h="34999" extrusionOk="0">
                <a:moveTo>
                  <a:pt x="31897" y="0"/>
                </a:moveTo>
                <a:cubicBezTo>
                  <a:pt x="23294" y="0"/>
                  <a:pt x="20667" y="13053"/>
                  <a:pt x="15505" y="19936"/>
                </a:cubicBezTo>
                <a:cubicBezTo>
                  <a:pt x="11182" y="25701"/>
                  <a:pt x="6445" y="31777"/>
                  <a:pt x="0" y="34999"/>
                </a:cubicBezTo>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2"/>
          <p:cNvSpPr/>
          <p:nvPr/>
        </p:nvSpPr>
        <p:spPr>
          <a:xfrm>
            <a:off x="4820525" y="3158750"/>
            <a:ext cx="731000" cy="1063250"/>
          </a:xfrm>
          <a:custGeom>
            <a:avLst/>
            <a:gdLst/>
            <a:ahLst/>
            <a:cxnLst/>
            <a:rect l="l" t="t" r="r" b="b"/>
            <a:pathLst>
              <a:path w="29240" h="42530" extrusionOk="0">
                <a:moveTo>
                  <a:pt x="0" y="0"/>
                </a:moveTo>
                <a:cubicBezTo>
                  <a:pt x="7219" y="7215"/>
                  <a:pt x="12365" y="16582"/>
                  <a:pt x="15949" y="26139"/>
                </a:cubicBezTo>
                <a:cubicBezTo>
                  <a:pt x="18419" y="32725"/>
                  <a:pt x="22206" y="42530"/>
                  <a:pt x="29240" y="42530"/>
                </a:cubicBezTo>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2"/>
          <p:cNvSpPr txBox="1"/>
          <p:nvPr/>
        </p:nvSpPr>
        <p:spPr>
          <a:xfrm>
            <a:off x="5361175" y="2569388"/>
            <a:ext cx="13311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pt-BR" sz="1600" b="0" i="0" u="none" strike="noStrike" cap="none">
                <a:solidFill>
                  <a:schemeClr val="dk1"/>
                </a:solidFill>
                <a:latin typeface="Proxima Nova"/>
                <a:ea typeface="Proxima Nova"/>
                <a:cs typeface="Proxima Nova"/>
                <a:sym typeface="Proxima Nova"/>
              </a:rPr>
              <a:t>Lisado</a:t>
            </a:r>
            <a:endParaRPr sz="1600" b="0" i="0" u="none" strike="noStrike" cap="none">
              <a:solidFill>
                <a:schemeClr val="dk1"/>
              </a:solidFill>
              <a:latin typeface="Proxima Nova"/>
              <a:ea typeface="Proxima Nova"/>
              <a:cs typeface="Proxima Nova"/>
              <a:sym typeface="Proxima Nova"/>
            </a:endParaRPr>
          </a:p>
        </p:txBody>
      </p:sp>
      <p:sp>
        <p:nvSpPr>
          <p:cNvPr id="189" name="Google Shape;189;p12"/>
          <p:cNvSpPr txBox="1"/>
          <p:nvPr/>
        </p:nvSpPr>
        <p:spPr>
          <a:xfrm>
            <a:off x="7006525" y="184625"/>
            <a:ext cx="1815900" cy="923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pt-BR" sz="1600" b="0" i="0" u="none" strike="noStrike" cap="none">
                <a:solidFill>
                  <a:schemeClr val="dk1"/>
                </a:solidFill>
                <a:latin typeface="Proxima Nova"/>
                <a:ea typeface="Proxima Nova"/>
                <a:cs typeface="Proxima Nova"/>
                <a:sym typeface="Proxima Nova"/>
              </a:rPr>
              <a:t>Manutenção de informações célula-específicas</a:t>
            </a:r>
            <a:endParaRPr sz="1600" b="0" i="0" u="none" strike="noStrike" cap="none">
              <a:solidFill>
                <a:schemeClr val="dk1"/>
              </a:solidFill>
              <a:latin typeface="Proxima Nova"/>
              <a:ea typeface="Proxima Nova"/>
              <a:cs typeface="Proxima Nova"/>
              <a:sym typeface="Proxima Nova"/>
            </a:endParaRPr>
          </a:p>
        </p:txBody>
      </p:sp>
      <p:sp>
        <p:nvSpPr>
          <p:cNvPr id="190" name="Google Shape;190;p12"/>
          <p:cNvSpPr txBox="1"/>
          <p:nvPr/>
        </p:nvSpPr>
        <p:spPr>
          <a:xfrm>
            <a:off x="6985700" y="3883625"/>
            <a:ext cx="1815900" cy="923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pt-BR" sz="1600" b="0" i="0" u="none" strike="noStrike" cap="none">
                <a:solidFill>
                  <a:schemeClr val="dk1"/>
                </a:solidFill>
                <a:latin typeface="Proxima Nova"/>
                <a:ea typeface="Proxima Nova"/>
                <a:cs typeface="Proxima Nova"/>
                <a:sym typeface="Proxima Nova"/>
              </a:rPr>
              <a:t>Manutenção de informações local-específicas</a:t>
            </a:r>
            <a:endParaRPr sz="1600" b="0" i="0" u="none" strike="noStrike" cap="none">
              <a:solidFill>
                <a:schemeClr val="dk1"/>
              </a:solidFill>
              <a:latin typeface="Proxima Nova"/>
              <a:ea typeface="Proxima Nova"/>
              <a:cs typeface="Proxima Nova"/>
              <a:sym typeface="Proxima Nov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7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8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8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8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8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8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8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13"/>
          <p:cNvSpPr txBox="1">
            <a:spLocks noGrp="1"/>
          </p:cNvSpPr>
          <p:nvPr>
            <p:ph type="title"/>
          </p:nvPr>
        </p:nvSpPr>
        <p:spPr>
          <a:xfrm>
            <a:off x="311700" y="292625"/>
            <a:ext cx="5615400" cy="707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sz="1900" b="1"/>
              <a:t>Essa complexidade tem relevância clínica</a:t>
            </a:r>
            <a:endParaRPr sz="2700"/>
          </a:p>
        </p:txBody>
      </p:sp>
      <p:pic>
        <p:nvPicPr>
          <p:cNvPr id="196" name="Google Shape;196;p13"/>
          <p:cNvPicPr preferRelativeResize="0"/>
          <p:nvPr/>
        </p:nvPicPr>
        <p:blipFill rotWithShape="1">
          <a:blip r:embed="rId3">
            <a:alphaModFix/>
          </a:blip>
          <a:srcRect b="52676"/>
          <a:stretch/>
        </p:blipFill>
        <p:spPr>
          <a:xfrm>
            <a:off x="311702" y="900350"/>
            <a:ext cx="4348899" cy="1221049"/>
          </a:xfrm>
          <a:prstGeom prst="rect">
            <a:avLst/>
          </a:prstGeom>
          <a:noFill/>
          <a:ln>
            <a:noFill/>
          </a:ln>
        </p:spPr>
      </p:pic>
      <p:pic>
        <p:nvPicPr>
          <p:cNvPr id="197" name="Google Shape;197;p13"/>
          <p:cNvPicPr preferRelativeResize="0"/>
          <p:nvPr/>
        </p:nvPicPr>
        <p:blipFill rotWithShape="1">
          <a:blip r:embed="rId4">
            <a:alphaModFix/>
          </a:blip>
          <a:srcRect/>
          <a:stretch/>
        </p:blipFill>
        <p:spPr>
          <a:xfrm>
            <a:off x="311700" y="2296546"/>
            <a:ext cx="4348898" cy="2368879"/>
          </a:xfrm>
          <a:prstGeom prst="rect">
            <a:avLst/>
          </a:prstGeom>
          <a:noFill/>
          <a:ln>
            <a:noFill/>
          </a:ln>
        </p:spPr>
      </p:pic>
      <p:pic>
        <p:nvPicPr>
          <p:cNvPr id="198" name="Google Shape;198;p13"/>
          <p:cNvPicPr preferRelativeResize="0"/>
          <p:nvPr/>
        </p:nvPicPr>
        <p:blipFill rotWithShape="1">
          <a:blip r:embed="rId5">
            <a:alphaModFix/>
          </a:blip>
          <a:srcRect l="14557" r="14050"/>
          <a:stretch/>
        </p:blipFill>
        <p:spPr>
          <a:xfrm>
            <a:off x="4815250" y="840572"/>
            <a:ext cx="3271925" cy="3765079"/>
          </a:xfrm>
          <a:prstGeom prst="rect">
            <a:avLst/>
          </a:prstGeom>
          <a:noFill/>
          <a:ln>
            <a:noFill/>
          </a:ln>
        </p:spPr>
      </p:pic>
      <p:pic>
        <p:nvPicPr>
          <p:cNvPr id="199" name="Google Shape;199;p13"/>
          <p:cNvPicPr preferRelativeResize="0"/>
          <p:nvPr/>
        </p:nvPicPr>
        <p:blipFill rotWithShape="1">
          <a:blip r:embed="rId6">
            <a:alphaModFix/>
          </a:blip>
          <a:srcRect l="61614" r="2744" b="68654"/>
          <a:stretch/>
        </p:blipFill>
        <p:spPr>
          <a:xfrm>
            <a:off x="5466200" y="2770075"/>
            <a:ext cx="2962811" cy="1957699"/>
          </a:xfrm>
          <a:prstGeom prst="rect">
            <a:avLst/>
          </a:prstGeom>
          <a:noFill/>
          <a:ln w="9525" cap="flat" cmpd="sng">
            <a:solidFill>
              <a:srgbClr val="000000"/>
            </a:solidFill>
            <a:prstDash val="solid"/>
            <a:round/>
            <a:headEnd type="none" w="sm" len="sm"/>
            <a:tailEnd type="none" w="sm" len="sm"/>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9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pic>
        <p:nvPicPr>
          <p:cNvPr id="204" name="Google Shape;204;p14"/>
          <p:cNvPicPr preferRelativeResize="0"/>
          <p:nvPr/>
        </p:nvPicPr>
        <p:blipFill rotWithShape="1">
          <a:blip r:embed="rId3">
            <a:alphaModFix/>
          </a:blip>
          <a:srcRect/>
          <a:stretch/>
        </p:blipFill>
        <p:spPr>
          <a:xfrm>
            <a:off x="569700" y="1901725"/>
            <a:ext cx="3991775" cy="1601825"/>
          </a:xfrm>
          <a:prstGeom prst="rect">
            <a:avLst/>
          </a:prstGeom>
          <a:noFill/>
          <a:ln>
            <a:noFill/>
          </a:ln>
        </p:spPr>
      </p:pic>
      <p:pic>
        <p:nvPicPr>
          <p:cNvPr id="205" name="Google Shape;205;p14"/>
          <p:cNvPicPr preferRelativeResize="0"/>
          <p:nvPr/>
        </p:nvPicPr>
        <p:blipFill rotWithShape="1">
          <a:blip r:embed="rId4">
            <a:alphaModFix/>
          </a:blip>
          <a:srcRect/>
          <a:stretch/>
        </p:blipFill>
        <p:spPr>
          <a:xfrm rot="5400000">
            <a:off x="6524025" y="1874862"/>
            <a:ext cx="1601075" cy="1655550"/>
          </a:xfrm>
          <a:prstGeom prst="rect">
            <a:avLst/>
          </a:prstGeom>
          <a:noFill/>
          <a:ln>
            <a:noFill/>
          </a:ln>
        </p:spPr>
      </p:pic>
      <p:pic>
        <p:nvPicPr>
          <p:cNvPr id="206" name="Google Shape;206;p14"/>
          <p:cNvPicPr preferRelativeResize="0"/>
          <p:nvPr/>
        </p:nvPicPr>
        <p:blipFill rotWithShape="1">
          <a:blip r:embed="rId5">
            <a:alphaModFix/>
          </a:blip>
          <a:srcRect/>
          <a:stretch/>
        </p:blipFill>
        <p:spPr>
          <a:xfrm>
            <a:off x="5670000" y="442648"/>
            <a:ext cx="1525250" cy="1434875"/>
          </a:xfrm>
          <a:prstGeom prst="rect">
            <a:avLst/>
          </a:prstGeom>
          <a:noFill/>
          <a:ln>
            <a:noFill/>
          </a:ln>
        </p:spPr>
      </p:pic>
      <p:pic>
        <p:nvPicPr>
          <p:cNvPr id="207" name="Google Shape;207;p14"/>
          <p:cNvPicPr preferRelativeResize="0"/>
          <p:nvPr/>
        </p:nvPicPr>
        <p:blipFill rotWithShape="1">
          <a:blip r:embed="rId6">
            <a:alphaModFix/>
          </a:blip>
          <a:srcRect/>
          <a:stretch/>
        </p:blipFill>
        <p:spPr>
          <a:xfrm>
            <a:off x="5683975" y="3448350"/>
            <a:ext cx="1377925" cy="1434875"/>
          </a:xfrm>
          <a:prstGeom prst="rect">
            <a:avLst/>
          </a:prstGeom>
          <a:noFill/>
          <a:ln>
            <a:noFill/>
          </a:ln>
        </p:spPr>
      </p:pic>
      <p:sp>
        <p:nvSpPr>
          <p:cNvPr id="208" name="Google Shape;208;p14"/>
          <p:cNvSpPr txBox="1"/>
          <p:nvPr/>
        </p:nvSpPr>
        <p:spPr>
          <a:xfrm>
            <a:off x="437825" y="1112325"/>
            <a:ext cx="1377900" cy="677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pt-BR" sz="1600" b="0" i="0" u="none" strike="noStrike" cap="none">
                <a:solidFill>
                  <a:schemeClr val="dk1"/>
                </a:solidFill>
                <a:latin typeface="Proxima Nova"/>
                <a:ea typeface="Proxima Nova"/>
                <a:cs typeface="Proxima Nova"/>
                <a:sym typeface="Proxima Nova"/>
              </a:rPr>
              <a:t>Amostra complexa</a:t>
            </a:r>
            <a:endParaRPr sz="1600" b="0" i="0" u="none" strike="noStrike" cap="none">
              <a:solidFill>
                <a:schemeClr val="dk1"/>
              </a:solidFill>
              <a:latin typeface="Proxima Nova"/>
              <a:ea typeface="Proxima Nova"/>
              <a:cs typeface="Proxima Nova"/>
              <a:sym typeface="Proxima Nova"/>
            </a:endParaRPr>
          </a:p>
        </p:txBody>
      </p:sp>
      <p:sp>
        <p:nvSpPr>
          <p:cNvPr id="209" name="Google Shape;209;p14"/>
          <p:cNvSpPr txBox="1"/>
          <p:nvPr/>
        </p:nvSpPr>
        <p:spPr>
          <a:xfrm>
            <a:off x="2927175" y="1358325"/>
            <a:ext cx="18159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pt-BR" sz="1600" b="0" i="0" u="none" strike="noStrike" cap="none">
                <a:solidFill>
                  <a:schemeClr val="dk1"/>
                </a:solidFill>
                <a:latin typeface="Proxima Nova"/>
                <a:ea typeface="Proxima Nova"/>
                <a:cs typeface="Proxima Nova"/>
                <a:sym typeface="Proxima Nova"/>
              </a:rPr>
              <a:t>Heterogeneidade</a:t>
            </a:r>
            <a:endParaRPr sz="1600" b="0" i="0" u="none" strike="noStrike" cap="none">
              <a:solidFill>
                <a:schemeClr val="dk1"/>
              </a:solidFill>
              <a:latin typeface="Proxima Nova"/>
              <a:ea typeface="Proxima Nova"/>
              <a:cs typeface="Proxima Nova"/>
              <a:sym typeface="Proxima Nova"/>
            </a:endParaRPr>
          </a:p>
        </p:txBody>
      </p:sp>
      <p:sp>
        <p:nvSpPr>
          <p:cNvPr id="210" name="Google Shape;210;p14"/>
          <p:cNvSpPr/>
          <p:nvPr/>
        </p:nvSpPr>
        <p:spPr>
          <a:xfrm>
            <a:off x="2161075" y="2433878"/>
            <a:ext cx="874975" cy="360700"/>
          </a:xfrm>
          <a:custGeom>
            <a:avLst/>
            <a:gdLst/>
            <a:ahLst/>
            <a:cxnLst/>
            <a:rect l="l" t="t" r="r" b="b"/>
            <a:pathLst>
              <a:path w="34999" h="14428" extrusionOk="0">
                <a:moveTo>
                  <a:pt x="0" y="6011"/>
                </a:moveTo>
                <a:cubicBezTo>
                  <a:pt x="3251" y="1677"/>
                  <a:pt x="10997" y="-1866"/>
                  <a:pt x="15506" y="1138"/>
                </a:cubicBezTo>
                <a:cubicBezTo>
                  <a:pt x="22051" y="5498"/>
                  <a:pt x="27135" y="14429"/>
                  <a:pt x="34999" y="14429"/>
                </a:cubicBezTo>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4"/>
          <p:cNvSpPr/>
          <p:nvPr/>
        </p:nvSpPr>
        <p:spPr>
          <a:xfrm>
            <a:off x="4810800" y="2493199"/>
            <a:ext cx="1528425" cy="322225"/>
          </a:xfrm>
          <a:custGeom>
            <a:avLst/>
            <a:gdLst/>
            <a:ahLst/>
            <a:cxnLst/>
            <a:rect l="l" t="t" r="r" b="b"/>
            <a:pathLst>
              <a:path w="61137" h="12889" extrusionOk="0">
                <a:moveTo>
                  <a:pt x="0" y="12889"/>
                </a:moveTo>
                <a:cubicBezTo>
                  <a:pt x="10065" y="12889"/>
                  <a:pt x="18146" y="3811"/>
                  <a:pt x="27910" y="1370"/>
                </a:cubicBezTo>
                <a:cubicBezTo>
                  <a:pt x="38656" y="-1316"/>
                  <a:pt x="50060" y="927"/>
                  <a:pt x="61137" y="927"/>
                </a:cubicBezTo>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4"/>
          <p:cNvSpPr/>
          <p:nvPr/>
        </p:nvSpPr>
        <p:spPr>
          <a:xfrm>
            <a:off x="4810800" y="1618225"/>
            <a:ext cx="859225" cy="874975"/>
          </a:xfrm>
          <a:custGeom>
            <a:avLst/>
            <a:gdLst/>
            <a:ahLst/>
            <a:cxnLst/>
            <a:rect l="l" t="t" r="r" b="b"/>
            <a:pathLst>
              <a:path w="31897" h="34999" extrusionOk="0">
                <a:moveTo>
                  <a:pt x="31897" y="0"/>
                </a:moveTo>
                <a:cubicBezTo>
                  <a:pt x="23294" y="0"/>
                  <a:pt x="20667" y="13053"/>
                  <a:pt x="15505" y="19936"/>
                </a:cubicBezTo>
                <a:cubicBezTo>
                  <a:pt x="11182" y="25701"/>
                  <a:pt x="6445" y="31777"/>
                  <a:pt x="0" y="34999"/>
                </a:cubicBezTo>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4"/>
          <p:cNvSpPr/>
          <p:nvPr/>
        </p:nvSpPr>
        <p:spPr>
          <a:xfrm>
            <a:off x="4820525" y="3158750"/>
            <a:ext cx="731000" cy="1063250"/>
          </a:xfrm>
          <a:custGeom>
            <a:avLst/>
            <a:gdLst/>
            <a:ahLst/>
            <a:cxnLst/>
            <a:rect l="l" t="t" r="r" b="b"/>
            <a:pathLst>
              <a:path w="29240" h="42530" extrusionOk="0">
                <a:moveTo>
                  <a:pt x="0" y="0"/>
                </a:moveTo>
                <a:cubicBezTo>
                  <a:pt x="7219" y="7215"/>
                  <a:pt x="12365" y="16582"/>
                  <a:pt x="15949" y="26139"/>
                </a:cubicBezTo>
                <a:cubicBezTo>
                  <a:pt x="18419" y="32725"/>
                  <a:pt x="22206" y="42530"/>
                  <a:pt x="29240" y="42530"/>
                </a:cubicBezTo>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14"/>
          <p:cNvSpPr txBox="1"/>
          <p:nvPr/>
        </p:nvSpPr>
        <p:spPr>
          <a:xfrm>
            <a:off x="5361175" y="2569388"/>
            <a:ext cx="13311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pt-BR" sz="1600" b="0" i="0" u="none" strike="noStrike" cap="none">
                <a:solidFill>
                  <a:schemeClr val="dk1"/>
                </a:solidFill>
                <a:latin typeface="Proxima Nova"/>
                <a:ea typeface="Proxima Nova"/>
                <a:cs typeface="Proxima Nova"/>
                <a:sym typeface="Proxima Nova"/>
              </a:rPr>
              <a:t>Lisado</a:t>
            </a:r>
            <a:endParaRPr sz="1600" b="0" i="0" u="none" strike="noStrike" cap="none">
              <a:solidFill>
                <a:schemeClr val="dk1"/>
              </a:solidFill>
              <a:latin typeface="Proxima Nova"/>
              <a:ea typeface="Proxima Nova"/>
              <a:cs typeface="Proxima Nova"/>
              <a:sym typeface="Proxima Nova"/>
            </a:endParaRPr>
          </a:p>
        </p:txBody>
      </p:sp>
      <p:sp>
        <p:nvSpPr>
          <p:cNvPr id="215" name="Google Shape;215;p14"/>
          <p:cNvSpPr txBox="1"/>
          <p:nvPr/>
        </p:nvSpPr>
        <p:spPr>
          <a:xfrm>
            <a:off x="7006525" y="184625"/>
            <a:ext cx="1815900" cy="923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pt-BR" sz="1600" b="0" i="0" u="none" strike="noStrike" cap="none">
                <a:solidFill>
                  <a:schemeClr val="dk1"/>
                </a:solidFill>
                <a:latin typeface="Proxima Nova"/>
                <a:ea typeface="Proxima Nova"/>
                <a:cs typeface="Proxima Nova"/>
                <a:sym typeface="Proxima Nova"/>
              </a:rPr>
              <a:t>Manutenção de informações célula-específicas</a:t>
            </a:r>
            <a:endParaRPr sz="1600" b="0" i="0" u="none" strike="noStrike" cap="none">
              <a:solidFill>
                <a:schemeClr val="dk1"/>
              </a:solidFill>
              <a:latin typeface="Proxima Nova"/>
              <a:ea typeface="Proxima Nova"/>
              <a:cs typeface="Proxima Nova"/>
              <a:sym typeface="Proxima Nova"/>
            </a:endParaRPr>
          </a:p>
        </p:txBody>
      </p:sp>
      <p:sp>
        <p:nvSpPr>
          <p:cNvPr id="216" name="Google Shape;216;p14"/>
          <p:cNvSpPr txBox="1"/>
          <p:nvPr/>
        </p:nvSpPr>
        <p:spPr>
          <a:xfrm>
            <a:off x="6985700" y="3883625"/>
            <a:ext cx="1815900" cy="923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pt-BR" sz="1600" b="0" i="0" u="none" strike="noStrike" cap="none">
                <a:solidFill>
                  <a:schemeClr val="dk1"/>
                </a:solidFill>
                <a:latin typeface="Proxima Nova"/>
                <a:ea typeface="Proxima Nova"/>
                <a:cs typeface="Proxima Nova"/>
                <a:sym typeface="Proxima Nova"/>
              </a:rPr>
              <a:t>Manutenção de informações local-específicas</a:t>
            </a:r>
            <a:endParaRPr sz="1600" b="0" i="0" u="none" strike="noStrike" cap="none">
              <a:solidFill>
                <a:schemeClr val="dk1"/>
              </a:solidFill>
              <a:latin typeface="Proxima Nova"/>
              <a:ea typeface="Proxima Nova"/>
              <a:cs typeface="Proxima Nova"/>
              <a:sym typeface="Proxima Nova"/>
            </a:endParaRPr>
          </a:p>
        </p:txBody>
      </p:sp>
      <p:sp>
        <p:nvSpPr>
          <p:cNvPr id="217" name="Google Shape;217;p14"/>
          <p:cNvSpPr txBox="1"/>
          <p:nvPr/>
        </p:nvSpPr>
        <p:spPr>
          <a:xfrm>
            <a:off x="7315175" y="2794575"/>
            <a:ext cx="1655400" cy="63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pt-BR" sz="1600" b="0" i="0" u="none" strike="noStrike" cap="none">
                <a:solidFill>
                  <a:schemeClr val="lt1"/>
                </a:solidFill>
                <a:highlight>
                  <a:schemeClr val="dk2"/>
                </a:highlight>
                <a:latin typeface="Proxima Nova"/>
                <a:ea typeface="Proxima Nova"/>
                <a:cs typeface="Proxima Nova"/>
                <a:sym typeface="Proxima Nova"/>
              </a:rPr>
              <a:t>Bulk RNA-seq</a:t>
            </a:r>
            <a:endParaRPr sz="1600" b="0" i="0" u="none" strike="noStrike" cap="none">
              <a:solidFill>
                <a:schemeClr val="lt1"/>
              </a:solidFill>
              <a:highlight>
                <a:schemeClr val="dk2"/>
              </a:highlight>
              <a:latin typeface="Proxima Nova"/>
              <a:ea typeface="Proxima Nova"/>
              <a:cs typeface="Proxima Nova"/>
              <a:sym typeface="Proxima Nova"/>
            </a:endParaRPr>
          </a:p>
        </p:txBody>
      </p:sp>
      <p:sp>
        <p:nvSpPr>
          <p:cNvPr id="218" name="Google Shape;218;p14"/>
          <p:cNvSpPr txBox="1"/>
          <p:nvPr/>
        </p:nvSpPr>
        <p:spPr>
          <a:xfrm>
            <a:off x="4667050" y="4235975"/>
            <a:ext cx="1815900" cy="63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pt-BR" sz="1600" b="0" i="0" u="none" strike="noStrike" cap="none">
                <a:solidFill>
                  <a:schemeClr val="lt1"/>
                </a:solidFill>
                <a:highlight>
                  <a:schemeClr val="dk2"/>
                </a:highlight>
                <a:latin typeface="Proxima Nova"/>
                <a:ea typeface="Proxima Nova"/>
                <a:cs typeface="Proxima Nova"/>
                <a:sym typeface="Proxima Nova"/>
              </a:rPr>
              <a:t>Transcriptômica espacial</a:t>
            </a:r>
            <a:endParaRPr sz="1600" b="0" i="0" u="none" strike="noStrike" cap="none">
              <a:solidFill>
                <a:schemeClr val="lt1"/>
              </a:solidFill>
              <a:highlight>
                <a:schemeClr val="dk2"/>
              </a:highlight>
              <a:latin typeface="Proxima Nova"/>
              <a:ea typeface="Proxima Nova"/>
              <a:cs typeface="Proxima Nova"/>
              <a:sym typeface="Proxima Nova"/>
            </a:endParaRPr>
          </a:p>
        </p:txBody>
      </p:sp>
      <p:sp>
        <p:nvSpPr>
          <p:cNvPr id="219" name="Google Shape;219;p14"/>
          <p:cNvSpPr txBox="1"/>
          <p:nvPr/>
        </p:nvSpPr>
        <p:spPr>
          <a:xfrm>
            <a:off x="4820525" y="442650"/>
            <a:ext cx="1974300" cy="63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pt-BR" sz="1600" b="0" i="0" u="none" strike="noStrike" cap="none">
                <a:solidFill>
                  <a:schemeClr val="lt1"/>
                </a:solidFill>
                <a:highlight>
                  <a:schemeClr val="dk2"/>
                </a:highlight>
                <a:latin typeface="Proxima Nova"/>
                <a:ea typeface="Proxima Nova"/>
                <a:cs typeface="Proxima Nova"/>
                <a:sym typeface="Proxima Nova"/>
              </a:rPr>
              <a:t>RNA-seq de células individuais</a:t>
            </a:r>
            <a:endParaRPr sz="1600" b="0" i="0" u="none" strike="noStrike" cap="none">
              <a:solidFill>
                <a:schemeClr val="lt1"/>
              </a:solidFill>
              <a:highlight>
                <a:schemeClr val="dk2"/>
              </a:highlight>
              <a:latin typeface="Proxima Nova"/>
              <a:ea typeface="Proxima Nova"/>
              <a:cs typeface="Proxima Nova"/>
              <a:sym typeface="Proxima Nova"/>
            </a:endParaRPr>
          </a:p>
        </p:txBody>
      </p:sp>
      <p:sp>
        <p:nvSpPr>
          <p:cNvPr id="220" name="Google Shape;220;p14"/>
          <p:cNvSpPr txBox="1">
            <a:spLocks noGrp="1"/>
          </p:cNvSpPr>
          <p:nvPr>
            <p:ph type="title"/>
          </p:nvPr>
        </p:nvSpPr>
        <p:spPr>
          <a:xfrm>
            <a:off x="311700" y="292625"/>
            <a:ext cx="5615400" cy="707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sz="1900" b="1"/>
              <a:t>Transcriptômicas de alta resolução</a:t>
            </a:r>
            <a:endParaRPr sz="1900" b="1"/>
          </a:p>
          <a:p>
            <a:pPr marL="0" lvl="0" indent="0" algn="l" rtl="0">
              <a:lnSpc>
                <a:spcPct val="100000"/>
              </a:lnSpc>
              <a:spcBef>
                <a:spcPts val="0"/>
              </a:spcBef>
              <a:spcAft>
                <a:spcPts val="0"/>
              </a:spcAft>
              <a:buSzPts val="2800"/>
              <a:buNone/>
            </a:pPr>
            <a:r>
              <a:rPr lang="pt-BR" sz="1600"/>
              <a:t>vs. RNA-seq clássico (</a:t>
            </a:r>
            <a:r>
              <a:rPr lang="pt-BR" sz="1600" i="1"/>
              <a:t>bulk</a:t>
            </a:r>
            <a:r>
              <a:rPr lang="pt-BR" sz="1600"/>
              <a:t>)</a:t>
            </a:r>
            <a:endParaRPr sz="16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cxnSp>
        <p:nvCxnSpPr>
          <p:cNvPr id="225" name="Google Shape;225;p15"/>
          <p:cNvCxnSpPr/>
          <p:nvPr/>
        </p:nvCxnSpPr>
        <p:spPr>
          <a:xfrm rot="10800000" flipH="1">
            <a:off x="2157025" y="3893375"/>
            <a:ext cx="6041100" cy="10800"/>
          </a:xfrm>
          <a:prstGeom prst="straightConnector1">
            <a:avLst/>
          </a:prstGeom>
          <a:noFill/>
          <a:ln w="19050" cap="flat" cmpd="sng">
            <a:solidFill>
              <a:schemeClr val="lt2"/>
            </a:solidFill>
            <a:prstDash val="dash"/>
            <a:round/>
            <a:headEnd type="none" w="sm" len="sm"/>
            <a:tailEnd type="none" w="sm" len="sm"/>
          </a:ln>
        </p:spPr>
      </p:cxnSp>
      <p:cxnSp>
        <p:nvCxnSpPr>
          <p:cNvPr id="226" name="Google Shape;226;p15"/>
          <p:cNvCxnSpPr>
            <a:stCxn id="227" idx="1"/>
          </p:cNvCxnSpPr>
          <p:nvPr/>
        </p:nvCxnSpPr>
        <p:spPr>
          <a:xfrm rot="10800000" flipH="1">
            <a:off x="2157025" y="1956300"/>
            <a:ext cx="6041100" cy="10800"/>
          </a:xfrm>
          <a:prstGeom prst="straightConnector1">
            <a:avLst/>
          </a:prstGeom>
          <a:noFill/>
          <a:ln w="19050" cap="flat" cmpd="sng">
            <a:solidFill>
              <a:schemeClr val="lt2"/>
            </a:solidFill>
            <a:prstDash val="dash"/>
            <a:round/>
            <a:headEnd type="none" w="sm" len="sm"/>
            <a:tailEnd type="none" w="sm" len="sm"/>
          </a:ln>
        </p:spPr>
      </p:cxnSp>
      <p:sp>
        <p:nvSpPr>
          <p:cNvPr id="228" name="Google Shape;228;p15"/>
          <p:cNvSpPr txBox="1">
            <a:spLocks noGrp="1"/>
          </p:cNvSpPr>
          <p:nvPr>
            <p:ph type="title"/>
          </p:nvPr>
        </p:nvSpPr>
        <p:spPr>
          <a:xfrm>
            <a:off x="311700" y="140225"/>
            <a:ext cx="84912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sz="2000"/>
              <a:t>Transcriptômica com Sequenciamento de Nova Geração (NGS)</a:t>
            </a:r>
            <a:endParaRPr/>
          </a:p>
        </p:txBody>
      </p:sp>
      <p:grpSp>
        <p:nvGrpSpPr>
          <p:cNvPr id="229" name="Google Shape;229;p15"/>
          <p:cNvGrpSpPr/>
          <p:nvPr/>
        </p:nvGrpSpPr>
        <p:grpSpPr>
          <a:xfrm>
            <a:off x="-46701" y="1595125"/>
            <a:ext cx="6240226" cy="731700"/>
            <a:chOff x="710674" y="1323175"/>
            <a:chExt cx="6240226" cy="731700"/>
          </a:xfrm>
        </p:grpSpPr>
        <p:sp>
          <p:nvSpPr>
            <p:cNvPr id="230" name="Google Shape;230;p15"/>
            <p:cNvSpPr txBox="1"/>
            <p:nvPr/>
          </p:nvSpPr>
          <p:spPr>
            <a:xfrm>
              <a:off x="710674" y="1373350"/>
              <a:ext cx="2004300" cy="629700"/>
            </a:xfrm>
            <a:prstGeom prst="rect">
              <a:avLst/>
            </a:prstGeom>
            <a:noFill/>
            <a:ln>
              <a:noFill/>
            </a:ln>
          </p:spPr>
          <p:txBody>
            <a:bodyPr spcFirstLastPara="1" wrap="square" lIns="91425" tIns="45700" rIns="91425" bIns="45700" anchor="ctr" anchorCtr="0">
              <a:noAutofit/>
            </a:bodyPr>
            <a:lstStyle/>
            <a:p>
              <a:pPr marL="0" marR="0" lvl="0" indent="0" algn="r" rtl="0">
                <a:lnSpc>
                  <a:spcPct val="90000"/>
                </a:lnSpc>
                <a:spcBef>
                  <a:spcPts val="0"/>
                </a:spcBef>
                <a:spcAft>
                  <a:spcPts val="0"/>
                </a:spcAft>
                <a:buClr>
                  <a:srgbClr val="000000"/>
                </a:buClr>
                <a:buSzPts val="1600"/>
                <a:buFont typeface="Arial"/>
                <a:buNone/>
              </a:pPr>
              <a:r>
                <a:rPr lang="pt-BR" sz="1600" b="1" i="0" u="none" strike="noStrike" cap="none">
                  <a:solidFill>
                    <a:schemeClr val="dk1"/>
                  </a:solidFill>
                  <a:latin typeface="Proxima Nova"/>
                  <a:ea typeface="Proxima Nova"/>
                  <a:cs typeface="Proxima Nova"/>
                  <a:sym typeface="Proxima Nova"/>
                </a:rPr>
                <a:t>Preparo de biblioteca</a:t>
              </a:r>
              <a:endParaRPr sz="1600" b="1" i="0" u="none" strike="noStrike" cap="none">
                <a:solidFill>
                  <a:schemeClr val="dk1"/>
                </a:solidFill>
                <a:latin typeface="Proxima Nova"/>
                <a:ea typeface="Proxima Nova"/>
                <a:cs typeface="Proxima Nova"/>
                <a:sym typeface="Proxima Nova"/>
              </a:endParaRPr>
            </a:p>
          </p:txBody>
        </p:sp>
        <p:sp>
          <p:nvSpPr>
            <p:cNvPr id="231" name="Google Shape;231;p15"/>
            <p:cNvSpPr/>
            <p:nvPr/>
          </p:nvSpPr>
          <p:spPr>
            <a:xfrm>
              <a:off x="2789777" y="1323175"/>
              <a:ext cx="4161000" cy="731700"/>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roxima Nova"/>
                <a:ea typeface="Proxima Nova"/>
                <a:cs typeface="Proxima Nova"/>
                <a:sym typeface="Proxima Nova"/>
              </a:endParaRPr>
            </a:p>
          </p:txBody>
        </p:sp>
        <p:sp>
          <p:nvSpPr>
            <p:cNvPr id="227" name="Google Shape;227;p15"/>
            <p:cNvSpPr txBox="1"/>
            <p:nvPr/>
          </p:nvSpPr>
          <p:spPr>
            <a:xfrm>
              <a:off x="2914400" y="1407450"/>
              <a:ext cx="4036500" cy="575400"/>
            </a:xfrm>
            <a:prstGeom prst="rect">
              <a:avLst/>
            </a:prstGeom>
            <a:no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Clr>
                  <a:srgbClr val="000000"/>
                </a:buClr>
                <a:buSzPts val="1600"/>
                <a:buFont typeface="Arial"/>
                <a:buNone/>
              </a:pPr>
              <a:r>
                <a:rPr lang="pt-BR" sz="1600" b="0" i="0" u="none" strike="noStrike" cap="none">
                  <a:solidFill>
                    <a:schemeClr val="dk1"/>
                  </a:solidFill>
                  <a:latin typeface="Proxima Nova"/>
                  <a:ea typeface="Proxima Nova"/>
                  <a:cs typeface="Proxima Nova"/>
                  <a:sym typeface="Proxima Nova"/>
                </a:rPr>
                <a:t>Síntese de cDNA, fragmentação, adição de adaptadores</a:t>
              </a:r>
              <a:endParaRPr sz="1600" b="0" i="0" u="none" strike="noStrike" cap="none">
                <a:solidFill>
                  <a:schemeClr val="dk1"/>
                </a:solidFill>
                <a:latin typeface="Proxima Nova"/>
                <a:ea typeface="Proxima Nova"/>
                <a:cs typeface="Proxima Nova"/>
                <a:sym typeface="Proxima Nova"/>
              </a:endParaRPr>
            </a:p>
          </p:txBody>
        </p:sp>
      </p:grpSp>
      <p:grpSp>
        <p:nvGrpSpPr>
          <p:cNvPr id="232" name="Google Shape;232;p15"/>
          <p:cNvGrpSpPr/>
          <p:nvPr/>
        </p:nvGrpSpPr>
        <p:grpSpPr>
          <a:xfrm>
            <a:off x="-757368" y="2479475"/>
            <a:ext cx="6667670" cy="731700"/>
            <a:chOff x="7" y="2207525"/>
            <a:chExt cx="6667670" cy="731700"/>
          </a:xfrm>
        </p:grpSpPr>
        <p:sp>
          <p:nvSpPr>
            <p:cNvPr id="233" name="Google Shape;233;p15"/>
            <p:cNvSpPr txBox="1"/>
            <p:nvPr/>
          </p:nvSpPr>
          <p:spPr>
            <a:xfrm>
              <a:off x="7" y="2257725"/>
              <a:ext cx="2715300" cy="629700"/>
            </a:xfrm>
            <a:prstGeom prst="rect">
              <a:avLst/>
            </a:prstGeom>
            <a:noFill/>
            <a:ln>
              <a:noFill/>
            </a:ln>
          </p:spPr>
          <p:txBody>
            <a:bodyPr spcFirstLastPara="1" wrap="square" lIns="91425" tIns="45700" rIns="91425" bIns="45700" anchor="ctr" anchorCtr="0">
              <a:noAutofit/>
            </a:bodyPr>
            <a:lstStyle/>
            <a:p>
              <a:pPr marL="0" marR="0" lvl="0" indent="0" algn="r" rtl="0">
                <a:lnSpc>
                  <a:spcPct val="90000"/>
                </a:lnSpc>
                <a:spcBef>
                  <a:spcPts val="0"/>
                </a:spcBef>
                <a:spcAft>
                  <a:spcPts val="0"/>
                </a:spcAft>
                <a:buClr>
                  <a:srgbClr val="000000"/>
                </a:buClr>
                <a:buSzPts val="1600"/>
                <a:buFont typeface="Arial"/>
                <a:buNone/>
              </a:pPr>
              <a:r>
                <a:rPr lang="pt-BR" sz="1600" b="1" i="0" u="none" strike="noStrike" cap="none">
                  <a:solidFill>
                    <a:schemeClr val="dk1"/>
                  </a:solidFill>
                  <a:latin typeface="Proxima Nova"/>
                  <a:ea typeface="Proxima Nova"/>
                  <a:cs typeface="Proxima Nova"/>
                  <a:sym typeface="Proxima Nova"/>
                </a:rPr>
                <a:t>Sequenciamento</a:t>
              </a:r>
              <a:endParaRPr sz="1600" b="1" i="0" u="none" strike="noStrike" cap="none">
                <a:solidFill>
                  <a:schemeClr val="dk1"/>
                </a:solidFill>
                <a:latin typeface="Proxima Nova"/>
                <a:ea typeface="Proxima Nova"/>
                <a:cs typeface="Proxima Nova"/>
                <a:sym typeface="Proxima Nova"/>
              </a:endParaRPr>
            </a:p>
          </p:txBody>
        </p:sp>
        <p:sp>
          <p:nvSpPr>
            <p:cNvPr id="234" name="Google Shape;234;p15"/>
            <p:cNvSpPr/>
            <p:nvPr/>
          </p:nvSpPr>
          <p:spPr>
            <a:xfrm>
              <a:off x="2789777" y="2207525"/>
              <a:ext cx="3877800" cy="731700"/>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roxima Nova"/>
                <a:ea typeface="Proxima Nova"/>
                <a:cs typeface="Proxima Nova"/>
                <a:sym typeface="Proxima Nova"/>
              </a:endParaRPr>
            </a:p>
          </p:txBody>
        </p:sp>
        <p:sp>
          <p:nvSpPr>
            <p:cNvPr id="235" name="Google Shape;235;p15"/>
            <p:cNvSpPr txBox="1"/>
            <p:nvPr/>
          </p:nvSpPr>
          <p:spPr>
            <a:xfrm>
              <a:off x="2914377" y="2414100"/>
              <a:ext cx="3753300" cy="330600"/>
            </a:xfrm>
            <a:prstGeom prst="rect">
              <a:avLst/>
            </a:prstGeom>
            <a:no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Clr>
                  <a:srgbClr val="000000"/>
                </a:buClr>
                <a:buSzPts val="1600"/>
                <a:buFont typeface="Arial"/>
                <a:buNone/>
              </a:pPr>
              <a:r>
                <a:rPr lang="pt-BR" sz="1600" b="0" i="0" u="none" strike="noStrike" cap="none">
                  <a:solidFill>
                    <a:schemeClr val="dk1"/>
                  </a:solidFill>
                  <a:latin typeface="Proxima Nova"/>
                  <a:ea typeface="Proxima Nova"/>
                  <a:cs typeface="Proxima Nova"/>
                  <a:sym typeface="Proxima Nova"/>
                </a:rPr>
                <a:t>Amplificação e sequenciamento em si</a:t>
              </a:r>
              <a:endParaRPr sz="1600" b="0" i="0" u="none" strike="noStrike" cap="none">
                <a:solidFill>
                  <a:schemeClr val="dk1"/>
                </a:solidFill>
                <a:latin typeface="Proxima Nova"/>
                <a:ea typeface="Proxima Nova"/>
                <a:cs typeface="Proxima Nova"/>
                <a:sym typeface="Proxima Nova"/>
              </a:endParaRPr>
            </a:p>
          </p:txBody>
        </p:sp>
      </p:grpSp>
      <p:grpSp>
        <p:nvGrpSpPr>
          <p:cNvPr id="236" name="Google Shape;236;p15"/>
          <p:cNvGrpSpPr/>
          <p:nvPr/>
        </p:nvGrpSpPr>
        <p:grpSpPr>
          <a:xfrm>
            <a:off x="-2270" y="3360575"/>
            <a:ext cx="5603594" cy="1016400"/>
            <a:chOff x="755105" y="3088625"/>
            <a:chExt cx="5603594" cy="1016400"/>
          </a:xfrm>
        </p:grpSpPr>
        <p:sp>
          <p:nvSpPr>
            <p:cNvPr id="237" name="Google Shape;237;p15"/>
            <p:cNvSpPr txBox="1"/>
            <p:nvPr/>
          </p:nvSpPr>
          <p:spPr>
            <a:xfrm>
              <a:off x="755105" y="3291225"/>
              <a:ext cx="1959900" cy="629700"/>
            </a:xfrm>
            <a:prstGeom prst="rect">
              <a:avLst/>
            </a:prstGeom>
            <a:noFill/>
            <a:ln>
              <a:noFill/>
            </a:ln>
          </p:spPr>
          <p:txBody>
            <a:bodyPr spcFirstLastPara="1" wrap="square" lIns="91425" tIns="45700" rIns="91425" bIns="45700" anchor="ctr" anchorCtr="0">
              <a:noAutofit/>
            </a:bodyPr>
            <a:lstStyle/>
            <a:p>
              <a:pPr marL="0" marR="0" lvl="0" indent="0" algn="r" rtl="0">
                <a:lnSpc>
                  <a:spcPct val="90000"/>
                </a:lnSpc>
                <a:spcBef>
                  <a:spcPts val="0"/>
                </a:spcBef>
                <a:spcAft>
                  <a:spcPts val="0"/>
                </a:spcAft>
                <a:buClr>
                  <a:srgbClr val="000000"/>
                </a:buClr>
                <a:buSzPts val="1600"/>
                <a:buFont typeface="Arial"/>
                <a:buNone/>
              </a:pPr>
              <a:r>
                <a:rPr lang="pt-BR" sz="1600" b="1" i="0" u="none" strike="noStrike" cap="none">
                  <a:solidFill>
                    <a:schemeClr val="dk1"/>
                  </a:solidFill>
                  <a:latin typeface="Proxima Nova"/>
                  <a:ea typeface="Proxima Nova"/>
                  <a:cs typeface="Proxima Nova"/>
                  <a:sym typeface="Proxima Nova"/>
                </a:rPr>
                <a:t>Análise</a:t>
              </a:r>
              <a:endParaRPr sz="1600" b="1" i="0" u="none" strike="noStrike" cap="none">
                <a:solidFill>
                  <a:schemeClr val="dk1"/>
                </a:solidFill>
                <a:latin typeface="Proxima Nova"/>
                <a:ea typeface="Proxima Nova"/>
                <a:cs typeface="Proxima Nova"/>
                <a:sym typeface="Proxima Nova"/>
              </a:endParaRPr>
            </a:p>
          </p:txBody>
        </p:sp>
        <p:sp>
          <p:nvSpPr>
            <p:cNvPr id="238" name="Google Shape;238;p15"/>
            <p:cNvSpPr/>
            <p:nvPr/>
          </p:nvSpPr>
          <p:spPr>
            <a:xfrm>
              <a:off x="2789775" y="3088625"/>
              <a:ext cx="3568800" cy="1016400"/>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roxima Nova"/>
                <a:ea typeface="Proxima Nova"/>
                <a:cs typeface="Proxima Nova"/>
                <a:sym typeface="Proxima Nova"/>
              </a:endParaRPr>
            </a:p>
          </p:txBody>
        </p:sp>
        <p:sp>
          <p:nvSpPr>
            <p:cNvPr id="239" name="Google Shape;239;p15"/>
            <p:cNvSpPr txBox="1"/>
            <p:nvPr/>
          </p:nvSpPr>
          <p:spPr>
            <a:xfrm>
              <a:off x="2914399" y="3447575"/>
              <a:ext cx="3444300" cy="330600"/>
            </a:xfrm>
            <a:prstGeom prst="rect">
              <a:avLst/>
            </a:prstGeom>
            <a:no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Clr>
                  <a:srgbClr val="000000"/>
                </a:buClr>
                <a:buSzPts val="1600"/>
                <a:buFont typeface="Arial"/>
                <a:buNone/>
              </a:pPr>
              <a:r>
                <a:rPr lang="pt-BR" sz="1600" b="0" i="0" u="none" strike="noStrike" cap="none">
                  <a:solidFill>
                    <a:schemeClr val="dk1"/>
                  </a:solidFill>
                  <a:latin typeface="Proxima Nova"/>
                  <a:ea typeface="Proxima Nova"/>
                  <a:cs typeface="Proxima Nova"/>
                  <a:sym typeface="Proxima Nova"/>
                </a:rPr>
                <a:t>Controle de qualidade, alinhamento, quantificação, normalização e expressão diferencial</a:t>
              </a:r>
              <a:endParaRPr sz="1600" b="0" i="0" u="none" strike="noStrike" cap="none">
                <a:solidFill>
                  <a:schemeClr val="dk1"/>
                </a:solidFill>
                <a:latin typeface="Proxima Nova"/>
                <a:ea typeface="Proxima Nova"/>
                <a:cs typeface="Proxima Nova"/>
                <a:sym typeface="Proxima Nova"/>
              </a:endParaRPr>
            </a:p>
          </p:txBody>
        </p:sp>
      </p:grpSp>
      <p:sp>
        <p:nvSpPr>
          <p:cNvPr id="240" name="Google Shape;240;p15"/>
          <p:cNvSpPr txBox="1">
            <a:spLocks noGrp="1"/>
          </p:cNvSpPr>
          <p:nvPr>
            <p:ph type="body" idx="1"/>
          </p:nvPr>
        </p:nvSpPr>
        <p:spPr>
          <a:xfrm>
            <a:off x="4626900" y="815375"/>
            <a:ext cx="4176000" cy="9819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800"/>
              <a:buNone/>
            </a:pPr>
            <a:r>
              <a:rPr lang="pt-BR" sz="1700">
                <a:solidFill>
                  <a:schemeClr val="dk1"/>
                </a:solidFill>
                <a:highlight>
                  <a:schemeClr val="lt2"/>
                </a:highlight>
              </a:rPr>
              <a:t>Transcriptômica de alta resolução:</a:t>
            </a:r>
            <a:endParaRPr sz="1700">
              <a:solidFill>
                <a:schemeClr val="dk1"/>
              </a:solidFill>
              <a:highlight>
                <a:schemeClr val="lt2"/>
              </a:highlight>
            </a:endParaRPr>
          </a:p>
          <a:p>
            <a:pPr marL="0" lvl="0" indent="457200" algn="r" rtl="0">
              <a:lnSpc>
                <a:spcPct val="100000"/>
              </a:lnSpc>
              <a:spcBef>
                <a:spcPts val="1600"/>
              </a:spcBef>
              <a:spcAft>
                <a:spcPts val="1600"/>
              </a:spcAft>
              <a:buSzPts val="1800"/>
              <a:buNone/>
            </a:pPr>
            <a:endParaRPr sz="1700">
              <a:solidFill>
                <a:schemeClr val="dk1"/>
              </a:solidFill>
            </a:endParaRPr>
          </a:p>
        </p:txBody>
      </p:sp>
      <p:sp>
        <p:nvSpPr>
          <p:cNvPr id="241" name="Google Shape;241;p15"/>
          <p:cNvSpPr txBox="1">
            <a:spLocks noGrp="1"/>
          </p:cNvSpPr>
          <p:nvPr>
            <p:ph type="body" idx="1"/>
          </p:nvPr>
        </p:nvSpPr>
        <p:spPr>
          <a:xfrm>
            <a:off x="6351000" y="1393825"/>
            <a:ext cx="2451900" cy="9819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800"/>
              <a:buNone/>
            </a:pPr>
            <a:r>
              <a:rPr lang="pt-BR" sz="1600">
                <a:solidFill>
                  <a:schemeClr val="dk1"/>
                </a:solidFill>
                <a:highlight>
                  <a:schemeClr val="lt2"/>
                </a:highlight>
              </a:rPr>
              <a:t>Manutenção da informação célula-específica ou espaço-específica </a:t>
            </a:r>
            <a:endParaRPr sz="1600">
              <a:solidFill>
                <a:schemeClr val="dk1"/>
              </a:solidFill>
              <a:highlight>
                <a:schemeClr val="lt2"/>
              </a:highlight>
            </a:endParaRPr>
          </a:p>
          <a:p>
            <a:pPr marL="0" lvl="0" indent="457200" algn="r" rtl="0">
              <a:lnSpc>
                <a:spcPct val="100000"/>
              </a:lnSpc>
              <a:spcBef>
                <a:spcPts val="1600"/>
              </a:spcBef>
              <a:spcAft>
                <a:spcPts val="1600"/>
              </a:spcAft>
              <a:buSzPts val="1800"/>
              <a:buNone/>
            </a:pPr>
            <a:endParaRPr sz="1600">
              <a:solidFill>
                <a:schemeClr val="dk1"/>
              </a:solidFill>
            </a:endParaRPr>
          </a:p>
        </p:txBody>
      </p:sp>
      <p:sp>
        <p:nvSpPr>
          <p:cNvPr id="242" name="Google Shape;242;p15"/>
          <p:cNvSpPr txBox="1">
            <a:spLocks noGrp="1"/>
          </p:cNvSpPr>
          <p:nvPr>
            <p:ph type="body" idx="1"/>
          </p:nvPr>
        </p:nvSpPr>
        <p:spPr>
          <a:xfrm>
            <a:off x="6351000" y="3284375"/>
            <a:ext cx="2451900" cy="9819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800"/>
              <a:buNone/>
            </a:pPr>
            <a:r>
              <a:rPr lang="pt-BR" sz="1600">
                <a:solidFill>
                  <a:schemeClr val="dk1"/>
                </a:solidFill>
                <a:highlight>
                  <a:schemeClr val="lt2"/>
                </a:highlight>
              </a:rPr>
              <a:t>Análise de um conjunto de dados de alta heterogeneidade e dimensionalidade </a:t>
            </a:r>
            <a:endParaRPr sz="1600">
              <a:solidFill>
                <a:schemeClr val="dk1"/>
              </a:solidFill>
              <a:highlight>
                <a:schemeClr val="lt2"/>
              </a:highlight>
            </a:endParaRPr>
          </a:p>
          <a:p>
            <a:pPr marL="0" lvl="0" indent="457200" algn="r" rtl="0">
              <a:lnSpc>
                <a:spcPct val="100000"/>
              </a:lnSpc>
              <a:spcBef>
                <a:spcPts val="1600"/>
              </a:spcBef>
              <a:spcAft>
                <a:spcPts val="1600"/>
              </a:spcAft>
              <a:buSzPts val="1800"/>
              <a:buNone/>
            </a:pPr>
            <a:endParaRPr sz="1600">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4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16"/>
          <p:cNvSpPr txBox="1">
            <a:spLocks noGrp="1"/>
          </p:cNvSpPr>
          <p:nvPr>
            <p:ph type="title"/>
          </p:nvPr>
        </p:nvSpPr>
        <p:spPr>
          <a:xfrm>
            <a:off x="415525" y="526350"/>
            <a:ext cx="8299500" cy="4090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800"/>
              <a:buNone/>
            </a:pPr>
            <a:r>
              <a:rPr lang="pt-BR" sz="4200"/>
              <a:t>Métodos de transcriptômica de células individuais</a:t>
            </a:r>
            <a:endParaRPr sz="57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17"/>
          <p:cNvSpPr txBox="1">
            <a:spLocks noGrp="1"/>
          </p:cNvSpPr>
          <p:nvPr>
            <p:ph type="title"/>
          </p:nvPr>
        </p:nvSpPr>
        <p:spPr>
          <a:xfrm>
            <a:off x="311700" y="445025"/>
            <a:ext cx="5615400" cy="707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sz="1800" b="1"/>
              <a:t>Single-cell RNA-seq (scRNA-seq)</a:t>
            </a:r>
            <a:endParaRPr sz="1800" b="1"/>
          </a:p>
          <a:p>
            <a:pPr marL="0" lvl="0" indent="0" algn="l" rtl="0">
              <a:lnSpc>
                <a:spcPct val="100000"/>
              </a:lnSpc>
              <a:spcBef>
                <a:spcPts val="0"/>
              </a:spcBef>
              <a:spcAft>
                <a:spcPts val="0"/>
              </a:spcAft>
              <a:buSzPts val="2800"/>
              <a:buNone/>
            </a:pPr>
            <a:r>
              <a:rPr lang="pt-BR" sz="1800"/>
              <a:t>Evolução de tecnologias</a:t>
            </a:r>
            <a:endParaRPr sz="1800"/>
          </a:p>
        </p:txBody>
      </p:sp>
      <p:grpSp>
        <p:nvGrpSpPr>
          <p:cNvPr id="253" name="Google Shape;253;p17"/>
          <p:cNvGrpSpPr/>
          <p:nvPr/>
        </p:nvGrpSpPr>
        <p:grpSpPr>
          <a:xfrm>
            <a:off x="3814720" y="928664"/>
            <a:ext cx="4933741" cy="2252683"/>
            <a:chOff x="152400" y="1304825"/>
            <a:chExt cx="8242133" cy="3686275"/>
          </a:xfrm>
        </p:grpSpPr>
        <p:pic>
          <p:nvPicPr>
            <p:cNvPr id="254" name="Google Shape;254;p17"/>
            <p:cNvPicPr preferRelativeResize="0"/>
            <p:nvPr/>
          </p:nvPicPr>
          <p:blipFill rotWithShape="1">
            <a:blip r:embed="rId3">
              <a:alphaModFix/>
            </a:blip>
            <a:srcRect/>
            <a:stretch/>
          </p:blipFill>
          <p:spPr>
            <a:xfrm>
              <a:off x="152400" y="1304825"/>
              <a:ext cx="8242133" cy="3686275"/>
            </a:xfrm>
            <a:prstGeom prst="rect">
              <a:avLst/>
            </a:prstGeom>
            <a:noFill/>
            <a:ln>
              <a:noFill/>
            </a:ln>
          </p:spPr>
        </p:pic>
        <p:pic>
          <p:nvPicPr>
            <p:cNvPr id="255" name="Google Shape;255;p17"/>
            <p:cNvPicPr preferRelativeResize="0"/>
            <p:nvPr/>
          </p:nvPicPr>
          <p:blipFill rotWithShape="1">
            <a:blip r:embed="rId4">
              <a:alphaModFix/>
            </a:blip>
            <a:srcRect/>
            <a:stretch/>
          </p:blipFill>
          <p:spPr>
            <a:xfrm rot="5400000">
              <a:off x="1735033" y="1200950"/>
              <a:ext cx="444667" cy="3455432"/>
            </a:xfrm>
            <a:prstGeom prst="rect">
              <a:avLst/>
            </a:prstGeom>
            <a:noFill/>
            <a:ln>
              <a:noFill/>
            </a:ln>
          </p:spPr>
        </p:pic>
      </p:grpSp>
      <p:cxnSp>
        <p:nvCxnSpPr>
          <p:cNvPr id="256" name="Google Shape;256;p17"/>
          <p:cNvCxnSpPr/>
          <p:nvPr/>
        </p:nvCxnSpPr>
        <p:spPr>
          <a:xfrm>
            <a:off x="596025" y="2774750"/>
            <a:ext cx="1920600" cy="0"/>
          </a:xfrm>
          <a:prstGeom prst="straightConnector1">
            <a:avLst/>
          </a:prstGeom>
          <a:noFill/>
          <a:ln w="28575" cap="flat" cmpd="sng">
            <a:solidFill>
              <a:schemeClr val="dk2"/>
            </a:solidFill>
            <a:prstDash val="solid"/>
            <a:round/>
            <a:headEnd type="oval" w="med" len="med"/>
            <a:tailEnd type="oval" w="med" len="med"/>
          </a:ln>
        </p:spPr>
      </p:cxnSp>
      <p:pic>
        <p:nvPicPr>
          <p:cNvPr id="257" name="Google Shape;257;p17"/>
          <p:cNvPicPr preferRelativeResize="0"/>
          <p:nvPr/>
        </p:nvPicPr>
        <p:blipFill rotWithShape="1">
          <a:blip r:embed="rId5">
            <a:alphaModFix/>
          </a:blip>
          <a:srcRect/>
          <a:stretch/>
        </p:blipFill>
        <p:spPr>
          <a:xfrm>
            <a:off x="3214925" y="3339488"/>
            <a:ext cx="2262300" cy="1124031"/>
          </a:xfrm>
          <a:prstGeom prst="rect">
            <a:avLst/>
          </a:prstGeom>
          <a:noFill/>
          <a:ln>
            <a:noFill/>
          </a:ln>
        </p:spPr>
      </p:pic>
      <p:sp>
        <p:nvSpPr>
          <p:cNvPr id="258" name="Google Shape;258;p17"/>
          <p:cNvSpPr txBox="1"/>
          <p:nvPr/>
        </p:nvSpPr>
        <p:spPr>
          <a:xfrm>
            <a:off x="425175" y="1572388"/>
            <a:ext cx="2262300" cy="63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500"/>
              <a:buFont typeface="Arial"/>
              <a:buNone/>
            </a:pPr>
            <a:r>
              <a:rPr lang="pt-BR" sz="1500" b="1" i="0" u="none" strike="noStrike" cap="none">
                <a:solidFill>
                  <a:schemeClr val="dk1"/>
                </a:solidFill>
                <a:latin typeface="Proxima Nova"/>
                <a:ea typeface="Proxima Nova"/>
                <a:cs typeface="Proxima Nova"/>
                <a:sym typeface="Proxima Nova"/>
              </a:rPr>
              <a:t>Métodos baseados em poços (</a:t>
            </a:r>
            <a:r>
              <a:rPr lang="pt-BR" sz="1500" b="1" i="1" u="none" strike="noStrike" cap="none">
                <a:solidFill>
                  <a:schemeClr val="dk1"/>
                </a:solidFill>
                <a:latin typeface="Proxima Nova"/>
                <a:ea typeface="Proxima Nova"/>
                <a:cs typeface="Proxima Nova"/>
                <a:sym typeface="Proxima Nova"/>
              </a:rPr>
              <a:t>plate-based</a:t>
            </a:r>
            <a:r>
              <a:rPr lang="pt-BR" sz="1500" b="1" i="0" u="none" strike="noStrike" cap="none">
                <a:solidFill>
                  <a:schemeClr val="dk1"/>
                </a:solidFill>
                <a:latin typeface="Proxima Nova"/>
                <a:ea typeface="Proxima Nova"/>
                <a:cs typeface="Proxima Nova"/>
                <a:sym typeface="Proxima Nova"/>
              </a:rPr>
              <a:t>)</a:t>
            </a:r>
            <a:endParaRPr sz="1500" b="1" i="0" u="none" strike="noStrike" cap="none">
              <a:solidFill>
                <a:schemeClr val="dk1"/>
              </a:solidFill>
              <a:latin typeface="Proxima Nova"/>
              <a:ea typeface="Proxima Nova"/>
              <a:cs typeface="Proxima Nova"/>
              <a:sym typeface="Proxima Nova"/>
            </a:endParaRPr>
          </a:p>
        </p:txBody>
      </p:sp>
      <p:sp>
        <p:nvSpPr>
          <p:cNvPr id="259" name="Google Shape;259;p17"/>
          <p:cNvSpPr txBox="1"/>
          <p:nvPr/>
        </p:nvSpPr>
        <p:spPr>
          <a:xfrm>
            <a:off x="217200" y="2344250"/>
            <a:ext cx="825900" cy="385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pt-BR" sz="1200" b="0" i="0" u="none" strike="noStrike" cap="none">
                <a:solidFill>
                  <a:schemeClr val="lt1"/>
                </a:solidFill>
                <a:highlight>
                  <a:schemeClr val="dk2"/>
                </a:highlight>
                <a:latin typeface="Proxima Nova"/>
                <a:ea typeface="Proxima Nova"/>
                <a:cs typeface="Proxima Nova"/>
                <a:sym typeface="Proxima Nova"/>
              </a:rPr>
              <a:t>2009</a:t>
            </a:r>
            <a:endParaRPr sz="1200" b="0" i="0" u="none" strike="noStrike" cap="none">
              <a:solidFill>
                <a:schemeClr val="lt1"/>
              </a:solidFill>
              <a:highlight>
                <a:schemeClr val="dk2"/>
              </a:highlight>
              <a:latin typeface="Proxima Nova"/>
              <a:ea typeface="Proxima Nova"/>
              <a:cs typeface="Proxima Nova"/>
              <a:sym typeface="Proxima Nova"/>
            </a:endParaRPr>
          </a:p>
        </p:txBody>
      </p:sp>
      <p:sp>
        <p:nvSpPr>
          <p:cNvPr id="260" name="Google Shape;260;p17"/>
          <p:cNvSpPr txBox="1"/>
          <p:nvPr/>
        </p:nvSpPr>
        <p:spPr>
          <a:xfrm>
            <a:off x="2021025" y="2344250"/>
            <a:ext cx="825900" cy="385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pt-BR" sz="1200" b="0" i="0" u="none" strike="noStrike" cap="none">
                <a:solidFill>
                  <a:schemeClr val="lt1"/>
                </a:solidFill>
                <a:highlight>
                  <a:schemeClr val="dk2"/>
                </a:highlight>
                <a:latin typeface="Proxima Nova"/>
                <a:ea typeface="Proxima Nova"/>
                <a:cs typeface="Proxima Nova"/>
                <a:sym typeface="Proxima Nova"/>
              </a:rPr>
              <a:t>2012</a:t>
            </a:r>
            <a:endParaRPr sz="1200" b="0" i="0" u="none" strike="noStrike" cap="none">
              <a:solidFill>
                <a:schemeClr val="lt1"/>
              </a:solidFill>
              <a:highlight>
                <a:schemeClr val="dk2"/>
              </a:highlight>
              <a:latin typeface="Proxima Nova"/>
              <a:ea typeface="Proxima Nova"/>
              <a:cs typeface="Proxima Nova"/>
              <a:sym typeface="Proxima Nova"/>
            </a:endParaRPr>
          </a:p>
        </p:txBody>
      </p:sp>
      <p:sp>
        <p:nvSpPr>
          <p:cNvPr id="261" name="Google Shape;261;p17"/>
          <p:cNvSpPr txBox="1"/>
          <p:nvPr/>
        </p:nvSpPr>
        <p:spPr>
          <a:xfrm>
            <a:off x="1814025" y="3154150"/>
            <a:ext cx="1239900" cy="63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pt-BR" sz="1400" b="0" i="0" u="none" strike="noStrike" cap="none">
                <a:solidFill>
                  <a:schemeClr val="lt1"/>
                </a:solidFill>
                <a:highlight>
                  <a:schemeClr val="accent5"/>
                </a:highlight>
                <a:latin typeface="Proxima Nova"/>
                <a:ea typeface="Proxima Nova"/>
                <a:cs typeface="Proxima Nova"/>
                <a:sym typeface="Proxima Nova"/>
              </a:rPr>
              <a:t>SMART-Seq </a:t>
            </a:r>
            <a:endParaRPr sz="1400" b="0" i="0" u="none" strike="noStrike" cap="none">
              <a:solidFill>
                <a:schemeClr val="lt1"/>
              </a:solidFill>
              <a:highlight>
                <a:schemeClr val="accent5"/>
              </a:highlight>
              <a:latin typeface="Proxima Nova"/>
              <a:ea typeface="Proxima Nova"/>
              <a:cs typeface="Proxima Nova"/>
              <a:sym typeface="Proxima Nova"/>
            </a:endParaRPr>
          </a:p>
        </p:txBody>
      </p:sp>
      <p:cxnSp>
        <p:nvCxnSpPr>
          <p:cNvPr id="262" name="Google Shape;262;p17"/>
          <p:cNvCxnSpPr/>
          <p:nvPr/>
        </p:nvCxnSpPr>
        <p:spPr>
          <a:xfrm>
            <a:off x="2432175" y="2874350"/>
            <a:ext cx="3600" cy="324000"/>
          </a:xfrm>
          <a:prstGeom prst="straightConnector1">
            <a:avLst/>
          </a:prstGeom>
          <a:noFill/>
          <a:ln w="9525" cap="flat" cmpd="sng">
            <a:solidFill>
              <a:schemeClr val="accent5"/>
            </a:solidFill>
            <a:prstDash val="dash"/>
            <a:round/>
            <a:headEnd type="none" w="sm" len="sm"/>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cxnSp>
        <p:nvCxnSpPr>
          <p:cNvPr id="267" name="Google Shape;267;p18"/>
          <p:cNvCxnSpPr/>
          <p:nvPr/>
        </p:nvCxnSpPr>
        <p:spPr>
          <a:xfrm>
            <a:off x="596025" y="2774750"/>
            <a:ext cx="1920600" cy="0"/>
          </a:xfrm>
          <a:prstGeom prst="straightConnector1">
            <a:avLst/>
          </a:prstGeom>
          <a:noFill/>
          <a:ln w="28575" cap="flat" cmpd="sng">
            <a:solidFill>
              <a:schemeClr val="dk2"/>
            </a:solidFill>
            <a:prstDash val="solid"/>
            <a:round/>
            <a:headEnd type="oval" w="med" len="med"/>
            <a:tailEnd type="oval" w="med" len="med"/>
          </a:ln>
        </p:spPr>
      </p:cxnSp>
      <p:cxnSp>
        <p:nvCxnSpPr>
          <p:cNvPr id="268" name="Google Shape;268;p18"/>
          <p:cNvCxnSpPr/>
          <p:nvPr/>
        </p:nvCxnSpPr>
        <p:spPr>
          <a:xfrm>
            <a:off x="2516625" y="2774750"/>
            <a:ext cx="1335600" cy="3600"/>
          </a:xfrm>
          <a:prstGeom prst="straightConnector1">
            <a:avLst/>
          </a:prstGeom>
          <a:noFill/>
          <a:ln w="28575" cap="flat" cmpd="sng">
            <a:solidFill>
              <a:schemeClr val="dk2"/>
            </a:solidFill>
            <a:prstDash val="solid"/>
            <a:round/>
            <a:headEnd type="none" w="sm" len="sm"/>
            <a:tailEnd type="oval" w="med" len="med"/>
          </a:ln>
        </p:spPr>
      </p:cxnSp>
      <p:sp>
        <p:nvSpPr>
          <p:cNvPr id="269" name="Google Shape;269;p18"/>
          <p:cNvSpPr txBox="1"/>
          <p:nvPr/>
        </p:nvSpPr>
        <p:spPr>
          <a:xfrm>
            <a:off x="2021025" y="2344250"/>
            <a:ext cx="825900" cy="385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pt-BR" sz="1200" b="0" i="0" u="none" strike="noStrike" cap="none">
                <a:solidFill>
                  <a:schemeClr val="lt1"/>
                </a:solidFill>
                <a:highlight>
                  <a:schemeClr val="dk2"/>
                </a:highlight>
                <a:latin typeface="Proxima Nova"/>
                <a:ea typeface="Proxima Nova"/>
                <a:cs typeface="Proxima Nova"/>
                <a:sym typeface="Proxima Nova"/>
              </a:rPr>
              <a:t>2012</a:t>
            </a:r>
            <a:endParaRPr sz="1200" b="0" i="0" u="none" strike="noStrike" cap="none">
              <a:solidFill>
                <a:schemeClr val="lt1"/>
              </a:solidFill>
              <a:highlight>
                <a:schemeClr val="dk2"/>
              </a:highlight>
              <a:latin typeface="Proxima Nova"/>
              <a:ea typeface="Proxima Nova"/>
              <a:cs typeface="Proxima Nova"/>
              <a:sym typeface="Proxima Nova"/>
            </a:endParaRPr>
          </a:p>
        </p:txBody>
      </p:sp>
      <p:sp>
        <p:nvSpPr>
          <p:cNvPr id="270" name="Google Shape;270;p18"/>
          <p:cNvSpPr txBox="1"/>
          <p:nvPr/>
        </p:nvSpPr>
        <p:spPr>
          <a:xfrm>
            <a:off x="1814025" y="3154150"/>
            <a:ext cx="1239900" cy="63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pt-BR" sz="1400" b="0" i="0" u="none" strike="noStrike" cap="none">
                <a:solidFill>
                  <a:schemeClr val="lt1"/>
                </a:solidFill>
                <a:highlight>
                  <a:schemeClr val="accent5"/>
                </a:highlight>
                <a:latin typeface="Proxima Nova"/>
                <a:ea typeface="Proxima Nova"/>
                <a:cs typeface="Proxima Nova"/>
                <a:sym typeface="Proxima Nova"/>
              </a:rPr>
              <a:t>SMART-Seq </a:t>
            </a:r>
            <a:endParaRPr sz="1400" b="0" i="0" u="none" strike="noStrike" cap="none">
              <a:solidFill>
                <a:schemeClr val="lt1"/>
              </a:solidFill>
              <a:highlight>
                <a:schemeClr val="accent5"/>
              </a:highlight>
              <a:latin typeface="Proxima Nova"/>
              <a:ea typeface="Proxima Nova"/>
              <a:cs typeface="Proxima Nova"/>
              <a:sym typeface="Proxima Nova"/>
            </a:endParaRPr>
          </a:p>
        </p:txBody>
      </p:sp>
      <p:sp>
        <p:nvSpPr>
          <p:cNvPr id="271" name="Google Shape;271;p18"/>
          <p:cNvSpPr txBox="1"/>
          <p:nvPr/>
        </p:nvSpPr>
        <p:spPr>
          <a:xfrm>
            <a:off x="2385900" y="1504150"/>
            <a:ext cx="2262300" cy="794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500"/>
              <a:buFont typeface="Arial"/>
              <a:buNone/>
            </a:pPr>
            <a:r>
              <a:rPr lang="pt-BR" sz="1500" b="1" i="0" u="none" strike="noStrike" cap="none">
                <a:solidFill>
                  <a:schemeClr val="dk1"/>
                </a:solidFill>
                <a:latin typeface="Proxima Nova"/>
                <a:ea typeface="Proxima Nova"/>
                <a:cs typeface="Proxima Nova"/>
                <a:sym typeface="Proxima Nova"/>
              </a:rPr>
              <a:t>Métodos baseados em gotículas (</a:t>
            </a:r>
            <a:r>
              <a:rPr lang="pt-BR" sz="1500" b="1" i="1" u="none" strike="noStrike" cap="none">
                <a:solidFill>
                  <a:schemeClr val="dk1"/>
                </a:solidFill>
                <a:latin typeface="Proxima Nova"/>
                <a:ea typeface="Proxima Nova"/>
                <a:cs typeface="Proxima Nova"/>
                <a:sym typeface="Proxima Nova"/>
              </a:rPr>
              <a:t>droplet-based</a:t>
            </a:r>
            <a:r>
              <a:rPr lang="pt-BR" sz="1500" b="1" i="0" u="none" strike="noStrike" cap="none">
                <a:solidFill>
                  <a:schemeClr val="dk1"/>
                </a:solidFill>
                <a:latin typeface="Proxima Nova"/>
                <a:ea typeface="Proxima Nova"/>
                <a:cs typeface="Proxima Nova"/>
                <a:sym typeface="Proxima Nova"/>
              </a:rPr>
              <a:t>)</a:t>
            </a:r>
            <a:endParaRPr sz="1500" b="1" i="0" u="none" strike="noStrike" cap="none">
              <a:solidFill>
                <a:schemeClr val="dk1"/>
              </a:solidFill>
              <a:latin typeface="Proxima Nova"/>
              <a:ea typeface="Proxima Nova"/>
              <a:cs typeface="Proxima Nova"/>
              <a:sym typeface="Proxima Nova"/>
            </a:endParaRPr>
          </a:p>
        </p:txBody>
      </p:sp>
      <p:sp>
        <p:nvSpPr>
          <p:cNvPr id="272" name="Google Shape;272;p18"/>
          <p:cNvSpPr txBox="1"/>
          <p:nvPr/>
        </p:nvSpPr>
        <p:spPr>
          <a:xfrm>
            <a:off x="217200" y="2344250"/>
            <a:ext cx="825900" cy="385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pt-BR" sz="1200" b="0" i="0" u="none" strike="noStrike" cap="none">
                <a:solidFill>
                  <a:schemeClr val="lt1"/>
                </a:solidFill>
                <a:highlight>
                  <a:schemeClr val="dk2"/>
                </a:highlight>
                <a:latin typeface="Proxima Nova"/>
                <a:ea typeface="Proxima Nova"/>
                <a:cs typeface="Proxima Nova"/>
                <a:sym typeface="Proxima Nova"/>
              </a:rPr>
              <a:t>2009</a:t>
            </a:r>
            <a:endParaRPr sz="1200" b="0" i="0" u="none" strike="noStrike" cap="none">
              <a:solidFill>
                <a:schemeClr val="lt1"/>
              </a:solidFill>
              <a:highlight>
                <a:schemeClr val="dk2"/>
              </a:highlight>
              <a:latin typeface="Proxima Nova"/>
              <a:ea typeface="Proxima Nova"/>
              <a:cs typeface="Proxima Nova"/>
              <a:sym typeface="Proxima Nova"/>
            </a:endParaRPr>
          </a:p>
        </p:txBody>
      </p:sp>
      <p:pic>
        <p:nvPicPr>
          <p:cNvPr id="273" name="Google Shape;273;p18"/>
          <p:cNvPicPr preferRelativeResize="0"/>
          <p:nvPr/>
        </p:nvPicPr>
        <p:blipFill rotWithShape="1">
          <a:blip r:embed="rId3">
            <a:alphaModFix/>
          </a:blip>
          <a:srcRect/>
          <a:stretch/>
        </p:blipFill>
        <p:spPr>
          <a:xfrm>
            <a:off x="4764175" y="188675"/>
            <a:ext cx="4379826" cy="2762718"/>
          </a:xfrm>
          <a:prstGeom prst="rect">
            <a:avLst/>
          </a:prstGeom>
          <a:noFill/>
          <a:ln>
            <a:noFill/>
          </a:ln>
        </p:spPr>
      </p:pic>
      <p:sp>
        <p:nvSpPr>
          <p:cNvPr id="274" name="Google Shape;274;p18"/>
          <p:cNvSpPr txBox="1"/>
          <p:nvPr/>
        </p:nvSpPr>
        <p:spPr>
          <a:xfrm>
            <a:off x="4159050" y="2344250"/>
            <a:ext cx="825900" cy="385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pt-BR" sz="1200" b="0" i="0" u="none" strike="noStrike" cap="none">
                <a:solidFill>
                  <a:schemeClr val="lt1"/>
                </a:solidFill>
                <a:highlight>
                  <a:schemeClr val="dk2"/>
                </a:highlight>
                <a:latin typeface="Proxima Nova"/>
                <a:ea typeface="Proxima Nova"/>
                <a:cs typeface="Proxima Nova"/>
                <a:sym typeface="Proxima Nova"/>
              </a:rPr>
              <a:t>2016</a:t>
            </a:r>
            <a:endParaRPr sz="1200" b="0" i="0" u="none" strike="noStrike" cap="none">
              <a:solidFill>
                <a:schemeClr val="lt1"/>
              </a:solidFill>
              <a:highlight>
                <a:schemeClr val="dk2"/>
              </a:highlight>
              <a:latin typeface="Proxima Nova"/>
              <a:ea typeface="Proxima Nova"/>
              <a:cs typeface="Proxima Nova"/>
              <a:sym typeface="Proxima Nova"/>
            </a:endParaRPr>
          </a:p>
        </p:txBody>
      </p:sp>
      <p:pic>
        <p:nvPicPr>
          <p:cNvPr id="275" name="Google Shape;275;p18"/>
          <p:cNvPicPr preferRelativeResize="0"/>
          <p:nvPr/>
        </p:nvPicPr>
        <p:blipFill rotWithShape="1">
          <a:blip r:embed="rId4">
            <a:alphaModFix/>
          </a:blip>
          <a:srcRect/>
          <a:stretch/>
        </p:blipFill>
        <p:spPr>
          <a:xfrm>
            <a:off x="7038225" y="3162350"/>
            <a:ext cx="1819468" cy="1169650"/>
          </a:xfrm>
          <a:prstGeom prst="rect">
            <a:avLst/>
          </a:prstGeom>
          <a:noFill/>
          <a:ln>
            <a:noFill/>
          </a:ln>
        </p:spPr>
      </p:pic>
      <p:cxnSp>
        <p:nvCxnSpPr>
          <p:cNvPr id="276" name="Google Shape;276;p18"/>
          <p:cNvCxnSpPr/>
          <p:nvPr/>
        </p:nvCxnSpPr>
        <p:spPr>
          <a:xfrm rot="10800000" flipH="1">
            <a:off x="3855600" y="2774750"/>
            <a:ext cx="792600" cy="3600"/>
          </a:xfrm>
          <a:prstGeom prst="straightConnector1">
            <a:avLst/>
          </a:prstGeom>
          <a:noFill/>
          <a:ln w="28575" cap="flat" cmpd="sng">
            <a:solidFill>
              <a:schemeClr val="dk2"/>
            </a:solidFill>
            <a:prstDash val="solid"/>
            <a:round/>
            <a:headEnd type="none" w="sm" len="sm"/>
            <a:tailEnd type="oval" w="med" len="med"/>
          </a:ln>
        </p:spPr>
      </p:cxnSp>
      <p:sp>
        <p:nvSpPr>
          <p:cNvPr id="277" name="Google Shape;277;p18"/>
          <p:cNvSpPr txBox="1"/>
          <p:nvPr/>
        </p:nvSpPr>
        <p:spPr>
          <a:xfrm>
            <a:off x="3392588" y="2344250"/>
            <a:ext cx="825900" cy="385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pt-BR" sz="1200" b="0" i="0" u="none" strike="noStrike" cap="none">
                <a:solidFill>
                  <a:schemeClr val="lt1"/>
                </a:solidFill>
                <a:highlight>
                  <a:schemeClr val="dk2"/>
                </a:highlight>
                <a:latin typeface="Proxima Nova"/>
                <a:ea typeface="Proxima Nova"/>
                <a:cs typeface="Proxima Nova"/>
                <a:sym typeface="Proxima Nova"/>
              </a:rPr>
              <a:t>2015</a:t>
            </a:r>
            <a:endParaRPr sz="1200" b="0" i="0" u="none" strike="noStrike" cap="none">
              <a:solidFill>
                <a:schemeClr val="lt1"/>
              </a:solidFill>
              <a:highlight>
                <a:schemeClr val="dk2"/>
              </a:highlight>
              <a:latin typeface="Proxima Nova"/>
              <a:ea typeface="Proxima Nova"/>
              <a:cs typeface="Proxima Nova"/>
              <a:sym typeface="Proxima Nova"/>
            </a:endParaRPr>
          </a:p>
        </p:txBody>
      </p:sp>
      <p:sp>
        <p:nvSpPr>
          <p:cNvPr id="278" name="Google Shape;278;p18"/>
          <p:cNvSpPr txBox="1"/>
          <p:nvPr/>
        </p:nvSpPr>
        <p:spPr>
          <a:xfrm>
            <a:off x="3185600" y="3863750"/>
            <a:ext cx="1239900" cy="63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pt-BR" sz="1400" b="0" i="0" u="none" strike="noStrike" cap="none">
                <a:solidFill>
                  <a:schemeClr val="lt1"/>
                </a:solidFill>
                <a:highlight>
                  <a:schemeClr val="accent5"/>
                </a:highlight>
                <a:latin typeface="Proxima Nova"/>
                <a:ea typeface="Proxima Nova"/>
                <a:cs typeface="Proxima Nova"/>
                <a:sym typeface="Proxima Nova"/>
              </a:rPr>
              <a:t>Drop-seq</a:t>
            </a:r>
            <a:endParaRPr sz="1400" b="0" i="0" u="none" strike="noStrike" cap="none">
              <a:solidFill>
                <a:schemeClr val="lt1"/>
              </a:solidFill>
              <a:highlight>
                <a:schemeClr val="accent5"/>
              </a:highlight>
              <a:latin typeface="Proxima Nova"/>
              <a:ea typeface="Proxima Nova"/>
              <a:cs typeface="Proxima Nova"/>
              <a:sym typeface="Proxima Nova"/>
            </a:endParaRPr>
          </a:p>
        </p:txBody>
      </p:sp>
      <p:cxnSp>
        <p:nvCxnSpPr>
          <p:cNvPr id="279" name="Google Shape;279;p18"/>
          <p:cNvCxnSpPr/>
          <p:nvPr/>
        </p:nvCxnSpPr>
        <p:spPr>
          <a:xfrm>
            <a:off x="2432175" y="2874350"/>
            <a:ext cx="3600" cy="324000"/>
          </a:xfrm>
          <a:prstGeom prst="straightConnector1">
            <a:avLst/>
          </a:prstGeom>
          <a:noFill/>
          <a:ln w="9525" cap="flat" cmpd="sng">
            <a:solidFill>
              <a:schemeClr val="accent5"/>
            </a:solidFill>
            <a:prstDash val="dash"/>
            <a:round/>
            <a:headEnd type="none" w="sm" len="sm"/>
            <a:tailEnd type="triangle" w="med" len="med"/>
          </a:ln>
        </p:spPr>
      </p:cxnSp>
      <p:cxnSp>
        <p:nvCxnSpPr>
          <p:cNvPr id="280" name="Google Shape;280;p18"/>
          <p:cNvCxnSpPr/>
          <p:nvPr/>
        </p:nvCxnSpPr>
        <p:spPr>
          <a:xfrm>
            <a:off x="3796950" y="2910350"/>
            <a:ext cx="3600" cy="972000"/>
          </a:xfrm>
          <a:prstGeom prst="straightConnector1">
            <a:avLst/>
          </a:prstGeom>
          <a:noFill/>
          <a:ln w="9525" cap="flat" cmpd="sng">
            <a:solidFill>
              <a:schemeClr val="accent5"/>
            </a:solidFill>
            <a:prstDash val="dash"/>
            <a:round/>
            <a:headEnd type="none" w="sm" len="sm"/>
            <a:tailEnd type="triangle" w="med" len="med"/>
          </a:ln>
        </p:spPr>
      </p:cxnSp>
      <p:cxnSp>
        <p:nvCxnSpPr>
          <p:cNvPr id="281" name="Google Shape;281;p18"/>
          <p:cNvCxnSpPr/>
          <p:nvPr/>
        </p:nvCxnSpPr>
        <p:spPr>
          <a:xfrm>
            <a:off x="4570200" y="2910350"/>
            <a:ext cx="3600" cy="252000"/>
          </a:xfrm>
          <a:prstGeom prst="straightConnector1">
            <a:avLst/>
          </a:prstGeom>
          <a:noFill/>
          <a:ln w="9525" cap="flat" cmpd="sng">
            <a:solidFill>
              <a:schemeClr val="accent5"/>
            </a:solidFill>
            <a:prstDash val="dash"/>
            <a:round/>
            <a:headEnd type="none" w="sm" len="sm"/>
            <a:tailEnd type="triangle" w="med" len="med"/>
          </a:ln>
        </p:spPr>
      </p:cxnSp>
      <p:sp>
        <p:nvSpPr>
          <p:cNvPr id="282" name="Google Shape;282;p18"/>
          <p:cNvSpPr txBox="1"/>
          <p:nvPr/>
        </p:nvSpPr>
        <p:spPr>
          <a:xfrm>
            <a:off x="3952050" y="3129300"/>
            <a:ext cx="1239900" cy="63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pt-BR" sz="1400" b="0" i="0" u="none" strike="noStrike" cap="none">
                <a:solidFill>
                  <a:schemeClr val="lt1"/>
                </a:solidFill>
                <a:highlight>
                  <a:schemeClr val="accent5"/>
                </a:highlight>
                <a:latin typeface="Proxima Nova"/>
                <a:ea typeface="Proxima Nova"/>
                <a:cs typeface="Proxima Nova"/>
                <a:sym typeface="Proxima Nova"/>
              </a:rPr>
              <a:t>Chromium (GemCode)</a:t>
            </a:r>
            <a:endParaRPr sz="1400" b="0" i="0" u="none" strike="noStrike" cap="none">
              <a:solidFill>
                <a:schemeClr val="lt1"/>
              </a:solidFill>
              <a:highlight>
                <a:schemeClr val="accent5"/>
              </a:highlight>
              <a:latin typeface="Proxima Nova"/>
              <a:ea typeface="Proxima Nova"/>
              <a:cs typeface="Proxima Nova"/>
              <a:sym typeface="Proxima Nova"/>
            </a:endParaRPr>
          </a:p>
        </p:txBody>
      </p:sp>
      <p:sp>
        <p:nvSpPr>
          <p:cNvPr id="283" name="Google Shape;283;p18"/>
          <p:cNvSpPr txBox="1">
            <a:spLocks noGrp="1"/>
          </p:cNvSpPr>
          <p:nvPr>
            <p:ph type="title"/>
          </p:nvPr>
        </p:nvSpPr>
        <p:spPr>
          <a:xfrm>
            <a:off x="311700" y="445025"/>
            <a:ext cx="5615400" cy="707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sz="1800" b="1"/>
              <a:t>Single-cell RNA-seq (scRNA-seq)</a:t>
            </a:r>
            <a:endParaRPr sz="1800" b="1"/>
          </a:p>
          <a:p>
            <a:pPr marL="0" lvl="0" indent="0" algn="l" rtl="0">
              <a:lnSpc>
                <a:spcPct val="100000"/>
              </a:lnSpc>
              <a:spcBef>
                <a:spcPts val="0"/>
              </a:spcBef>
              <a:spcAft>
                <a:spcPts val="0"/>
              </a:spcAft>
              <a:buSzPts val="2800"/>
              <a:buNone/>
            </a:pPr>
            <a:r>
              <a:rPr lang="pt-BR" sz="1800"/>
              <a:t>Evolução de tecnologias</a:t>
            </a:r>
            <a:endParaRPr sz="1800"/>
          </a:p>
        </p:txBody>
      </p:sp>
      <p:pic>
        <p:nvPicPr>
          <p:cNvPr id="284" name="Google Shape;284;p18"/>
          <p:cNvPicPr preferRelativeResize="0"/>
          <p:nvPr/>
        </p:nvPicPr>
        <p:blipFill rotWithShape="1">
          <a:blip r:embed="rId5">
            <a:alphaModFix/>
          </a:blip>
          <a:srcRect/>
          <a:stretch/>
        </p:blipFill>
        <p:spPr>
          <a:xfrm>
            <a:off x="5303975" y="3198350"/>
            <a:ext cx="1622225" cy="12900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7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7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8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8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8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8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cxnSp>
        <p:nvCxnSpPr>
          <p:cNvPr id="289" name="Google Shape;289;p19"/>
          <p:cNvCxnSpPr/>
          <p:nvPr/>
        </p:nvCxnSpPr>
        <p:spPr>
          <a:xfrm rot="10800000" flipH="1">
            <a:off x="4437225" y="2771150"/>
            <a:ext cx="4139100" cy="3600"/>
          </a:xfrm>
          <a:prstGeom prst="straightConnector1">
            <a:avLst/>
          </a:prstGeom>
          <a:noFill/>
          <a:ln w="28575" cap="flat" cmpd="sng">
            <a:solidFill>
              <a:schemeClr val="dk2"/>
            </a:solidFill>
            <a:prstDash val="solid"/>
            <a:round/>
            <a:headEnd type="none" w="sm" len="sm"/>
            <a:tailEnd type="oval" w="med" len="med"/>
          </a:ln>
        </p:spPr>
      </p:cxnSp>
      <p:sp>
        <p:nvSpPr>
          <p:cNvPr id="290" name="Google Shape;290;p19"/>
          <p:cNvSpPr txBox="1"/>
          <p:nvPr/>
        </p:nvSpPr>
        <p:spPr>
          <a:xfrm>
            <a:off x="8108900" y="2344250"/>
            <a:ext cx="825900" cy="385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pt-BR" sz="1200" b="0" i="0" u="none" strike="noStrike" cap="none">
                <a:solidFill>
                  <a:schemeClr val="lt1"/>
                </a:solidFill>
                <a:highlight>
                  <a:schemeClr val="dk2"/>
                </a:highlight>
                <a:latin typeface="Proxima Nova"/>
                <a:ea typeface="Proxima Nova"/>
                <a:cs typeface="Proxima Nova"/>
                <a:sym typeface="Proxima Nova"/>
              </a:rPr>
              <a:t>2026</a:t>
            </a:r>
            <a:endParaRPr sz="1200" b="0" i="0" u="none" strike="noStrike" cap="none">
              <a:solidFill>
                <a:schemeClr val="lt1"/>
              </a:solidFill>
              <a:highlight>
                <a:schemeClr val="dk2"/>
              </a:highlight>
              <a:latin typeface="Proxima Nova"/>
              <a:ea typeface="Proxima Nova"/>
              <a:cs typeface="Proxima Nova"/>
              <a:sym typeface="Proxima Nova"/>
            </a:endParaRPr>
          </a:p>
        </p:txBody>
      </p:sp>
      <p:cxnSp>
        <p:nvCxnSpPr>
          <p:cNvPr id="291" name="Google Shape;291;p19"/>
          <p:cNvCxnSpPr/>
          <p:nvPr/>
        </p:nvCxnSpPr>
        <p:spPr>
          <a:xfrm>
            <a:off x="596025" y="2774750"/>
            <a:ext cx="1920600" cy="0"/>
          </a:xfrm>
          <a:prstGeom prst="straightConnector1">
            <a:avLst/>
          </a:prstGeom>
          <a:noFill/>
          <a:ln w="28575" cap="flat" cmpd="sng">
            <a:solidFill>
              <a:schemeClr val="dk2"/>
            </a:solidFill>
            <a:prstDash val="solid"/>
            <a:round/>
            <a:headEnd type="oval" w="med" len="med"/>
            <a:tailEnd type="oval" w="med" len="med"/>
          </a:ln>
        </p:spPr>
      </p:cxnSp>
      <p:cxnSp>
        <p:nvCxnSpPr>
          <p:cNvPr id="292" name="Google Shape;292;p19"/>
          <p:cNvCxnSpPr/>
          <p:nvPr/>
        </p:nvCxnSpPr>
        <p:spPr>
          <a:xfrm>
            <a:off x="2516625" y="2774750"/>
            <a:ext cx="1335600" cy="3600"/>
          </a:xfrm>
          <a:prstGeom prst="straightConnector1">
            <a:avLst/>
          </a:prstGeom>
          <a:noFill/>
          <a:ln w="28575" cap="flat" cmpd="sng">
            <a:solidFill>
              <a:schemeClr val="dk2"/>
            </a:solidFill>
            <a:prstDash val="solid"/>
            <a:round/>
            <a:headEnd type="none" w="sm" len="sm"/>
            <a:tailEnd type="oval" w="med" len="med"/>
          </a:ln>
        </p:spPr>
      </p:cxnSp>
      <p:sp>
        <p:nvSpPr>
          <p:cNvPr id="293" name="Google Shape;293;p19"/>
          <p:cNvSpPr txBox="1"/>
          <p:nvPr/>
        </p:nvSpPr>
        <p:spPr>
          <a:xfrm>
            <a:off x="217200" y="2344250"/>
            <a:ext cx="825900" cy="385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pt-BR" sz="1200" b="0" i="0" u="none" strike="noStrike" cap="none">
                <a:solidFill>
                  <a:schemeClr val="lt1"/>
                </a:solidFill>
                <a:highlight>
                  <a:schemeClr val="dk2"/>
                </a:highlight>
                <a:latin typeface="Proxima Nova"/>
                <a:ea typeface="Proxima Nova"/>
                <a:cs typeface="Proxima Nova"/>
                <a:sym typeface="Proxima Nova"/>
              </a:rPr>
              <a:t>2009</a:t>
            </a:r>
            <a:endParaRPr sz="1200" b="0" i="0" u="none" strike="noStrike" cap="none">
              <a:solidFill>
                <a:schemeClr val="lt1"/>
              </a:solidFill>
              <a:highlight>
                <a:schemeClr val="dk2"/>
              </a:highlight>
              <a:latin typeface="Proxima Nova"/>
              <a:ea typeface="Proxima Nova"/>
              <a:cs typeface="Proxima Nova"/>
              <a:sym typeface="Proxima Nova"/>
            </a:endParaRPr>
          </a:p>
        </p:txBody>
      </p:sp>
      <p:sp>
        <p:nvSpPr>
          <p:cNvPr id="294" name="Google Shape;294;p19"/>
          <p:cNvSpPr txBox="1"/>
          <p:nvPr/>
        </p:nvSpPr>
        <p:spPr>
          <a:xfrm>
            <a:off x="4159050" y="2344250"/>
            <a:ext cx="825900" cy="385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pt-BR" sz="1200" b="0" i="0" u="none" strike="noStrike" cap="none">
                <a:solidFill>
                  <a:schemeClr val="lt1"/>
                </a:solidFill>
                <a:highlight>
                  <a:schemeClr val="dk2"/>
                </a:highlight>
                <a:latin typeface="Proxima Nova"/>
                <a:ea typeface="Proxima Nova"/>
                <a:cs typeface="Proxima Nova"/>
                <a:sym typeface="Proxima Nova"/>
              </a:rPr>
              <a:t>2016</a:t>
            </a:r>
            <a:endParaRPr sz="1200" b="0" i="0" u="none" strike="noStrike" cap="none">
              <a:solidFill>
                <a:schemeClr val="lt1"/>
              </a:solidFill>
              <a:highlight>
                <a:schemeClr val="dk2"/>
              </a:highlight>
              <a:latin typeface="Proxima Nova"/>
              <a:ea typeface="Proxima Nova"/>
              <a:cs typeface="Proxima Nova"/>
              <a:sym typeface="Proxima Nova"/>
            </a:endParaRPr>
          </a:p>
        </p:txBody>
      </p:sp>
      <p:sp>
        <p:nvSpPr>
          <p:cNvPr id="295" name="Google Shape;295;p19"/>
          <p:cNvSpPr txBox="1"/>
          <p:nvPr/>
        </p:nvSpPr>
        <p:spPr>
          <a:xfrm>
            <a:off x="3952050" y="3129300"/>
            <a:ext cx="1239900" cy="63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pt-BR" sz="1400" b="0" i="0" u="none" strike="noStrike" cap="none">
                <a:solidFill>
                  <a:schemeClr val="lt1"/>
                </a:solidFill>
                <a:highlight>
                  <a:schemeClr val="accent5"/>
                </a:highlight>
                <a:latin typeface="Proxima Nova"/>
                <a:ea typeface="Proxima Nova"/>
                <a:cs typeface="Proxima Nova"/>
                <a:sym typeface="Proxima Nova"/>
              </a:rPr>
              <a:t>Chromium (GemCode)</a:t>
            </a:r>
            <a:endParaRPr sz="1400" b="0" i="0" u="none" strike="noStrike" cap="none">
              <a:solidFill>
                <a:schemeClr val="lt1"/>
              </a:solidFill>
              <a:highlight>
                <a:schemeClr val="accent5"/>
              </a:highlight>
              <a:latin typeface="Proxima Nova"/>
              <a:ea typeface="Proxima Nova"/>
              <a:cs typeface="Proxima Nova"/>
              <a:sym typeface="Proxima Nova"/>
            </a:endParaRPr>
          </a:p>
        </p:txBody>
      </p:sp>
      <p:cxnSp>
        <p:nvCxnSpPr>
          <p:cNvPr id="296" name="Google Shape;296;p19"/>
          <p:cNvCxnSpPr/>
          <p:nvPr/>
        </p:nvCxnSpPr>
        <p:spPr>
          <a:xfrm rot="10800000" flipH="1">
            <a:off x="3855600" y="2774750"/>
            <a:ext cx="792600" cy="3600"/>
          </a:xfrm>
          <a:prstGeom prst="straightConnector1">
            <a:avLst/>
          </a:prstGeom>
          <a:noFill/>
          <a:ln w="28575" cap="flat" cmpd="sng">
            <a:solidFill>
              <a:schemeClr val="dk2"/>
            </a:solidFill>
            <a:prstDash val="solid"/>
            <a:round/>
            <a:headEnd type="none" w="sm" len="sm"/>
            <a:tailEnd type="oval" w="med" len="med"/>
          </a:ln>
        </p:spPr>
      </p:cxnSp>
      <p:sp>
        <p:nvSpPr>
          <p:cNvPr id="297" name="Google Shape;297;p19"/>
          <p:cNvSpPr txBox="1"/>
          <p:nvPr/>
        </p:nvSpPr>
        <p:spPr>
          <a:xfrm>
            <a:off x="3392588" y="2344250"/>
            <a:ext cx="825900" cy="385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pt-BR" sz="1200" b="0" i="0" u="none" strike="noStrike" cap="none">
                <a:solidFill>
                  <a:schemeClr val="lt1"/>
                </a:solidFill>
                <a:highlight>
                  <a:schemeClr val="dk2"/>
                </a:highlight>
                <a:latin typeface="Proxima Nova"/>
                <a:ea typeface="Proxima Nova"/>
                <a:cs typeface="Proxima Nova"/>
                <a:sym typeface="Proxima Nova"/>
              </a:rPr>
              <a:t>2015</a:t>
            </a:r>
            <a:endParaRPr sz="1200" b="0" i="0" u="none" strike="noStrike" cap="none">
              <a:solidFill>
                <a:schemeClr val="lt1"/>
              </a:solidFill>
              <a:highlight>
                <a:schemeClr val="dk2"/>
              </a:highlight>
              <a:latin typeface="Proxima Nova"/>
              <a:ea typeface="Proxima Nova"/>
              <a:cs typeface="Proxima Nova"/>
              <a:sym typeface="Proxima Nova"/>
            </a:endParaRPr>
          </a:p>
        </p:txBody>
      </p:sp>
      <p:cxnSp>
        <p:nvCxnSpPr>
          <p:cNvPr id="298" name="Google Shape;298;p19"/>
          <p:cNvCxnSpPr/>
          <p:nvPr/>
        </p:nvCxnSpPr>
        <p:spPr>
          <a:xfrm>
            <a:off x="4570200" y="2910350"/>
            <a:ext cx="3600" cy="252000"/>
          </a:xfrm>
          <a:prstGeom prst="straightConnector1">
            <a:avLst/>
          </a:prstGeom>
          <a:noFill/>
          <a:ln w="9525" cap="flat" cmpd="sng">
            <a:solidFill>
              <a:schemeClr val="accent5"/>
            </a:solidFill>
            <a:prstDash val="dash"/>
            <a:round/>
            <a:headEnd type="none" w="sm" len="sm"/>
            <a:tailEnd type="triangle" w="med" len="med"/>
          </a:ln>
        </p:spPr>
      </p:cxnSp>
      <p:sp>
        <p:nvSpPr>
          <p:cNvPr id="299" name="Google Shape;299;p19"/>
          <p:cNvSpPr txBox="1"/>
          <p:nvPr/>
        </p:nvSpPr>
        <p:spPr>
          <a:xfrm>
            <a:off x="5013300" y="4181950"/>
            <a:ext cx="1335600" cy="63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pt-BR" sz="1400" b="0" i="0" u="none" strike="noStrike" cap="none">
                <a:solidFill>
                  <a:schemeClr val="lt1"/>
                </a:solidFill>
                <a:highlight>
                  <a:schemeClr val="accent5"/>
                </a:highlight>
                <a:latin typeface="Proxima Nova"/>
                <a:ea typeface="Proxima Nova"/>
                <a:cs typeface="Proxima Nova"/>
                <a:sym typeface="Proxima Nova"/>
              </a:rPr>
              <a:t>Microwell-seq</a:t>
            </a:r>
            <a:endParaRPr sz="1400" b="0" i="0" u="none" strike="noStrike" cap="none">
              <a:solidFill>
                <a:schemeClr val="lt1"/>
              </a:solidFill>
              <a:highlight>
                <a:schemeClr val="accent5"/>
              </a:highlight>
              <a:latin typeface="Proxima Nova"/>
              <a:ea typeface="Proxima Nova"/>
              <a:cs typeface="Proxima Nova"/>
              <a:sym typeface="Proxima Nova"/>
            </a:endParaRPr>
          </a:p>
        </p:txBody>
      </p:sp>
      <p:sp>
        <p:nvSpPr>
          <p:cNvPr id="300" name="Google Shape;300;p19"/>
          <p:cNvSpPr txBox="1"/>
          <p:nvPr/>
        </p:nvSpPr>
        <p:spPr>
          <a:xfrm>
            <a:off x="6284775" y="3104900"/>
            <a:ext cx="1239900" cy="63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pt-BR" sz="1400" b="0" i="0" u="none" strike="noStrike" cap="none">
                <a:solidFill>
                  <a:schemeClr val="lt1"/>
                </a:solidFill>
                <a:highlight>
                  <a:schemeClr val="accent5"/>
                </a:highlight>
                <a:latin typeface="Proxima Nova"/>
                <a:ea typeface="Proxima Nova"/>
                <a:cs typeface="Proxima Nova"/>
                <a:sym typeface="Proxima Nova"/>
              </a:rPr>
              <a:t>Sci-seq</a:t>
            </a:r>
            <a:endParaRPr sz="1400" b="0" i="0" u="none" strike="noStrike" cap="none">
              <a:solidFill>
                <a:schemeClr val="lt1"/>
              </a:solidFill>
              <a:highlight>
                <a:schemeClr val="accent5"/>
              </a:highlight>
              <a:latin typeface="Proxima Nova"/>
              <a:ea typeface="Proxima Nova"/>
              <a:cs typeface="Proxima Nova"/>
              <a:sym typeface="Proxima Nova"/>
            </a:endParaRPr>
          </a:p>
        </p:txBody>
      </p:sp>
      <p:sp>
        <p:nvSpPr>
          <p:cNvPr id="301" name="Google Shape;301;p19"/>
          <p:cNvSpPr txBox="1"/>
          <p:nvPr/>
        </p:nvSpPr>
        <p:spPr>
          <a:xfrm>
            <a:off x="5670725" y="3458350"/>
            <a:ext cx="1239900" cy="63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pt-BR" sz="1400" b="0" i="0" u="none" strike="noStrike" cap="none">
                <a:solidFill>
                  <a:schemeClr val="lt1"/>
                </a:solidFill>
                <a:highlight>
                  <a:schemeClr val="accent5"/>
                </a:highlight>
                <a:latin typeface="Proxima Nova"/>
                <a:ea typeface="Proxima Nova"/>
                <a:cs typeface="Proxima Nova"/>
                <a:sym typeface="Proxima Nova"/>
              </a:rPr>
              <a:t>Rhapsody</a:t>
            </a:r>
            <a:endParaRPr sz="1400" b="0" i="0" u="none" strike="noStrike" cap="none">
              <a:solidFill>
                <a:schemeClr val="lt1"/>
              </a:solidFill>
              <a:highlight>
                <a:schemeClr val="accent5"/>
              </a:highlight>
              <a:latin typeface="Proxima Nova"/>
              <a:ea typeface="Proxima Nova"/>
              <a:cs typeface="Proxima Nova"/>
              <a:sym typeface="Proxima Nova"/>
            </a:endParaRPr>
          </a:p>
        </p:txBody>
      </p:sp>
      <p:cxnSp>
        <p:nvCxnSpPr>
          <p:cNvPr id="302" name="Google Shape;302;p19"/>
          <p:cNvCxnSpPr/>
          <p:nvPr/>
        </p:nvCxnSpPr>
        <p:spPr>
          <a:xfrm>
            <a:off x="5679300" y="2849950"/>
            <a:ext cx="3600" cy="1332000"/>
          </a:xfrm>
          <a:prstGeom prst="straightConnector1">
            <a:avLst/>
          </a:prstGeom>
          <a:noFill/>
          <a:ln w="9525" cap="flat" cmpd="sng">
            <a:solidFill>
              <a:schemeClr val="accent5"/>
            </a:solidFill>
            <a:prstDash val="dash"/>
            <a:round/>
            <a:headEnd type="none" w="sm" len="sm"/>
            <a:tailEnd type="triangle" w="med" len="med"/>
          </a:ln>
        </p:spPr>
      </p:cxnSp>
      <p:cxnSp>
        <p:nvCxnSpPr>
          <p:cNvPr id="303" name="Google Shape;303;p19"/>
          <p:cNvCxnSpPr/>
          <p:nvPr/>
        </p:nvCxnSpPr>
        <p:spPr>
          <a:xfrm>
            <a:off x="6282075" y="2885950"/>
            <a:ext cx="3600" cy="612000"/>
          </a:xfrm>
          <a:prstGeom prst="straightConnector1">
            <a:avLst/>
          </a:prstGeom>
          <a:noFill/>
          <a:ln w="9525" cap="flat" cmpd="sng">
            <a:solidFill>
              <a:schemeClr val="accent5"/>
            </a:solidFill>
            <a:prstDash val="dash"/>
            <a:round/>
            <a:headEnd type="none" w="sm" len="sm"/>
            <a:tailEnd type="triangle" w="med" len="med"/>
          </a:ln>
        </p:spPr>
      </p:cxnSp>
      <p:cxnSp>
        <p:nvCxnSpPr>
          <p:cNvPr id="304" name="Google Shape;304;p19"/>
          <p:cNvCxnSpPr/>
          <p:nvPr/>
        </p:nvCxnSpPr>
        <p:spPr>
          <a:xfrm>
            <a:off x="6902925" y="2885950"/>
            <a:ext cx="3600" cy="252000"/>
          </a:xfrm>
          <a:prstGeom prst="straightConnector1">
            <a:avLst/>
          </a:prstGeom>
          <a:noFill/>
          <a:ln w="9525" cap="flat" cmpd="sng">
            <a:solidFill>
              <a:schemeClr val="accent5"/>
            </a:solidFill>
            <a:prstDash val="dash"/>
            <a:round/>
            <a:headEnd type="none" w="sm" len="sm"/>
            <a:tailEnd type="triangle" w="med" len="med"/>
          </a:ln>
        </p:spPr>
      </p:cxnSp>
      <p:sp>
        <p:nvSpPr>
          <p:cNvPr id="305" name="Google Shape;305;p19"/>
          <p:cNvSpPr txBox="1"/>
          <p:nvPr/>
        </p:nvSpPr>
        <p:spPr>
          <a:xfrm>
            <a:off x="3185600" y="3863750"/>
            <a:ext cx="1239900" cy="63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pt-BR" sz="1400" b="0" i="0" u="none" strike="noStrike" cap="none">
                <a:solidFill>
                  <a:schemeClr val="lt1"/>
                </a:solidFill>
                <a:highlight>
                  <a:schemeClr val="accent5"/>
                </a:highlight>
                <a:latin typeface="Proxima Nova"/>
                <a:ea typeface="Proxima Nova"/>
                <a:cs typeface="Proxima Nova"/>
                <a:sym typeface="Proxima Nova"/>
              </a:rPr>
              <a:t>Drop-seq</a:t>
            </a:r>
            <a:endParaRPr sz="1400" b="0" i="0" u="none" strike="noStrike" cap="none">
              <a:solidFill>
                <a:schemeClr val="lt1"/>
              </a:solidFill>
              <a:highlight>
                <a:schemeClr val="accent5"/>
              </a:highlight>
              <a:latin typeface="Proxima Nova"/>
              <a:ea typeface="Proxima Nova"/>
              <a:cs typeface="Proxima Nova"/>
              <a:sym typeface="Proxima Nova"/>
            </a:endParaRPr>
          </a:p>
        </p:txBody>
      </p:sp>
      <p:cxnSp>
        <p:nvCxnSpPr>
          <p:cNvPr id="306" name="Google Shape;306;p19"/>
          <p:cNvCxnSpPr/>
          <p:nvPr/>
        </p:nvCxnSpPr>
        <p:spPr>
          <a:xfrm>
            <a:off x="3796950" y="2910350"/>
            <a:ext cx="3600" cy="972000"/>
          </a:xfrm>
          <a:prstGeom prst="straightConnector1">
            <a:avLst/>
          </a:prstGeom>
          <a:noFill/>
          <a:ln w="9525" cap="flat" cmpd="sng">
            <a:solidFill>
              <a:schemeClr val="accent5"/>
            </a:solidFill>
            <a:prstDash val="dash"/>
            <a:round/>
            <a:headEnd type="none" w="sm" len="sm"/>
            <a:tailEnd type="triangle" w="med" len="med"/>
          </a:ln>
        </p:spPr>
      </p:cxnSp>
      <p:sp>
        <p:nvSpPr>
          <p:cNvPr id="307" name="Google Shape;307;p19"/>
          <p:cNvSpPr txBox="1"/>
          <p:nvPr/>
        </p:nvSpPr>
        <p:spPr>
          <a:xfrm>
            <a:off x="4572000" y="3777050"/>
            <a:ext cx="1239900" cy="63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pt-BR" sz="1400" b="0" i="0" u="none" strike="noStrike" cap="none">
                <a:solidFill>
                  <a:schemeClr val="lt1"/>
                </a:solidFill>
                <a:highlight>
                  <a:schemeClr val="accent5"/>
                </a:highlight>
                <a:latin typeface="Proxima Nova"/>
                <a:ea typeface="Proxima Nova"/>
                <a:cs typeface="Proxima Nova"/>
                <a:sym typeface="Proxima Nova"/>
              </a:rPr>
              <a:t>Seq-well</a:t>
            </a:r>
            <a:endParaRPr sz="1400" b="0" i="0" u="none" strike="noStrike" cap="none">
              <a:solidFill>
                <a:schemeClr val="lt1"/>
              </a:solidFill>
              <a:highlight>
                <a:schemeClr val="accent5"/>
              </a:highlight>
              <a:latin typeface="Proxima Nova"/>
              <a:ea typeface="Proxima Nova"/>
              <a:cs typeface="Proxima Nova"/>
              <a:sym typeface="Proxima Nova"/>
            </a:endParaRPr>
          </a:p>
        </p:txBody>
      </p:sp>
      <p:cxnSp>
        <p:nvCxnSpPr>
          <p:cNvPr id="308" name="Google Shape;308;p19"/>
          <p:cNvCxnSpPr/>
          <p:nvPr/>
        </p:nvCxnSpPr>
        <p:spPr>
          <a:xfrm>
            <a:off x="5183350" y="2823650"/>
            <a:ext cx="3600" cy="972000"/>
          </a:xfrm>
          <a:prstGeom prst="straightConnector1">
            <a:avLst/>
          </a:prstGeom>
          <a:noFill/>
          <a:ln w="9525" cap="flat" cmpd="sng">
            <a:solidFill>
              <a:schemeClr val="accent5"/>
            </a:solidFill>
            <a:prstDash val="dash"/>
            <a:round/>
            <a:headEnd type="none" w="sm" len="sm"/>
            <a:tailEnd type="triangle" w="med" len="med"/>
          </a:ln>
        </p:spPr>
      </p:cxnSp>
      <p:sp>
        <p:nvSpPr>
          <p:cNvPr id="309" name="Google Shape;309;p19"/>
          <p:cNvSpPr txBox="1"/>
          <p:nvPr/>
        </p:nvSpPr>
        <p:spPr>
          <a:xfrm>
            <a:off x="6784300" y="3440350"/>
            <a:ext cx="1239900" cy="63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pt-BR" sz="1400" b="0" i="0" u="none" strike="noStrike" cap="none">
                <a:solidFill>
                  <a:schemeClr val="lt1"/>
                </a:solidFill>
                <a:highlight>
                  <a:schemeClr val="accent5"/>
                </a:highlight>
                <a:latin typeface="Proxima Nova"/>
                <a:ea typeface="Proxima Nova"/>
                <a:cs typeface="Proxima Nova"/>
                <a:sym typeface="Proxima Nova"/>
              </a:rPr>
              <a:t>Split-seq</a:t>
            </a:r>
            <a:endParaRPr sz="1400" b="0" i="0" u="none" strike="noStrike" cap="none">
              <a:solidFill>
                <a:schemeClr val="lt1"/>
              </a:solidFill>
              <a:highlight>
                <a:schemeClr val="accent5"/>
              </a:highlight>
              <a:latin typeface="Proxima Nova"/>
              <a:ea typeface="Proxima Nova"/>
              <a:cs typeface="Proxima Nova"/>
              <a:sym typeface="Proxima Nova"/>
            </a:endParaRPr>
          </a:p>
        </p:txBody>
      </p:sp>
      <p:cxnSp>
        <p:nvCxnSpPr>
          <p:cNvPr id="310" name="Google Shape;310;p19"/>
          <p:cNvCxnSpPr/>
          <p:nvPr/>
        </p:nvCxnSpPr>
        <p:spPr>
          <a:xfrm>
            <a:off x="7395650" y="2867950"/>
            <a:ext cx="3600" cy="612000"/>
          </a:xfrm>
          <a:prstGeom prst="straightConnector1">
            <a:avLst/>
          </a:prstGeom>
          <a:noFill/>
          <a:ln w="9525" cap="flat" cmpd="sng">
            <a:solidFill>
              <a:schemeClr val="accent5"/>
            </a:solidFill>
            <a:prstDash val="dash"/>
            <a:round/>
            <a:headEnd type="none" w="sm" len="sm"/>
            <a:tailEnd type="triangle" w="med" len="med"/>
          </a:ln>
        </p:spPr>
      </p:cxnSp>
      <p:sp>
        <p:nvSpPr>
          <p:cNvPr id="311" name="Google Shape;311;p19"/>
          <p:cNvSpPr txBox="1"/>
          <p:nvPr/>
        </p:nvSpPr>
        <p:spPr>
          <a:xfrm>
            <a:off x="4620525" y="1737463"/>
            <a:ext cx="2262300" cy="63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500"/>
              <a:buFont typeface="Arial"/>
              <a:buNone/>
            </a:pPr>
            <a:r>
              <a:rPr lang="pt-BR" sz="1500" b="1" i="0" u="none" strike="noStrike" cap="none">
                <a:solidFill>
                  <a:schemeClr val="dk1"/>
                </a:solidFill>
                <a:latin typeface="Proxima Nova"/>
                <a:ea typeface="Proxima Nova"/>
                <a:cs typeface="Proxima Nova"/>
                <a:sym typeface="Proxima Nova"/>
              </a:rPr>
              <a:t>Outros métodos…</a:t>
            </a:r>
            <a:endParaRPr sz="1500" b="1" i="0" u="none" strike="noStrike" cap="none">
              <a:solidFill>
                <a:schemeClr val="dk1"/>
              </a:solidFill>
              <a:latin typeface="Proxima Nova"/>
              <a:ea typeface="Proxima Nova"/>
              <a:cs typeface="Proxima Nova"/>
              <a:sym typeface="Proxima Nova"/>
            </a:endParaRPr>
          </a:p>
        </p:txBody>
      </p:sp>
      <p:sp>
        <p:nvSpPr>
          <p:cNvPr id="312" name="Google Shape;312;p19"/>
          <p:cNvSpPr txBox="1"/>
          <p:nvPr/>
        </p:nvSpPr>
        <p:spPr>
          <a:xfrm>
            <a:off x="2021025" y="2344250"/>
            <a:ext cx="825900" cy="385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pt-BR" sz="1200" b="0" i="0" u="none" strike="noStrike" cap="none">
                <a:solidFill>
                  <a:schemeClr val="lt1"/>
                </a:solidFill>
                <a:highlight>
                  <a:schemeClr val="dk2"/>
                </a:highlight>
                <a:latin typeface="Proxima Nova"/>
                <a:ea typeface="Proxima Nova"/>
                <a:cs typeface="Proxima Nova"/>
                <a:sym typeface="Proxima Nova"/>
              </a:rPr>
              <a:t>2012</a:t>
            </a:r>
            <a:endParaRPr sz="1200" b="0" i="0" u="none" strike="noStrike" cap="none">
              <a:solidFill>
                <a:schemeClr val="lt1"/>
              </a:solidFill>
              <a:highlight>
                <a:schemeClr val="dk2"/>
              </a:highlight>
              <a:latin typeface="Proxima Nova"/>
              <a:ea typeface="Proxima Nova"/>
              <a:cs typeface="Proxima Nova"/>
              <a:sym typeface="Proxima Nova"/>
            </a:endParaRPr>
          </a:p>
        </p:txBody>
      </p:sp>
      <p:sp>
        <p:nvSpPr>
          <p:cNvPr id="313" name="Google Shape;313;p19"/>
          <p:cNvSpPr txBox="1"/>
          <p:nvPr/>
        </p:nvSpPr>
        <p:spPr>
          <a:xfrm>
            <a:off x="1814025" y="3154150"/>
            <a:ext cx="1239900" cy="63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pt-BR" sz="1400" b="0" i="0" u="none" strike="noStrike" cap="none">
                <a:solidFill>
                  <a:schemeClr val="lt1"/>
                </a:solidFill>
                <a:highlight>
                  <a:schemeClr val="accent5"/>
                </a:highlight>
                <a:latin typeface="Proxima Nova"/>
                <a:ea typeface="Proxima Nova"/>
                <a:cs typeface="Proxima Nova"/>
                <a:sym typeface="Proxima Nova"/>
              </a:rPr>
              <a:t>SMART-Seq </a:t>
            </a:r>
            <a:endParaRPr sz="1400" b="0" i="0" u="none" strike="noStrike" cap="none">
              <a:solidFill>
                <a:schemeClr val="lt1"/>
              </a:solidFill>
              <a:highlight>
                <a:schemeClr val="accent5"/>
              </a:highlight>
              <a:latin typeface="Proxima Nova"/>
              <a:ea typeface="Proxima Nova"/>
              <a:cs typeface="Proxima Nova"/>
              <a:sym typeface="Proxima Nova"/>
            </a:endParaRPr>
          </a:p>
        </p:txBody>
      </p:sp>
      <p:cxnSp>
        <p:nvCxnSpPr>
          <p:cNvPr id="314" name="Google Shape;314;p19"/>
          <p:cNvCxnSpPr/>
          <p:nvPr/>
        </p:nvCxnSpPr>
        <p:spPr>
          <a:xfrm>
            <a:off x="2432175" y="2874350"/>
            <a:ext cx="3600" cy="324000"/>
          </a:xfrm>
          <a:prstGeom prst="straightConnector1">
            <a:avLst/>
          </a:prstGeom>
          <a:noFill/>
          <a:ln w="9525" cap="flat" cmpd="sng">
            <a:solidFill>
              <a:schemeClr val="accent5"/>
            </a:solidFill>
            <a:prstDash val="dash"/>
            <a:round/>
            <a:headEnd type="none" w="sm" len="sm"/>
            <a:tailEnd type="triangle" w="med" len="med"/>
          </a:ln>
        </p:spPr>
      </p:cxnSp>
      <p:sp>
        <p:nvSpPr>
          <p:cNvPr id="315" name="Google Shape;315;p19"/>
          <p:cNvSpPr txBox="1">
            <a:spLocks noGrp="1"/>
          </p:cNvSpPr>
          <p:nvPr>
            <p:ph type="title"/>
          </p:nvPr>
        </p:nvSpPr>
        <p:spPr>
          <a:xfrm>
            <a:off x="311700" y="445025"/>
            <a:ext cx="5615400" cy="707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sz="1800" b="1"/>
              <a:t>Single-cell RNA-seq (scRNA-seq)</a:t>
            </a:r>
            <a:endParaRPr sz="1800" b="1"/>
          </a:p>
          <a:p>
            <a:pPr marL="0" lvl="0" indent="0" algn="l" rtl="0">
              <a:lnSpc>
                <a:spcPct val="100000"/>
              </a:lnSpc>
              <a:spcBef>
                <a:spcPts val="0"/>
              </a:spcBef>
              <a:spcAft>
                <a:spcPts val="0"/>
              </a:spcAft>
              <a:buSzPts val="2800"/>
              <a:buNone/>
            </a:pPr>
            <a:r>
              <a:rPr lang="pt-BR" sz="1800"/>
              <a:t>Evolução de tecnologias</a:t>
            </a:r>
            <a:endParaRPr sz="1800"/>
          </a:p>
        </p:txBody>
      </p:sp>
      <p:pic>
        <p:nvPicPr>
          <p:cNvPr id="316" name="Google Shape;316;p19"/>
          <p:cNvPicPr preferRelativeResize="0"/>
          <p:nvPr/>
        </p:nvPicPr>
        <p:blipFill rotWithShape="1">
          <a:blip r:embed="rId3">
            <a:alphaModFix/>
          </a:blip>
          <a:srcRect/>
          <a:stretch/>
        </p:blipFill>
        <p:spPr>
          <a:xfrm>
            <a:off x="6610700" y="185363"/>
            <a:ext cx="2324100" cy="18383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0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0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0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0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0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0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pic>
        <p:nvPicPr>
          <p:cNvPr id="321" name="Google Shape;321;p20"/>
          <p:cNvPicPr preferRelativeResize="0"/>
          <p:nvPr/>
        </p:nvPicPr>
        <p:blipFill rotWithShape="1">
          <a:blip r:embed="rId3">
            <a:alphaModFix/>
          </a:blip>
          <a:srcRect/>
          <a:stretch/>
        </p:blipFill>
        <p:spPr>
          <a:xfrm>
            <a:off x="4231150" y="1152425"/>
            <a:ext cx="4695500" cy="3084627"/>
          </a:xfrm>
          <a:prstGeom prst="rect">
            <a:avLst/>
          </a:prstGeom>
          <a:noFill/>
          <a:ln>
            <a:noFill/>
          </a:ln>
        </p:spPr>
      </p:pic>
      <p:sp>
        <p:nvSpPr>
          <p:cNvPr id="322" name="Google Shape;322;p20"/>
          <p:cNvSpPr txBox="1">
            <a:spLocks noGrp="1"/>
          </p:cNvSpPr>
          <p:nvPr>
            <p:ph type="body" idx="1"/>
          </p:nvPr>
        </p:nvSpPr>
        <p:spPr>
          <a:xfrm>
            <a:off x="733200" y="1324600"/>
            <a:ext cx="3431100" cy="339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pt-BR" sz="1500">
                <a:solidFill>
                  <a:schemeClr val="dk1"/>
                </a:solidFill>
              </a:rPr>
              <a:t>As técnicas de transcriptômica de células individuais envolvem alguns desafios:</a:t>
            </a:r>
            <a:endParaRPr sz="1500">
              <a:solidFill>
                <a:schemeClr val="dk1"/>
              </a:solidFill>
            </a:endParaRPr>
          </a:p>
          <a:p>
            <a:pPr marL="457200" lvl="0" indent="-323850" algn="l" rtl="0">
              <a:lnSpc>
                <a:spcPct val="115000"/>
              </a:lnSpc>
              <a:spcBef>
                <a:spcPts val="1600"/>
              </a:spcBef>
              <a:spcAft>
                <a:spcPts val="0"/>
              </a:spcAft>
              <a:buClr>
                <a:schemeClr val="dk1"/>
              </a:buClr>
              <a:buSzPts val="1500"/>
              <a:buAutoNum type="arabicPeriod"/>
            </a:pPr>
            <a:r>
              <a:rPr lang="pt-BR" sz="1500">
                <a:solidFill>
                  <a:schemeClr val="dk1"/>
                </a:solidFill>
              </a:rPr>
              <a:t>Obtenção de células únicas.</a:t>
            </a:r>
            <a:endParaRPr sz="1500">
              <a:solidFill>
                <a:schemeClr val="dk1"/>
              </a:solidFill>
            </a:endParaRPr>
          </a:p>
          <a:p>
            <a:pPr marL="457200" lvl="0" indent="-323850" algn="l" rtl="0">
              <a:lnSpc>
                <a:spcPct val="115000"/>
              </a:lnSpc>
              <a:spcBef>
                <a:spcPts val="0"/>
              </a:spcBef>
              <a:spcAft>
                <a:spcPts val="0"/>
              </a:spcAft>
              <a:buClr>
                <a:schemeClr val="dk1"/>
              </a:buClr>
              <a:buSzPts val="1500"/>
              <a:buAutoNum type="arabicPeriod"/>
            </a:pPr>
            <a:r>
              <a:rPr lang="pt-BR" sz="1500">
                <a:solidFill>
                  <a:schemeClr val="dk1"/>
                </a:solidFill>
              </a:rPr>
              <a:t>Amplificação de cDNA de forma célula-específica.</a:t>
            </a:r>
            <a:endParaRPr sz="1500">
              <a:solidFill>
                <a:schemeClr val="dk1"/>
              </a:solidFill>
            </a:endParaRPr>
          </a:p>
          <a:p>
            <a:pPr marL="457200" lvl="0" indent="-323850" algn="l" rtl="0">
              <a:lnSpc>
                <a:spcPct val="115000"/>
              </a:lnSpc>
              <a:spcBef>
                <a:spcPts val="0"/>
              </a:spcBef>
              <a:spcAft>
                <a:spcPts val="0"/>
              </a:spcAft>
              <a:buClr>
                <a:schemeClr val="dk1"/>
              </a:buClr>
              <a:buSzPts val="1500"/>
              <a:buAutoNum type="arabicPeriod"/>
            </a:pPr>
            <a:r>
              <a:rPr lang="pt-BR" sz="1500">
                <a:solidFill>
                  <a:schemeClr val="dk1"/>
                </a:solidFill>
              </a:rPr>
              <a:t>Marcação das bibliotecas de cDNA de forma célula-específica.</a:t>
            </a:r>
            <a:endParaRPr sz="1500">
              <a:solidFill>
                <a:schemeClr val="dk1"/>
              </a:solidFill>
            </a:endParaRPr>
          </a:p>
        </p:txBody>
      </p:sp>
      <p:sp>
        <p:nvSpPr>
          <p:cNvPr id="323" name="Google Shape;323;p20"/>
          <p:cNvSpPr txBox="1">
            <a:spLocks noGrp="1"/>
          </p:cNvSpPr>
          <p:nvPr>
            <p:ph type="title"/>
          </p:nvPr>
        </p:nvSpPr>
        <p:spPr>
          <a:xfrm>
            <a:off x="311700" y="445025"/>
            <a:ext cx="5615400" cy="707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sz="1800" b="1"/>
              <a:t>Single-cell RNA-seq (scRNA-seq)</a:t>
            </a:r>
            <a:endParaRPr sz="1800" b="1"/>
          </a:p>
          <a:p>
            <a:pPr marL="0" lvl="0" indent="0" algn="l" rtl="0">
              <a:lnSpc>
                <a:spcPct val="100000"/>
              </a:lnSpc>
              <a:spcBef>
                <a:spcPts val="0"/>
              </a:spcBef>
              <a:spcAft>
                <a:spcPts val="0"/>
              </a:spcAft>
              <a:buSzPts val="2800"/>
              <a:buNone/>
            </a:pPr>
            <a:r>
              <a:rPr lang="pt-BR" sz="1800"/>
              <a:t>Princípios</a:t>
            </a:r>
            <a:endParaRPr sz="1800"/>
          </a:p>
        </p:txBody>
      </p:sp>
      <p:sp>
        <p:nvSpPr>
          <p:cNvPr id="324" name="Google Shape;324;p20"/>
          <p:cNvSpPr/>
          <p:nvPr/>
        </p:nvSpPr>
        <p:spPr>
          <a:xfrm>
            <a:off x="4700875" y="1060750"/>
            <a:ext cx="4314900" cy="1397700"/>
          </a:xfrm>
          <a:prstGeom prst="rect">
            <a:avLst/>
          </a:prstGeom>
          <a:no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roxima Nova"/>
              <a:ea typeface="Proxima Nova"/>
              <a:cs typeface="Proxima Nova"/>
              <a:sym typeface="Proxima Nova"/>
            </a:endParaRPr>
          </a:p>
        </p:txBody>
      </p:sp>
      <p:sp>
        <p:nvSpPr>
          <p:cNvPr id="325" name="Google Shape;325;p20"/>
          <p:cNvSpPr txBox="1">
            <a:spLocks noGrp="1"/>
          </p:cNvSpPr>
          <p:nvPr>
            <p:ph type="title"/>
          </p:nvPr>
        </p:nvSpPr>
        <p:spPr>
          <a:xfrm>
            <a:off x="733200" y="4797550"/>
            <a:ext cx="8410800" cy="3339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2800"/>
              <a:buNone/>
            </a:pPr>
            <a:r>
              <a:rPr lang="pt-BR" sz="600">
                <a:solidFill>
                  <a:schemeClr val="accent3"/>
                </a:solidFill>
              </a:rPr>
              <a:t>Probst, V., Simonyan, A., Pacheco, F. et al. Benchmarking full-length transcript single cell mRNA sequencing protocols. BMC Genomics 23, 860 (2022). https://doi.org/10.1186/s12864-022-09014-5</a:t>
            </a:r>
            <a:endParaRPr sz="600">
              <a:solidFill>
                <a:schemeClr val="accent3"/>
              </a:solidFill>
            </a:endParaRPr>
          </a:p>
          <a:p>
            <a:pPr marL="0" lvl="0" indent="0" algn="r" rtl="0">
              <a:lnSpc>
                <a:spcPct val="100000"/>
              </a:lnSpc>
              <a:spcBef>
                <a:spcPts val="0"/>
              </a:spcBef>
              <a:spcAft>
                <a:spcPts val="0"/>
              </a:spcAft>
              <a:buSzPts val="2800"/>
              <a:buNone/>
            </a:pPr>
            <a:endParaRPr sz="600">
              <a:solidFill>
                <a:schemeClr val="accent3"/>
              </a:solidFill>
            </a:endParaRPr>
          </a:p>
          <a:p>
            <a:pPr marL="0" lvl="0" indent="0" algn="l" rtl="0">
              <a:lnSpc>
                <a:spcPct val="100000"/>
              </a:lnSpc>
              <a:spcBef>
                <a:spcPts val="0"/>
              </a:spcBef>
              <a:spcAft>
                <a:spcPts val="0"/>
              </a:spcAft>
              <a:buSzPts val="2800"/>
              <a:buNone/>
            </a:pPr>
            <a:endParaRPr sz="600">
              <a:solidFill>
                <a:schemeClr val="accent3"/>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2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21"/>
          <p:cNvSpPr txBox="1">
            <a:spLocks noGrp="1"/>
          </p:cNvSpPr>
          <p:nvPr>
            <p:ph type="title"/>
          </p:nvPr>
        </p:nvSpPr>
        <p:spPr>
          <a:xfrm>
            <a:off x="311700" y="445025"/>
            <a:ext cx="5615400" cy="707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sz="1800" b="1"/>
              <a:t>Single-cell RNA-seq (scRNA-seq)</a:t>
            </a:r>
            <a:endParaRPr sz="1800" b="1"/>
          </a:p>
          <a:p>
            <a:pPr marL="0" lvl="0" indent="0" algn="l" rtl="0">
              <a:lnSpc>
                <a:spcPct val="100000"/>
              </a:lnSpc>
              <a:spcBef>
                <a:spcPts val="0"/>
              </a:spcBef>
              <a:spcAft>
                <a:spcPts val="0"/>
              </a:spcAft>
              <a:buSzPts val="2800"/>
              <a:buNone/>
            </a:pPr>
            <a:r>
              <a:rPr lang="pt-BR" sz="1800"/>
              <a:t>Princípios</a:t>
            </a:r>
            <a:endParaRPr sz="1800"/>
          </a:p>
        </p:txBody>
      </p:sp>
      <p:sp>
        <p:nvSpPr>
          <p:cNvPr id="331" name="Google Shape;331;p21"/>
          <p:cNvSpPr txBox="1">
            <a:spLocks noGrp="1"/>
          </p:cNvSpPr>
          <p:nvPr>
            <p:ph type="body" idx="1"/>
          </p:nvPr>
        </p:nvSpPr>
        <p:spPr>
          <a:xfrm>
            <a:off x="733200" y="1324600"/>
            <a:ext cx="3431100" cy="339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pt-BR" sz="1500">
                <a:solidFill>
                  <a:schemeClr val="dk1"/>
                </a:solidFill>
              </a:rPr>
              <a:t>Chromium 10X Genomics (</a:t>
            </a:r>
            <a:r>
              <a:rPr lang="pt-BR" sz="1500" i="1">
                <a:solidFill>
                  <a:schemeClr val="dk1"/>
                </a:solidFill>
              </a:rPr>
              <a:t>droplet-seq</a:t>
            </a:r>
            <a:r>
              <a:rPr lang="pt-BR" sz="1500">
                <a:solidFill>
                  <a:schemeClr val="dk1"/>
                </a:solidFill>
              </a:rPr>
              <a:t>)</a:t>
            </a:r>
            <a:endParaRPr sz="1500">
              <a:solidFill>
                <a:schemeClr val="dk1"/>
              </a:solidFill>
            </a:endParaRPr>
          </a:p>
          <a:p>
            <a:pPr marL="457200" lvl="0" indent="-323850" algn="l" rtl="0">
              <a:lnSpc>
                <a:spcPct val="115000"/>
              </a:lnSpc>
              <a:spcBef>
                <a:spcPts val="1600"/>
              </a:spcBef>
              <a:spcAft>
                <a:spcPts val="0"/>
              </a:spcAft>
              <a:buClr>
                <a:schemeClr val="dk1"/>
              </a:buClr>
              <a:buSzPts val="1500"/>
              <a:buAutoNum type="arabicPeriod"/>
            </a:pPr>
            <a:r>
              <a:rPr lang="pt-BR" sz="1500">
                <a:solidFill>
                  <a:schemeClr val="dk1"/>
                </a:solidFill>
              </a:rPr>
              <a:t>Obtenção de células únicas.</a:t>
            </a:r>
            <a:endParaRPr sz="1500">
              <a:solidFill>
                <a:schemeClr val="dk1"/>
              </a:solidFill>
            </a:endParaRPr>
          </a:p>
          <a:p>
            <a:pPr marL="457200" lvl="0" indent="-323850" algn="l" rtl="0">
              <a:lnSpc>
                <a:spcPct val="115000"/>
              </a:lnSpc>
              <a:spcBef>
                <a:spcPts val="0"/>
              </a:spcBef>
              <a:spcAft>
                <a:spcPts val="0"/>
              </a:spcAft>
              <a:buClr>
                <a:schemeClr val="dk1"/>
              </a:buClr>
              <a:buSzPts val="1500"/>
              <a:buAutoNum type="arabicPeriod"/>
            </a:pPr>
            <a:r>
              <a:rPr lang="pt-BR" sz="1500">
                <a:solidFill>
                  <a:schemeClr val="dk1"/>
                </a:solidFill>
              </a:rPr>
              <a:t>Amplificação de cDNA de forma célula-específica.</a:t>
            </a:r>
            <a:endParaRPr sz="1500">
              <a:solidFill>
                <a:schemeClr val="dk1"/>
              </a:solidFill>
            </a:endParaRPr>
          </a:p>
          <a:p>
            <a:pPr marL="457200" lvl="0" indent="-323850" algn="l" rtl="0">
              <a:lnSpc>
                <a:spcPct val="115000"/>
              </a:lnSpc>
              <a:spcBef>
                <a:spcPts val="0"/>
              </a:spcBef>
              <a:spcAft>
                <a:spcPts val="0"/>
              </a:spcAft>
              <a:buClr>
                <a:schemeClr val="dk1"/>
              </a:buClr>
              <a:buSzPts val="1500"/>
              <a:buAutoNum type="arabicPeriod"/>
            </a:pPr>
            <a:r>
              <a:rPr lang="pt-BR" sz="1500">
                <a:solidFill>
                  <a:schemeClr val="dk1"/>
                </a:solidFill>
              </a:rPr>
              <a:t>Marcação das bibliotecas de cDNA de forma célula-específica.</a:t>
            </a:r>
            <a:endParaRPr sz="1500">
              <a:solidFill>
                <a:schemeClr val="dk1"/>
              </a:solidFill>
            </a:endParaRPr>
          </a:p>
        </p:txBody>
      </p:sp>
      <p:pic>
        <p:nvPicPr>
          <p:cNvPr id="332" name="Google Shape;332;p21"/>
          <p:cNvPicPr preferRelativeResize="0"/>
          <p:nvPr/>
        </p:nvPicPr>
        <p:blipFill rotWithShape="1">
          <a:blip r:embed="rId3">
            <a:alphaModFix/>
          </a:blip>
          <a:srcRect/>
          <a:stretch/>
        </p:blipFill>
        <p:spPr>
          <a:xfrm>
            <a:off x="4250250" y="1012875"/>
            <a:ext cx="4674899" cy="2130506"/>
          </a:xfrm>
          <a:prstGeom prst="rect">
            <a:avLst/>
          </a:prstGeom>
          <a:noFill/>
          <a:ln>
            <a:noFill/>
          </a:ln>
        </p:spPr>
      </p:pic>
      <p:pic>
        <p:nvPicPr>
          <p:cNvPr id="333" name="Google Shape;333;p21"/>
          <p:cNvPicPr preferRelativeResize="0"/>
          <p:nvPr/>
        </p:nvPicPr>
        <p:blipFill rotWithShape="1">
          <a:blip r:embed="rId4">
            <a:alphaModFix/>
          </a:blip>
          <a:srcRect/>
          <a:stretch/>
        </p:blipFill>
        <p:spPr>
          <a:xfrm>
            <a:off x="2525073" y="3496850"/>
            <a:ext cx="1543100" cy="992000"/>
          </a:xfrm>
          <a:prstGeom prst="rect">
            <a:avLst/>
          </a:prstGeom>
          <a:noFill/>
          <a:ln>
            <a:noFill/>
          </a:ln>
        </p:spPr>
      </p:pic>
      <p:pic>
        <p:nvPicPr>
          <p:cNvPr id="334" name="Google Shape;334;p21"/>
          <p:cNvPicPr preferRelativeResize="0"/>
          <p:nvPr/>
        </p:nvPicPr>
        <p:blipFill rotWithShape="1">
          <a:blip r:embed="rId5">
            <a:alphaModFix/>
          </a:blip>
          <a:srcRect/>
          <a:stretch/>
        </p:blipFill>
        <p:spPr>
          <a:xfrm>
            <a:off x="4686875" y="3164298"/>
            <a:ext cx="3829108" cy="1676100"/>
          </a:xfrm>
          <a:prstGeom prst="rect">
            <a:avLst/>
          </a:prstGeom>
          <a:noFill/>
          <a:ln>
            <a:noFill/>
          </a:ln>
        </p:spPr>
      </p:pic>
      <p:sp>
        <p:nvSpPr>
          <p:cNvPr id="335" name="Google Shape;335;p21"/>
          <p:cNvSpPr/>
          <p:nvPr/>
        </p:nvSpPr>
        <p:spPr>
          <a:xfrm>
            <a:off x="5284400" y="160600"/>
            <a:ext cx="3699300" cy="1240200"/>
          </a:xfrm>
          <a:prstGeom prst="wedgeRoundRectCallout">
            <a:avLst>
              <a:gd name="adj1" fmla="val -20833"/>
              <a:gd name="adj2" fmla="val 62500"/>
              <a:gd name="adj3" fmla="val 0"/>
            </a:avLst>
          </a:prstGeom>
          <a:solidFill>
            <a:schemeClr val="lt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rgbClr val="000000"/>
              </a:buClr>
              <a:buSzPts val="1200"/>
              <a:buFont typeface="Arial"/>
              <a:buNone/>
            </a:pPr>
            <a:r>
              <a:rPr lang="pt-BR" sz="1200" b="1" i="0" u="none" strike="noStrike" cap="none">
                <a:solidFill>
                  <a:schemeClr val="dk1"/>
                </a:solidFill>
                <a:latin typeface="Proxima Nova"/>
                <a:ea typeface="Proxima Nova"/>
                <a:cs typeface="Proxima Nova"/>
                <a:sym typeface="Proxima Nova"/>
              </a:rPr>
              <a:t>GEMs (Gel Bead-in-Emulsions)</a:t>
            </a:r>
            <a:endParaRPr sz="1200" b="1" i="0" u="none" strike="noStrike" cap="none">
              <a:solidFill>
                <a:schemeClr val="dk1"/>
              </a:solidFill>
              <a:latin typeface="Proxima Nova"/>
              <a:ea typeface="Proxima Nova"/>
              <a:cs typeface="Proxima Nova"/>
              <a:sym typeface="Proxima Nova"/>
            </a:endParaRPr>
          </a:p>
          <a:p>
            <a:pPr marL="0" marR="0" lvl="0" indent="0" algn="l" rtl="0">
              <a:lnSpc>
                <a:spcPct val="115000"/>
              </a:lnSpc>
              <a:spcBef>
                <a:spcPts val="0"/>
              </a:spcBef>
              <a:spcAft>
                <a:spcPts val="0"/>
              </a:spcAft>
              <a:buClr>
                <a:srgbClr val="000000"/>
              </a:buClr>
              <a:buSzPts val="1200"/>
              <a:buFont typeface="Arial"/>
              <a:buNone/>
            </a:pPr>
            <a:r>
              <a:rPr lang="pt-BR" sz="1200" b="0" i="0" u="none" strike="noStrike" cap="none">
                <a:solidFill>
                  <a:schemeClr val="dk1"/>
                </a:solidFill>
                <a:latin typeface="Proxima Nova"/>
                <a:ea typeface="Proxima Nova"/>
                <a:cs typeface="Proxima Nova"/>
                <a:sym typeface="Proxima Nova"/>
              </a:rPr>
              <a:t>Emulsão de óleo e gotículas de solução aquosa, as quais contém: </a:t>
            </a:r>
            <a:endParaRPr sz="1200" b="0" i="0" u="none" strike="noStrike" cap="none">
              <a:solidFill>
                <a:schemeClr val="dk1"/>
              </a:solidFill>
              <a:latin typeface="Proxima Nova"/>
              <a:ea typeface="Proxima Nova"/>
              <a:cs typeface="Proxima Nova"/>
              <a:sym typeface="Proxima Nova"/>
            </a:endParaRPr>
          </a:p>
          <a:p>
            <a:pPr marL="0" marR="0" lvl="0" indent="0" algn="l" rtl="0">
              <a:lnSpc>
                <a:spcPct val="115000"/>
              </a:lnSpc>
              <a:spcBef>
                <a:spcPts val="0"/>
              </a:spcBef>
              <a:spcAft>
                <a:spcPts val="0"/>
              </a:spcAft>
              <a:buClr>
                <a:srgbClr val="000000"/>
              </a:buClr>
              <a:buSzPts val="1200"/>
              <a:buFont typeface="Arial"/>
              <a:buNone/>
            </a:pPr>
            <a:r>
              <a:rPr lang="pt-BR" sz="1200" b="1" i="0" u="none" strike="noStrike" cap="none">
                <a:solidFill>
                  <a:schemeClr val="dk1"/>
                </a:solidFill>
                <a:latin typeface="Proxima Nova"/>
                <a:ea typeface="Proxima Nova"/>
                <a:cs typeface="Proxima Nova"/>
                <a:sym typeface="Proxima Nova"/>
              </a:rPr>
              <a:t>1 bead</a:t>
            </a:r>
            <a:r>
              <a:rPr lang="pt-BR" sz="1200" b="0" i="0" u="none" strike="noStrike" cap="none">
                <a:solidFill>
                  <a:schemeClr val="dk1"/>
                </a:solidFill>
                <a:latin typeface="Proxima Nova"/>
                <a:ea typeface="Proxima Nova"/>
                <a:cs typeface="Proxima Nova"/>
                <a:sym typeface="Proxima Nova"/>
              </a:rPr>
              <a:t>, primers com </a:t>
            </a:r>
            <a:r>
              <a:rPr lang="pt-BR" sz="1200" b="1" i="0" u="none" strike="noStrike" cap="none">
                <a:solidFill>
                  <a:schemeClr val="dk1"/>
                </a:solidFill>
                <a:latin typeface="Proxima Nova"/>
                <a:ea typeface="Proxima Nova"/>
                <a:cs typeface="Proxima Nova"/>
                <a:sym typeface="Proxima Nova"/>
              </a:rPr>
              <a:t>1 barcode</a:t>
            </a:r>
            <a:r>
              <a:rPr lang="pt-BR" sz="1200" b="0" i="0" u="none" strike="noStrike" cap="none">
                <a:solidFill>
                  <a:schemeClr val="dk1"/>
                </a:solidFill>
                <a:latin typeface="Proxima Nova"/>
                <a:ea typeface="Proxima Nova"/>
                <a:cs typeface="Proxima Nova"/>
                <a:sym typeface="Proxima Nova"/>
              </a:rPr>
              <a:t>, </a:t>
            </a:r>
            <a:r>
              <a:rPr lang="pt-BR" sz="1200" b="1" i="0" u="none" strike="noStrike" cap="none">
                <a:solidFill>
                  <a:schemeClr val="dk1"/>
                </a:solidFill>
                <a:latin typeface="Proxima Nova"/>
                <a:ea typeface="Proxima Nova"/>
                <a:cs typeface="Proxima Nova"/>
                <a:sym typeface="Proxima Nova"/>
              </a:rPr>
              <a:t>1 célula</a:t>
            </a:r>
            <a:r>
              <a:rPr lang="pt-BR" sz="1200" b="0" i="0" u="none" strike="noStrike" cap="none">
                <a:solidFill>
                  <a:schemeClr val="dk1"/>
                </a:solidFill>
                <a:latin typeface="Proxima Nova"/>
                <a:ea typeface="Proxima Nova"/>
                <a:cs typeface="Proxima Nova"/>
                <a:sym typeface="Proxima Nova"/>
              </a:rPr>
              <a:t>, e demais reagentes para RT-PCR.</a:t>
            </a:r>
            <a:endParaRPr sz="1200" b="0" i="0" u="none" strike="noStrike" cap="none">
              <a:solidFill>
                <a:schemeClr val="dk1"/>
              </a:solidFill>
              <a:latin typeface="Proxima Nova"/>
              <a:ea typeface="Proxima Nova"/>
              <a:cs typeface="Proxima Nova"/>
              <a:sym typeface="Proxima Nov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pic>
        <p:nvPicPr>
          <p:cNvPr id="340" name="Google Shape;340;p22"/>
          <p:cNvPicPr preferRelativeResize="0"/>
          <p:nvPr/>
        </p:nvPicPr>
        <p:blipFill rotWithShape="1">
          <a:blip r:embed="rId3">
            <a:alphaModFix/>
          </a:blip>
          <a:srcRect l="47009"/>
          <a:stretch/>
        </p:blipFill>
        <p:spPr>
          <a:xfrm>
            <a:off x="6521525" y="542825"/>
            <a:ext cx="2477250" cy="2486125"/>
          </a:xfrm>
          <a:prstGeom prst="rect">
            <a:avLst/>
          </a:prstGeom>
          <a:noFill/>
          <a:ln>
            <a:noFill/>
          </a:ln>
        </p:spPr>
      </p:pic>
      <p:sp>
        <p:nvSpPr>
          <p:cNvPr id="341" name="Google Shape;341;p22"/>
          <p:cNvSpPr txBox="1">
            <a:spLocks noGrp="1"/>
          </p:cNvSpPr>
          <p:nvPr>
            <p:ph type="title"/>
          </p:nvPr>
        </p:nvSpPr>
        <p:spPr>
          <a:xfrm>
            <a:off x="311700" y="445025"/>
            <a:ext cx="5615400" cy="707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sz="1800" b="1"/>
              <a:t>Single-cell RNA-seq (scRNA-seq)</a:t>
            </a:r>
            <a:endParaRPr sz="1800" b="1"/>
          </a:p>
          <a:p>
            <a:pPr marL="0" lvl="0" indent="0" algn="l" rtl="0">
              <a:lnSpc>
                <a:spcPct val="100000"/>
              </a:lnSpc>
              <a:spcBef>
                <a:spcPts val="0"/>
              </a:spcBef>
              <a:spcAft>
                <a:spcPts val="0"/>
              </a:spcAft>
              <a:buSzPts val="2800"/>
              <a:buNone/>
            </a:pPr>
            <a:r>
              <a:rPr lang="pt-BR" sz="1800"/>
              <a:t>Princípios</a:t>
            </a:r>
            <a:endParaRPr sz="1800"/>
          </a:p>
        </p:txBody>
      </p:sp>
      <p:sp>
        <p:nvSpPr>
          <p:cNvPr id="342" name="Google Shape;342;p22"/>
          <p:cNvSpPr txBox="1">
            <a:spLocks noGrp="1"/>
          </p:cNvSpPr>
          <p:nvPr>
            <p:ph type="body" idx="1"/>
          </p:nvPr>
        </p:nvSpPr>
        <p:spPr>
          <a:xfrm>
            <a:off x="733200" y="1324600"/>
            <a:ext cx="3431100" cy="339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pt-BR" sz="1500">
                <a:solidFill>
                  <a:schemeClr val="dk1"/>
                </a:solidFill>
              </a:rPr>
              <a:t>Chromium 10X Genomics (</a:t>
            </a:r>
            <a:r>
              <a:rPr lang="pt-BR" sz="1500" i="1">
                <a:solidFill>
                  <a:schemeClr val="dk1"/>
                </a:solidFill>
              </a:rPr>
              <a:t>droplet-seq</a:t>
            </a:r>
            <a:r>
              <a:rPr lang="pt-BR" sz="1500">
                <a:solidFill>
                  <a:schemeClr val="dk1"/>
                </a:solidFill>
              </a:rPr>
              <a:t>)</a:t>
            </a:r>
            <a:endParaRPr sz="1500">
              <a:solidFill>
                <a:schemeClr val="dk1"/>
              </a:solidFill>
            </a:endParaRPr>
          </a:p>
          <a:p>
            <a:pPr marL="457200" lvl="0" indent="-323850" algn="l" rtl="0">
              <a:lnSpc>
                <a:spcPct val="115000"/>
              </a:lnSpc>
              <a:spcBef>
                <a:spcPts val="1600"/>
              </a:spcBef>
              <a:spcAft>
                <a:spcPts val="0"/>
              </a:spcAft>
              <a:buClr>
                <a:schemeClr val="dk1"/>
              </a:buClr>
              <a:buSzPts val="1500"/>
              <a:buAutoNum type="arabicPeriod"/>
            </a:pPr>
            <a:r>
              <a:rPr lang="pt-BR" sz="1500">
                <a:solidFill>
                  <a:schemeClr val="dk1"/>
                </a:solidFill>
              </a:rPr>
              <a:t>Obtenção de células únicas:</a:t>
            </a:r>
            <a:endParaRPr sz="1500">
              <a:solidFill>
                <a:schemeClr val="dk1"/>
              </a:solidFill>
            </a:endParaRPr>
          </a:p>
          <a:p>
            <a:pPr marL="457200" lvl="0" indent="-323850" algn="l" rtl="0">
              <a:lnSpc>
                <a:spcPct val="115000"/>
              </a:lnSpc>
              <a:spcBef>
                <a:spcPts val="0"/>
              </a:spcBef>
              <a:spcAft>
                <a:spcPts val="0"/>
              </a:spcAft>
              <a:buClr>
                <a:schemeClr val="dk1"/>
              </a:buClr>
              <a:buSzPts val="1500"/>
              <a:buAutoNum type="arabicPeriod"/>
            </a:pPr>
            <a:r>
              <a:rPr lang="pt-BR" sz="1500">
                <a:solidFill>
                  <a:schemeClr val="dk1"/>
                </a:solidFill>
              </a:rPr>
              <a:t>Amplificação de cDNA de forma célula-específica.</a:t>
            </a:r>
            <a:endParaRPr sz="1500">
              <a:solidFill>
                <a:schemeClr val="dk1"/>
              </a:solidFill>
            </a:endParaRPr>
          </a:p>
          <a:p>
            <a:pPr marL="457200" lvl="0" indent="-323850" algn="l" rtl="0">
              <a:lnSpc>
                <a:spcPct val="115000"/>
              </a:lnSpc>
              <a:spcBef>
                <a:spcPts val="0"/>
              </a:spcBef>
              <a:spcAft>
                <a:spcPts val="0"/>
              </a:spcAft>
              <a:buClr>
                <a:schemeClr val="dk1"/>
              </a:buClr>
              <a:buSzPts val="1500"/>
              <a:buAutoNum type="arabicPeriod"/>
            </a:pPr>
            <a:r>
              <a:rPr lang="pt-BR" sz="1500">
                <a:solidFill>
                  <a:schemeClr val="dk1"/>
                </a:solidFill>
              </a:rPr>
              <a:t>Marcação das bibliotecas de cDNA de forma célula-específica.</a:t>
            </a:r>
            <a:endParaRPr sz="1500">
              <a:solidFill>
                <a:schemeClr val="dk1"/>
              </a:solidFill>
            </a:endParaRPr>
          </a:p>
        </p:txBody>
      </p:sp>
      <p:pic>
        <p:nvPicPr>
          <p:cNvPr id="343" name="Google Shape;343;p22"/>
          <p:cNvPicPr preferRelativeResize="0"/>
          <p:nvPr/>
        </p:nvPicPr>
        <p:blipFill rotWithShape="1">
          <a:blip r:embed="rId3">
            <a:alphaModFix/>
          </a:blip>
          <a:srcRect r="56238"/>
          <a:stretch/>
        </p:blipFill>
        <p:spPr>
          <a:xfrm>
            <a:off x="4316700" y="542825"/>
            <a:ext cx="2045800" cy="2486125"/>
          </a:xfrm>
          <a:prstGeom prst="rect">
            <a:avLst/>
          </a:prstGeom>
          <a:noFill/>
          <a:ln>
            <a:noFill/>
          </a:ln>
        </p:spPr>
      </p:pic>
      <p:pic>
        <p:nvPicPr>
          <p:cNvPr id="344" name="Google Shape;344;p22"/>
          <p:cNvPicPr preferRelativeResize="0"/>
          <p:nvPr/>
        </p:nvPicPr>
        <p:blipFill rotWithShape="1">
          <a:blip r:embed="rId4">
            <a:alphaModFix/>
          </a:blip>
          <a:srcRect b="11925"/>
          <a:stretch/>
        </p:blipFill>
        <p:spPr>
          <a:xfrm>
            <a:off x="6165725" y="3033463"/>
            <a:ext cx="2196050" cy="1785375"/>
          </a:xfrm>
          <a:prstGeom prst="rect">
            <a:avLst/>
          </a:prstGeom>
          <a:noFill/>
          <a:ln>
            <a:noFill/>
          </a:ln>
        </p:spPr>
      </p:pic>
      <p:sp>
        <p:nvSpPr>
          <p:cNvPr id="345" name="Google Shape;345;p22"/>
          <p:cNvSpPr txBox="1"/>
          <p:nvPr/>
        </p:nvSpPr>
        <p:spPr>
          <a:xfrm>
            <a:off x="3766800" y="919375"/>
            <a:ext cx="1610400" cy="63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pt-BR" sz="1600" b="0" i="0" u="none" strike="noStrike" cap="none">
                <a:solidFill>
                  <a:schemeClr val="lt1"/>
                </a:solidFill>
                <a:highlight>
                  <a:schemeClr val="dk2"/>
                </a:highlight>
                <a:latin typeface="Proxima Nova"/>
                <a:ea typeface="Proxima Nova"/>
                <a:cs typeface="Proxima Nova"/>
                <a:sym typeface="Proxima Nova"/>
              </a:rPr>
              <a:t>Chip</a:t>
            </a:r>
            <a:endParaRPr sz="1600" b="0" i="0" u="none" strike="noStrike" cap="none">
              <a:solidFill>
                <a:schemeClr val="lt1"/>
              </a:solidFill>
              <a:highlight>
                <a:schemeClr val="dk2"/>
              </a:highlight>
              <a:latin typeface="Proxima Nova"/>
              <a:ea typeface="Proxima Nova"/>
              <a:cs typeface="Proxima Nova"/>
              <a:sym typeface="Proxima Nova"/>
            </a:endParaRPr>
          </a:p>
        </p:txBody>
      </p:sp>
      <p:sp>
        <p:nvSpPr>
          <p:cNvPr id="346" name="Google Shape;346;p22"/>
          <p:cNvSpPr txBox="1"/>
          <p:nvPr/>
        </p:nvSpPr>
        <p:spPr>
          <a:xfrm>
            <a:off x="6362500" y="234000"/>
            <a:ext cx="1610400" cy="63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pt-BR" sz="1600" b="0" i="0" u="none" strike="noStrike" cap="none">
                <a:solidFill>
                  <a:schemeClr val="lt1"/>
                </a:solidFill>
                <a:highlight>
                  <a:schemeClr val="dk2"/>
                </a:highlight>
                <a:latin typeface="Proxima Nova"/>
                <a:ea typeface="Proxima Nova"/>
                <a:cs typeface="Proxima Nova"/>
                <a:sym typeface="Proxima Nova"/>
              </a:rPr>
              <a:t>Equipamento de microfluídica</a:t>
            </a:r>
            <a:endParaRPr sz="1600" b="0" i="0" u="none" strike="noStrike" cap="none">
              <a:solidFill>
                <a:schemeClr val="lt1"/>
              </a:solidFill>
              <a:highlight>
                <a:schemeClr val="dk2"/>
              </a:highlight>
              <a:latin typeface="Proxima Nova"/>
              <a:ea typeface="Proxima Nova"/>
              <a:cs typeface="Proxima Nova"/>
              <a:sym typeface="Proxima Nova"/>
            </a:endParaRPr>
          </a:p>
        </p:txBody>
      </p:sp>
      <p:sp>
        <p:nvSpPr>
          <p:cNvPr id="347" name="Google Shape;347;p22"/>
          <p:cNvSpPr txBox="1"/>
          <p:nvPr/>
        </p:nvSpPr>
        <p:spPr>
          <a:xfrm>
            <a:off x="4937475" y="3410050"/>
            <a:ext cx="1610400" cy="63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pt-BR" sz="1600" b="0" i="0" u="none" strike="noStrike" cap="none">
                <a:solidFill>
                  <a:schemeClr val="lt1"/>
                </a:solidFill>
                <a:highlight>
                  <a:schemeClr val="dk2"/>
                </a:highlight>
                <a:latin typeface="Proxima Nova"/>
                <a:ea typeface="Proxima Nova"/>
                <a:cs typeface="Proxima Nova"/>
                <a:sym typeface="Proxima Nova"/>
              </a:rPr>
              <a:t>RT-PCR</a:t>
            </a:r>
            <a:endParaRPr sz="1600" b="0" i="0" u="none" strike="noStrike" cap="none">
              <a:solidFill>
                <a:schemeClr val="lt1"/>
              </a:solidFill>
              <a:highlight>
                <a:schemeClr val="dk2"/>
              </a:highlight>
              <a:latin typeface="Proxima Nova"/>
              <a:ea typeface="Proxima Nova"/>
              <a:cs typeface="Proxima Nova"/>
              <a:sym typeface="Proxima Nova"/>
            </a:endParaRPr>
          </a:p>
        </p:txBody>
      </p:sp>
      <p:sp>
        <p:nvSpPr>
          <p:cNvPr id="348" name="Google Shape;348;p22"/>
          <p:cNvSpPr txBox="1"/>
          <p:nvPr/>
        </p:nvSpPr>
        <p:spPr>
          <a:xfrm>
            <a:off x="6392075" y="2546050"/>
            <a:ext cx="1610400" cy="63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pt-BR" sz="1600" b="0" i="0" u="none" strike="noStrike" cap="none">
                <a:solidFill>
                  <a:schemeClr val="lt1"/>
                </a:solidFill>
                <a:highlight>
                  <a:schemeClr val="dk2"/>
                </a:highlight>
                <a:latin typeface="Proxima Nova"/>
                <a:ea typeface="Proxima Nova"/>
                <a:cs typeface="Proxima Nova"/>
                <a:sym typeface="Proxima Nova"/>
              </a:rPr>
              <a:t>GEMs</a:t>
            </a:r>
            <a:endParaRPr sz="1600" b="0" i="0" u="none" strike="noStrike" cap="none">
              <a:solidFill>
                <a:schemeClr val="lt1"/>
              </a:solidFill>
              <a:highlight>
                <a:schemeClr val="dk2"/>
              </a:highlight>
              <a:latin typeface="Proxima Nova"/>
              <a:ea typeface="Proxima Nova"/>
              <a:cs typeface="Proxima Nova"/>
              <a:sym typeface="Proxima Nova"/>
            </a:endParaRPr>
          </a:p>
        </p:txBody>
      </p:sp>
      <p:sp>
        <p:nvSpPr>
          <p:cNvPr id="349" name="Google Shape;349;p22"/>
          <p:cNvSpPr/>
          <p:nvPr/>
        </p:nvSpPr>
        <p:spPr>
          <a:xfrm rot="517948">
            <a:off x="5925949" y="2285115"/>
            <a:ext cx="910701" cy="1151883"/>
          </a:xfrm>
          <a:custGeom>
            <a:avLst/>
            <a:gdLst/>
            <a:ahLst/>
            <a:cxnLst/>
            <a:rect l="l" t="t" r="r" b="b"/>
            <a:pathLst>
              <a:path w="36427" h="46074" extrusionOk="0">
                <a:moveTo>
                  <a:pt x="36308" y="0"/>
                </a:moveTo>
                <a:cubicBezTo>
                  <a:pt x="36785" y="6206"/>
                  <a:pt x="34399" y="13823"/>
                  <a:pt x="29220" y="17277"/>
                </a:cubicBezTo>
                <a:cubicBezTo>
                  <a:pt x="21052" y="22724"/>
                  <a:pt x="9743" y="22205"/>
                  <a:pt x="1753" y="27910"/>
                </a:cubicBezTo>
                <a:cubicBezTo>
                  <a:pt x="-4282" y="32220"/>
                  <a:pt x="7184" y="46074"/>
                  <a:pt x="14600" y="46074"/>
                </a:cubicBezTo>
              </a:path>
            </a:pathLst>
          </a:cu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50" name="Google Shape;350;p22"/>
          <p:cNvPicPr preferRelativeResize="0"/>
          <p:nvPr/>
        </p:nvPicPr>
        <p:blipFill rotWithShape="1">
          <a:blip r:embed="rId5">
            <a:alphaModFix/>
          </a:blip>
          <a:srcRect/>
          <a:stretch/>
        </p:blipFill>
        <p:spPr>
          <a:xfrm>
            <a:off x="2525073" y="3496850"/>
            <a:ext cx="1543100" cy="992000"/>
          </a:xfrm>
          <a:prstGeom prst="rect">
            <a:avLst/>
          </a:prstGeom>
          <a:noFill/>
          <a:ln>
            <a:noFill/>
          </a:ln>
        </p:spPr>
      </p:pic>
      <p:sp>
        <p:nvSpPr>
          <p:cNvPr id="351" name="Google Shape;351;p22"/>
          <p:cNvSpPr/>
          <p:nvPr/>
        </p:nvSpPr>
        <p:spPr>
          <a:xfrm>
            <a:off x="5440700" y="416714"/>
            <a:ext cx="1017325" cy="699225"/>
          </a:xfrm>
          <a:custGeom>
            <a:avLst/>
            <a:gdLst/>
            <a:ahLst/>
            <a:cxnLst/>
            <a:rect l="l" t="t" r="r" b="b"/>
            <a:pathLst>
              <a:path w="40693" h="27969" extrusionOk="0">
                <a:moveTo>
                  <a:pt x="958" y="15606"/>
                </a:moveTo>
                <a:cubicBezTo>
                  <a:pt x="-47" y="11585"/>
                  <a:pt x="-864" y="5941"/>
                  <a:pt x="2283" y="3244"/>
                </a:cubicBezTo>
                <a:cubicBezTo>
                  <a:pt x="7100" y="-884"/>
                  <a:pt x="15470" y="-656"/>
                  <a:pt x="21267" y="1920"/>
                </a:cubicBezTo>
                <a:cubicBezTo>
                  <a:pt x="31165" y="6319"/>
                  <a:pt x="31007" y="23121"/>
                  <a:pt x="40693" y="27969"/>
                </a:cubicBezTo>
              </a:path>
            </a:pathLst>
          </a:cu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4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5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4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4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23"/>
          <p:cNvSpPr txBox="1">
            <a:spLocks noGrp="1"/>
          </p:cNvSpPr>
          <p:nvPr>
            <p:ph type="title"/>
          </p:nvPr>
        </p:nvSpPr>
        <p:spPr>
          <a:xfrm>
            <a:off x="311700" y="445025"/>
            <a:ext cx="5615400" cy="707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sz="1800" b="1"/>
              <a:t>Single-cell RNA-seq (scRNA-seq)</a:t>
            </a:r>
            <a:endParaRPr sz="1800" b="1"/>
          </a:p>
          <a:p>
            <a:pPr marL="0" lvl="0" indent="0" algn="l" rtl="0">
              <a:lnSpc>
                <a:spcPct val="100000"/>
              </a:lnSpc>
              <a:spcBef>
                <a:spcPts val="0"/>
              </a:spcBef>
              <a:spcAft>
                <a:spcPts val="0"/>
              </a:spcAft>
              <a:buSzPts val="2800"/>
              <a:buNone/>
            </a:pPr>
            <a:r>
              <a:rPr lang="pt-BR" sz="1800"/>
              <a:t>Princípios</a:t>
            </a:r>
            <a:endParaRPr sz="1800"/>
          </a:p>
        </p:txBody>
      </p:sp>
      <p:pic>
        <p:nvPicPr>
          <p:cNvPr id="357" name="Google Shape;357;p23"/>
          <p:cNvPicPr preferRelativeResize="0"/>
          <p:nvPr/>
        </p:nvPicPr>
        <p:blipFill rotWithShape="1">
          <a:blip r:embed="rId3">
            <a:alphaModFix/>
          </a:blip>
          <a:srcRect/>
          <a:stretch/>
        </p:blipFill>
        <p:spPr>
          <a:xfrm>
            <a:off x="1681400" y="1076225"/>
            <a:ext cx="5321340" cy="1327550"/>
          </a:xfrm>
          <a:prstGeom prst="rect">
            <a:avLst/>
          </a:prstGeom>
          <a:noFill/>
          <a:ln>
            <a:noFill/>
          </a:ln>
        </p:spPr>
      </p:pic>
      <p:sp>
        <p:nvSpPr>
          <p:cNvPr id="358" name="Google Shape;358;p23"/>
          <p:cNvSpPr txBox="1"/>
          <p:nvPr/>
        </p:nvSpPr>
        <p:spPr>
          <a:xfrm>
            <a:off x="1133475" y="2403775"/>
            <a:ext cx="1610400" cy="63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pt-BR" sz="1600" b="0" i="0" u="none" strike="noStrike" cap="none">
                <a:solidFill>
                  <a:schemeClr val="lt1"/>
                </a:solidFill>
                <a:highlight>
                  <a:schemeClr val="dk2"/>
                </a:highlight>
                <a:latin typeface="Proxima Nova"/>
                <a:ea typeface="Proxima Nova"/>
                <a:cs typeface="Proxima Nova"/>
                <a:sym typeface="Proxima Nova"/>
              </a:rPr>
              <a:t>Preparo de amostra</a:t>
            </a:r>
            <a:endParaRPr sz="1600" b="0" i="0" u="none" strike="noStrike" cap="none">
              <a:solidFill>
                <a:schemeClr val="lt1"/>
              </a:solidFill>
              <a:highlight>
                <a:schemeClr val="dk2"/>
              </a:highlight>
              <a:latin typeface="Proxima Nova"/>
              <a:ea typeface="Proxima Nova"/>
              <a:cs typeface="Proxima Nova"/>
              <a:sym typeface="Proxima Nova"/>
            </a:endParaRPr>
          </a:p>
        </p:txBody>
      </p:sp>
      <p:sp>
        <p:nvSpPr>
          <p:cNvPr id="359" name="Google Shape;359;p23"/>
          <p:cNvSpPr txBox="1"/>
          <p:nvPr/>
        </p:nvSpPr>
        <p:spPr>
          <a:xfrm>
            <a:off x="2828050" y="2403775"/>
            <a:ext cx="1610400" cy="63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pt-BR" sz="1600" b="0" i="0" u="none" strike="noStrike" cap="none">
                <a:solidFill>
                  <a:schemeClr val="lt1"/>
                </a:solidFill>
                <a:highlight>
                  <a:schemeClr val="dk2"/>
                </a:highlight>
                <a:latin typeface="Proxima Nova"/>
                <a:ea typeface="Proxima Nova"/>
                <a:cs typeface="Proxima Nova"/>
                <a:sym typeface="Proxima Nova"/>
              </a:rPr>
              <a:t>Captura de células únicas</a:t>
            </a:r>
            <a:endParaRPr sz="1600" b="0" i="0" u="none" strike="noStrike" cap="none">
              <a:solidFill>
                <a:schemeClr val="lt1"/>
              </a:solidFill>
              <a:highlight>
                <a:schemeClr val="dk2"/>
              </a:highlight>
              <a:latin typeface="Proxima Nova"/>
              <a:ea typeface="Proxima Nova"/>
              <a:cs typeface="Proxima Nova"/>
              <a:sym typeface="Proxima Nova"/>
            </a:endParaRPr>
          </a:p>
        </p:txBody>
      </p:sp>
      <p:sp>
        <p:nvSpPr>
          <p:cNvPr id="360" name="Google Shape;360;p23"/>
          <p:cNvSpPr txBox="1"/>
          <p:nvPr/>
        </p:nvSpPr>
        <p:spPr>
          <a:xfrm>
            <a:off x="4514650" y="2403775"/>
            <a:ext cx="1610400" cy="63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pt-BR" sz="1600" b="0" i="0" u="none" strike="noStrike" cap="none">
                <a:solidFill>
                  <a:schemeClr val="lt1"/>
                </a:solidFill>
                <a:highlight>
                  <a:schemeClr val="dk2"/>
                </a:highlight>
                <a:latin typeface="Proxima Nova"/>
                <a:ea typeface="Proxima Nova"/>
                <a:cs typeface="Proxima Nova"/>
                <a:sym typeface="Proxima Nova"/>
              </a:rPr>
              <a:t>Biblioteca de cDNA</a:t>
            </a:r>
            <a:endParaRPr sz="1600" b="0" i="0" u="none" strike="noStrike" cap="none">
              <a:solidFill>
                <a:schemeClr val="lt1"/>
              </a:solidFill>
              <a:highlight>
                <a:schemeClr val="dk2"/>
              </a:highlight>
              <a:latin typeface="Proxima Nova"/>
              <a:ea typeface="Proxima Nova"/>
              <a:cs typeface="Proxima Nova"/>
              <a:sym typeface="Proxima Nova"/>
            </a:endParaRPr>
          </a:p>
        </p:txBody>
      </p:sp>
      <p:sp>
        <p:nvSpPr>
          <p:cNvPr id="361" name="Google Shape;361;p23"/>
          <p:cNvSpPr txBox="1"/>
          <p:nvPr/>
        </p:nvSpPr>
        <p:spPr>
          <a:xfrm>
            <a:off x="6201250" y="2403775"/>
            <a:ext cx="1809000" cy="63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pt-BR" sz="1600" b="0" i="0" u="none" strike="noStrike" cap="none">
                <a:solidFill>
                  <a:schemeClr val="lt1"/>
                </a:solidFill>
                <a:highlight>
                  <a:schemeClr val="dk2"/>
                </a:highlight>
                <a:latin typeface="Proxima Nova"/>
                <a:ea typeface="Proxima Nova"/>
                <a:cs typeface="Proxima Nova"/>
                <a:sym typeface="Proxima Nova"/>
              </a:rPr>
              <a:t>Sequenciamento (NGS)</a:t>
            </a:r>
            <a:endParaRPr sz="1600" b="0" i="0" u="none" strike="noStrike" cap="none">
              <a:solidFill>
                <a:schemeClr val="lt1"/>
              </a:solidFill>
              <a:highlight>
                <a:schemeClr val="dk2"/>
              </a:highlight>
              <a:latin typeface="Proxima Nova"/>
              <a:ea typeface="Proxima Nova"/>
              <a:cs typeface="Proxima Nova"/>
              <a:sym typeface="Proxima Nova"/>
            </a:endParaRPr>
          </a:p>
        </p:txBody>
      </p:sp>
      <p:sp>
        <p:nvSpPr>
          <p:cNvPr id="362" name="Google Shape;362;p23"/>
          <p:cNvSpPr txBox="1">
            <a:spLocks noGrp="1"/>
          </p:cNvSpPr>
          <p:nvPr>
            <p:ph type="body" idx="1"/>
          </p:nvPr>
        </p:nvSpPr>
        <p:spPr>
          <a:xfrm>
            <a:off x="632225" y="3033775"/>
            <a:ext cx="2012700" cy="17739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800"/>
              <a:buNone/>
            </a:pPr>
            <a:r>
              <a:rPr lang="pt-BR" sz="1300" b="1">
                <a:solidFill>
                  <a:schemeClr val="dk1"/>
                </a:solidFill>
              </a:rPr>
              <a:t>Suspensão de células únicas</a:t>
            </a:r>
            <a:r>
              <a:rPr lang="pt-BR" sz="1300">
                <a:solidFill>
                  <a:schemeClr val="dk1"/>
                </a:solidFill>
              </a:rPr>
              <a:t>!</a:t>
            </a:r>
            <a:endParaRPr sz="1300">
              <a:solidFill>
                <a:schemeClr val="dk1"/>
              </a:solidFill>
            </a:endParaRPr>
          </a:p>
          <a:p>
            <a:pPr marL="0" lvl="0" indent="0" algn="ctr" rtl="0">
              <a:lnSpc>
                <a:spcPct val="100000"/>
              </a:lnSpc>
              <a:spcBef>
                <a:spcPts val="600"/>
              </a:spcBef>
              <a:spcAft>
                <a:spcPts val="0"/>
              </a:spcAft>
              <a:buSzPts val="1800"/>
              <a:buNone/>
            </a:pPr>
            <a:r>
              <a:rPr lang="pt-BR" sz="1300">
                <a:solidFill>
                  <a:schemeClr val="dk1"/>
                </a:solidFill>
              </a:rPr>
              <a:t>Preparo tecido-dependente.</a:t>
            </a:r>
            <a:endParaRPr sz="1300">
              <a:solidFill>
                <a:schemeClr val="dk1"/>
              </a:solidFill>
            </a:endParaRPr>
          </a:p>
          <a:p>
            <a:pPr marL="0" lvl="0" indent="0" algn="ctr" rtl="0">
              <a:lnSpc>
                <a:spcPct val="100000"/>
              </a:lnSpc>
              <a:spcBef>
                <a:spcPts val="600"/>
              </a:spcBef>
              <a:spcAft>
                <a:spcPts val="600"/>
              </a:spcAft>
              <a:buSzPts val="1800"/>
              <a:buNone/>
            </a:pPr>
            <a:r>
              <a:rPr lang="pt-BR" sz="1300">
                <a:solidFill>
                  <a:schemeClr val="dk1"/>
                </a:solidFill>
              </a:rPr>
              <a:t>Perda de células sensíveis.</a:t>
            </a:r>
            <a:endParaRPr sz="1300">
              <a:solidFill>
                <a:schemeClr val="dk1"/>
              </a:solidFill>
            </a:endParaRPr>
          </a:p>
        </p:txBody>
      </p:sp>
      <p:sp>
        <p:nvSpPr>
          <p:cNvPr id="363" name="Google Shape;363;p23"/>
          <p:cNvSpPr txBox="1">
            <a:spLocks noGrp="1"/>
          </p:cNvSpPr>
          <p:nvPr>
            <p:ph type="body" idx="1"/>
          </p:nvPr>
        </p:nvSpPr>
        <p:spPr>
          <a:xfrm>
            <a:off x="2645050" y="3122375"/>
            <a:ext cx="1869600" cy="114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600"/>
              </a:spcAft>
              <a:buSzPts val="1800"/>
              <a:buNone/>
            </a:pPr>
            <a:r>
              <a:rPr lang="pt-BR" sz="1300">
                <a:solidFill>
                  <a:schemeClr val="dk1"/>
                </a:solidFill>
              </a:rPr>
              <a:t>Baseado em gotículas (</a:t>
            </a:r>
            <a:r>
              <a:rPr lang="pt-BR" sz="1300" b="1" i="1">
                <a:solidFill>
                  <a:schemeClr val="dk1"/>
                </a:solidFill>
              </a:rPr>
              <a:t>droplet-based</a:t>
            </a:r>
            <a:r>
              <a:rPr lang="pt-BR" sz="1300">
                <a:solidFill>
                  <a:schemeClr val="dk1"/>
                </a:solidFill>
              </a:rPr>
              <a:t>), formadas por </a:t>
            </a:r>
            <a:r>
              <a:rPr lang="pt-BR" sz="1300" b="1">
                <a:solidFill>
                  <a:schemeClr val="dk1"/>
                </a:solidFill>
              </a:rPr>
              <a:t>microfluídica</a:t>
            </a:r>
            <a:r>
              <a:rPr lang="pt-BR" sz="1300">
                <a:solidFill>
                  <a:schemeClr val="dk1"/>
                </a:solidFill>
              </a:rPr>
              <a:t>.</a:t>
            </a:r>
            <a:endParaRPr sz="1300">
              <a:solidFill>
                <a:schemeClr val="dk1"/>
              </a:solidFill>
            </a:endParaRPr>
          </a:p>
        </p:txBody>
      </p:sp>
      <p:sp>
        <p:nvSpPr>
          <p:cNvPr id="364" name="Google Shape;364;p23"/>
          <p:cNvSpPr txBox="1">
            <a:spLocks noGrp="1"/>
          </p:cNvSpPr>
          <p:nvPr>
            <p:ph type="body" idx="1"/>
          </p:nvPr>
        </p:nvSpPr>
        <p:spPr>
          <a:xfrm>
            <a:off x="4590850" y="3198575"/>
            <a:ext cx="1869600" cy="114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800"/>
              <a:buNone/>
            </a:pPr>
            <a:r>
              <a:rPr lang="pt-BR" sz="1300" b="1">
                <a:solidFill>
                  <a:schemeClr val="dk1"/>
                </a:solidFill>
              </a:rPr>
              <a:t>Transcrito incompleto</a:t>
            </a:r>
            <a:r>
              <a:rPr lang="pt-BR" sz="1300">
                <a:solidFill>
                  <a:schemeClr val="dk1"/>
                </a:solidFill>
              </a:rPr>
              <a:t> (extremidade 5’ ou 3’).</a:t>
            </a:r>
            <a:endParaRPr sz="1300">
              <a:solidFill>
                <a:schemeClr val="dk1"/>
              </a:solidFill>
            </a:endParaRPr>
          </a:p>
          <a:p>
            <a:pPr marL="0" lvl="0" indent="0" algn="ctr" rtl="0">
              <a:lnSpc>
                <a:spcPct val="100000"/>
              </a:lnSpc>
              <a:spcBef>
                <a:spcPts val="600"/>
              </a:spcBef>
              <a:spcAft>
                <a:spcPts val="0"/>
              </a:spcAft>
              <a:buSzPts val="1800"/>
              <a:buNone/>
            </a:pPr>
            <a:r>
              <a:rPr lang="pt-BR" sz="1300">
                <a:solidFill>
                  <a:schemeClr val="dk1"/>
                </a:solidFill>
              </a:rPr>
              <a:t>Amplificação por PCR.</a:t>
            </a:r>
            <a:endParaRPr sz="1300">
              <a:solidFill>
                <a:schemeClr val="dk1"/>
              </a:solidFill>
            </a:endParaRPr>
          </a:p>
          <a:p>
            <a:pPr marL="0" lvl="0" indent="0" algn="ctr" rtl="0">
              <a:lnSpc>
                <a:spcPct val="100000"/>
              </a:lnSpc>
              <a:spcBef>
                <a:spcPts val="600"/>
              </a:spcBef>
              <a:spcAft>
                <a:spcPts val="600"/>
              </a:spcAft>
              <a:buSzPts val="1800"/>
              <a:buNone/>
            </a:pPr>
            <a:endParaRPr sz="1300">
              <a:solidFill>
                <a:schemeClr val="dk1"/>
              </a:solidFill>
            </a:endParaRPr>
          </a:p>
        </p:txBody>
      </p:sp>
      <p:sp>
        <p:nvSpPr>
          <p:cNvPr id="365" name="Google Shape;365;p23"/>
          <p:cNvSpPr txBox="1">
            <a:spLocks noGrp="1"/>
          </p:cNvSpPr>
          <p:nvPr>
            <p:ph type="body" idx="1"/>
          </p:nvPr>
        </p:nvSpPr>
        <p:spPr>
          <a:xfrm>
            <a:off x="6516650" y="3197250"/>
            <a:ext cx="1869600" cy="114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800"/>
              <a:buNone/>
            </a:pPr>
            <a:r>
              <a:rPr lang="pt-BR" sz="1300" b="1">
                <a:solidFill>
                  <a:schemeClr val="dk1"/>
                </a:solidFill>
              </a:rPr>
              <a:t>Baixa cobertura</a:t>
            </a:r>
            <a:endParaRPr sz="1300" b="1">
              <a:solidFill>
                <a:schemeClr val="dk1"/>
              </a:solidFill>
            </a:endParaRPr>
          </a:p>
          <a:p>
            <a:pPr marL="0" lvl="0" indent="0" algn="ctr" rtl="0">
              <a:lnSpc>
                <a:spcPct val="100000"/>
              </a:lnSpc>
              <a:spcBef>
                <a:spcPts val="600"/>
              </a:spcBef>
              <a:spcAft>
                <a:spcPts val="0"/>
              </a:spcAft>
              <a:buSzPts val="1800"/>
              <a:buNone/>
            </a:pPr>
            <a:r>
              <a:rPr lang="pt-BR" sz="1300">
                <a:solidFill>
                  <a:schemeClr val="dk1"/>
                </a:solidFill>
              </a:rPr>
              <a:t>(muitos transcritos ficam de fora!)</a:t>
            </a:r>
            <a:endParaRPr sz="1300">
              <a:solidFill>
                <a:schemeClr val="dk1"/>
              </a:solidFill>
            </a:endParaRPr>
          </a:p>
          <a:p>
            <a:pPr marL="0" lvl="0" indent="0" algn="ctr" rtl="0">
              <a:lnSpc>
                <a:spcPct val="100000"/>
              </a:lnSpc>
              <a:spcBef>
                <a:spcPts val="600"/>
              </a:spcBef>
              <a:spcAft>
                <a:spcPts val="600"/>
              </a:spcAft>
              <a:buSzPts val="1800"/>
              <a:buNone/>
            </a:pPr>
            <a:endParaRPr sz="1300">
              <a:solidFill>
                <a:schemeClr val="dk1"/>
              </a:solidFill>
            </a:endParaRPr>
          </a:p>
        </p:txBody>
      </p:sp>
      <p:sp>
        <p:nvSpPr>
          <p:cNvPr id="366" name="Google Shape;366;p23"/>
          <p:cNvSpPr txBox="1"/>
          <p:nvPr/>
        </p:nvSpPr>
        <p:spPr>
          <a:xfrm>
            <a:off x="3978475" y="304675"/>
            <a:ext cx="4826700" cy="63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pt-BR" sz="1400" b="0" i="0" u="none" strike="noStrike" cap="none">
                <a:solidFill>
                  <a:schemeClr val="lt1"/>
                </a:solidFill>
                <a:highlight>
                  <a:schemeClr val="accent5"/>
                </a:highlight>
                <a:latin typeface="Proxima Nova"/>
                <a:ea typeface="Proxima Nova"/>
                <a:cs typeface="Proxima Nova"/>
                <a:sym typeface="Proxima Nova"/>
              </a:rPr>
              <a:t>Não é  o melhor método para caracterizar </a:t>
            </a:r>
            <a:r>
              <a:rPr lang="pt-BR" sz="1400" b="1" i="0" u="none" strike="noStrike" cap="none">
                <a:solidFill>
                  <a:schemeClr val="lt1"/>
                </a:solidFill>
                <a:highlight>
                  <a:schemeClr val="accent5"/>
                </a:highlight>
                <a:latin typeface="Proxima Nova"/>
                <a:ea typeface="Proxima Nova"/>
                <a:cs typeface="Proxima Nova"/>
                <a:sym typeface="Proxima Nova"/>
              </a:rPr>
              <a:t>profundamente </a:t>
            </a:r>
            <a:r>
              <a:rPr lang="pt-BR" sz="1400" b="0" i="0" u="none" strike="noStrike" cap="none">
                <a:solidFill>
                  <a:schemeClr val="lt1"/>
                </a:solidFill>
                <a:highlight>
                  <a:schemeClr val="accent5"/>
                </a:highlight>
                <a:latin typeface="Proxima Nova"/>
                <a:ea typeface="Proxima Nova"/>
                <a:cs typeface="Proxima Nova"/>
                <a:sym typeface="Proxima Nova"/>
              </a:rPr>
              <a:t>o perfil transcricional de populações celulares.</a:t>
            </a:r>
            <a:endParaRPr sz="1400" b="0" i="0" u="none" strike="noStrike" cap="none">
              <a:solidFill>
                <a:schemeClr val="lt1"/>
              </a:solidFill>
              <a:highlight>
                <a:schemeClr val="accent5"/>
              </a:highlight>
              <a:latin typeface="Proxima Nova"/>
              <a:ea typeface="Proxima Nova"/>
              <a:cs typeface="Proxima Nova"/>
              <a:sym typeface="Proxima Nova"/>
            </a:endParaRPr>
          </a:p>
        </p:txBody>
      </p:sp>
      <p:sp>
        <p:nvSpPr>
          <p:cNvPr id="367" name="Google Shape;367;p23"/>
          <p:cNvSpPr txBox="1"/>
          <p:nvPr/>
        </p:nvSpPr>
        <p:spPr>
          <a:xfrm>
            <a:off x="3614850" y="4160075"/>
            <a:ext cx="4678200" cy="63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pt-BR" sz="1400" b="0" i="0" u="none" strike="noStrike" cap="none">
                <a:solidFill>
                  <a:schemeClr val="lt1"/>
                </a:solidFill>
                <a:highlight>
                  <a:schemeClr val="dk2"/>
                </a:highlight>
                <a:latin typeface="Proxima Nova"/>
                <a:ea typeface="Proxima Nova"/>
                <a:cs typeface="Proxima Nova"/>
                <a:sym typeface="Proxima Nova"/>
              </a:rPr>
              <a:t>Poder suficiente para </a:t>
            </a:r>
            <a:r>
              <a:rPr lang="pt-BR" sz="1400" b="1" i="0" u="none" strike="noStrike" cap="none">
                <a:solidFill>
                  <a:schemeClr val="lt1"/>
                </a:solidFill>
                <a:highlight>
                  <a:schemeClr val="dk2"/>
                </a:highlight>
                <a:latin typeface="Proxima Nova"/>
                <a:ea typeface="Proxima Nova"/>
                <a:cs typeface="Proxima Nova"/>
                <a:sym typeface="Proxima Nova"/>
              </a:rPr>
              <a:t>separar tipos e estados celulares</a:t>
            </a:r>
            <a:r>
              <a:rPr lang="pt-BR" sz="1400" b="0" i="0" u="none" strike="noStrike" cap="none">
                <a:solidFill>
                  <a:schemeClr val="lt1"/>
                </a:solidFill>
                <a:highlight>
                  <a:schemeClr val="dk2"/>
                </a:highlight>
                <a:latin typeface="Proxima Nova"/>
                <a:ea typeface="Proxima Nova"/>
                <a:cs typeface="Proxima Nova"/>
                <a:sym typeface="Proxima Nova"/>
              </a:rPr>
              <a:t>.</a:t>
            </a:r>
            <a:endParaRPr sz="1400" b="0" i="0" u="none" strike="noStrike" cap="none">
              <a:solidFill>
                <a:schemeClr val="lt1"/>
              </a:solidFill>
              <a:highlight>
                <a:schemeClr val="dk2"/>
              </a:highlight>
              <a:latin typeface="Proxima Nova"/>
              <a:ea typeface="Proxima Nova"/>
              <a:cs typeface="Proxima Nova"/>
              <a:sym typeface="Proxima Nova"/>
            </a:endParaRPr>
          </a:p>
        </p:txBody>
      </p:sp>
      <p:sp>
        <p:nvSpPr>
          <p:cNvPr id="368" name="Google Shape;368;p23"/>
          <p:cNvSpPr txBox="1"/>
          <p:nvPr/>
        </p:nvSpPr>
        <p:spPr>
          <a:xfrm>
            <a:off x="4188450" y="4502875"/>
            <a:ext cx="3531000" cy="63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pt-BR" sz="1400" b="0" i="0" u="none" strike="noStrike" cap="none">
                <a:solidFill>
                  <a:schemeClr val="lt1"/>
                </a:solidFill>
                <a:highlight>
                  <a:schemeClr val="dk2"/>
                </a:highlight>
                <a:latin typeface="Proxima Nova"/>
                <a:ea typeface="Proxima Nova"/>
                <a:cs typeface="Proxima Nova"/>
                <a:sym typeface="Proxima Nova"/>
              </a:rPr>
              <a:t>Excelente </a:t>
            </a:r>
            <a:r>
              <a:rPr lang="pt-BR" sz="1400" b="1" i="0" u="none" strike="noStrike" cap="none">
                <a:solidFill>
                  <a:schemeClr val="lt1"/>
                </a:solidFill>
                <a:highlight>
                  <a:schemeClr val="dk2"/>
                </a:highlight>
                <a:latin typeface="Proxima Nova"/>
                <a:ea typeface="Proxima Nova"/>
                <a:cs typeface="Proxima Nova"/>
                <a:sym typeface="Proxima Nova"/>
              </a:rPr>
              <a:t>custo-benefício</a:t>
            </a:r>
            <a:r>
              <a:rPr lang="pt-BR" sz="1400" b="0" i="0" u="none" strike="noStrike" cap="none">
                <a:solidFill>
                  <a:schemeClr val="lt1"/>
                </a:solidFill>
                <a:highlight>
                  <a:schemeClr val="dk2"/>
                </a:highlight>
                <a:latin typeface="Proxima Nova"/>
                <a:ea typeface="Proxima Nova"/>
                <a:cs typeface="Proxima Nova"/>
                <a:sym typeface="Proxima Nova"/>
              </a:rPr>
              <a:t>: </a:t>
            </a:r>
            <a:r>
              <a:rPr lang="pt-BR" sz="1400" b="1" i="0" u="none" strike="noStrike" cap="none">
                <a:solidFill>
                  <a:schemeClr val="lt1"/>
                </a:solidFill>
                <a:highlight>
                  <a:schemeClr val="dk2"/>
                </a:highlight>
                <a:latin typeface="Proxima Nova"/>
                <a:ea typeface="Proxima Nova"/>
                <a:cs typeface="Proxima Nova"/>
                <a:sym typeface="Proxima Nova"/>
              </a:rPr>
              <a:t>células/$$</a:t>
            </a:r>
            <a:r>
              <a:rPr lang="pt-BR" sz="1400" b="0" i="0" u="none" strike="noStrike" cap="none">
                <a:solidFill>
                  <a:schemeClr val="lt1"/>
                </a:solidFill>
                <a:highlight>
                  <a:schemeClr val="dk2"/>
                </a:highlight>
                <a:latin typeface="Proxima Nova"/>
                <a:ea typeface="Proxima Nova"/>
                <a:cs typeface="Proxima Nova"/>
                <a:sym typeface="Proxima Nova"/>
              </a:rPr>
              <a:t>.</a:t>
            </a:r>
            <a:endParaRPr sz="1400" b="0" i="0" u="none" strike="noStrike" cap="none">
              <a:solidFill>
                <a:schemeClr val="lt1"/>
              </a:solidFill>
              <a:highlight>
                <a:schemeClr val="dk2"/>
              </a:highlight>
              <a:latin typeface="Proxima Nova"/>
              <a:ea typeface="Proxima Nova"/>
              <a:cs typeface="Proxima Nova"/>
              <a:sym typeface="Proxima Nov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5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6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6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6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6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6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6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6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24"/>
          <p:cNvSpPr txBox="1">
            <a:spLocks noGrp="1"/>
          </p:cNvSpPr>
          <p:nvPr>
            <p:ph type="title"/>
          </p:nvPr>
        </p:nvSpPr>
        <p:spPr>
          <a:xfrm>
            <a:off x="616500" y="445025"/>
            <a:ext cx="5615400" cy="707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sz="1600"/>
              <a:t>Outros métodos</a:t>
            </a:r>
            <a:endParaRPr sz="1600"/>
          </a:p>
          <a:p>
            <a:pPr marL="0" lvl="0" indent="0" algn="l" rtl="0">
              <a:lnSpc>
                <a:spcPct val="100000"/>
              </a:lnSpc>
              <a:spcBef>
                <a:spcPts val="0"/>
              </a:spcBef>
              <a:spcAft>
                <a:spcPts val="0"/>
              </a:spcAft>
              <a:buSzPts val="2800"/>
              <a:buNone/>
            </a:pPr>
            <a:r>
              <a:rPr lang="pt-BR" sz="2000" b="1"/>
              <a:t>BD Rhapsody</a:t>
            </a:r>
            <a:endParaRPr sz="2000" b="1"/>
          </a:p>
        </p:txBody>
      </p:sp>
      <p:pic>
        <p:nvPicPr>
          <p:cNvPr id="374" name="Google Shape;374;p24"/>
          <p:cNvPicPr preferRelativeResize="0"/>
          <p:nvPr/>
        </p:nvPicPr>
        <p:blipFill rotWithShape="1">
          <a:blip r:embed="rId3">
            <a:alphaModFix/>
          </a:blip>
          <a:srcRect/>
          <a:stretch/>
        </p:blipFill>
        <p:spPr>
          <a:xfrm>
            <a:off x="568500" y="1221863"/>
            <a:ext cx="8006991" cy="2010525"/>
          </a:xfrm>
          <a:prstGeom prst="rect">
            <a:avLst/>
          </a:prstGeom>
          <a:noFill/>
          <a:ln>
            <a:noFill/>
          </a:ln>
        </p:spPr>
      </p:pic>
      <p:pic>
        <p:nvPicPr>
          <p:cNvPr id="375" name="Google Shape;375;p24"/>
          <p:cNvPicPr preferRelativeResize="0"/>
          <p:nvPr/>
        </p:nvPicPr>
        <p:blipFill rotWithShape="1">
          <a:blip r:embed="rId4">
            <a:alphaModFix/>
          </a:blip>
          <a:srcRect l="7037" t="3846"/>
          <a:stretch/>
        </p:blipFill>
        <p:spPr>
          <a:xfrm>
            <a:off x="6938175" y="3401075"/>
            <a:ext cx="2205825" cy="1650850"/>
          </a:xfrm>
          <a:prstGeom prst="rect">
            <a:avLst/>
          </a:prstGeom>
          <a:noFill/>
          <a:ln>
            <a:noFill/>
          </a:ln>
        </p:spPr>
      </p:pic>
      <p:sp>
        <p:nvSpPr>
          <p:cNvPr id="376" name="Google Shape;376;p24"/>
          <p:cNvSpPr txBox="1"/>
          <p:nvPr/>
        </p:nvSpPr>
        <p:spPr>
          <a:xfrm>
            <a:off x="4148475" y="3301838"/>
            <a:ext cx="2789700" cy="63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pt-BR" sz="1600" b="0" i="0" u="none" strike="noStrike" cap="none">
                <a:solidFill>
                  <a:schemeClr val="lt1"/>
                </a:solidFill>
                <a:highlight>
                  <a:schemeClr val="dk2"/>
                </a:highlight>
                <a:latin typeface="Proxima Nova"/>
                <a:ea typeface="Proxima Nova"/>
                <a:cs typeface="Proxima Nova"/>
                <a:sym typeface="Proxima Nova"/>
              </a:rPr>
              <a:t>Captura de células únicas</a:t>
            </a:r>
            <a:endParaRPr sz="1600" b="0" i="0" u="none" strike="noStrike" cap="none">
              <a:solidFill>
                <a:schemeClr val="lt1"/>
              </a:solidFill>
              <a:highlight>
                <a:schemeClr val="dk2"/>
              </a:highlight>
              <a:latin typeface="Proxima Nova"/>
              <a:ea typeface="Proxima Nova"/>
              <a:cs typeface="Proxima Nova"/>
              <a:sym typeface="Proxima Nova"/>
            </a:endParaRPr>
          </a:p>
        </p:txBody>
      </p:sp>
      <p:sp>
        <p:nvSpPr>
          <p:cNvPr id="377" name="Google Shape;377;p24"/>
          <p:cNvSpPr txBox="1">
            <a:spLocks noGrp="1"/>
          </p:cNvSpPr>
          <p:nvPr>
            <p:ph type="body" idx="1"/>
          </p:nvPr>
        </p:nvSpPr>
        <p:spPr>
          <a:xfrm>
            <a:off x="4436225" y="3682713"/>
            <a:ext cx="2106900" cy="114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600"/>
              </a:spcAft>
              <a:buSzPts val="1800"/>
              <a:buNone/>
            </a:pPr>
            <a:r>
              <a:rPr lang="pt-BR" sz="1500">
                <a:solidFill>
                  <a:schemeClr val="dk1"/>
                </a:solidFill>
              </a:rPr>
              <a:t>Baseado em nanopoços (</a:t>
            </a:r>
            <a:r>
              <a:rPr lang="pt-BR" sz="1500" b="1" i="1">
                <a:solidFill>
                  <a:schemeClr val="dk1"/>
                </a:solidFill>
              </a:rPr>
              <a:t>nanowell-based</a:t>
            </a:r>
            <a:r>
              <a:rPr lang="pt-BR" sz="1500">
                <a:solidFill>
                  <a:schemeClr val="dk1"/>
                </a:solidFill>
              </a:rPr>
              <a:t>)</a:t>
            </a:r>
            <a:endParaRPr sz="1500">
              <a:solidFill>
                <a:schemeClr val="dk1"/>
              </a:solidFill>
            </a:endParaRPr>
          </a:p>
        </p:txBody>
      </p:sp>
      <p:pic>
        <p:nvPicPr>
          <p:cNvPr id="378" name="Google Shape;378;p24"/>
          <p:cNvPicPr preferRelativeResize="0"/>
          <p:nvPr/>
        </p:nvPicPr>
        <p:blipFill rotWithShape="1">
          <a:blip r:embed="rId5">
            <a:alphaModFix/>
          </a:blip>
          <a:srcRect/>
          <a:stretch/>
        </p:blipFill>
        <p:spPr>
          <a:xfrm>
            <a:off x="180525" y="3495025"/>
            <a:ext cx="2162011" cy="1401122"/>
          </a:xfrm>
          <a:prstGeom prst="rect">
            <a:avLst/>
          </a:prstGeom>
          <a:noFill/>
          <a:ln>
            <a:noFill/>
          </a:ln>
        </p:spPr>
      </p:pic>
      <p:sp>
        <p:nvSpPr>
          <p:cNvPr id="379" name="Google Shape;379;p24"/>
          <p:cNvSpPr/>
          <p:nvPr/>
        </p:nvSpPr>
        <p:spPr>
          <a:xfrm>
            <a:off x="573278" y="4117076"/>
            <a:ext cx="1769400" cy="840900"/>
          </a:xfrm>
          <a:prstGeom prst="rect">
            <a:avLst/>
          </a:prstGeom>
          <a:no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roxima Nova"/>
              <a:ea typeface="Proxima Nova"/>
              <a:cs typeface="Proxima Nova"/>
              <a:sym typeface="Proxima Nov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2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a:t>Droplet-based vs. Plate-based</a:t>
            </a:r>
            <a:endParaRPr/>
          </a:p>
        </p:txBody>
      </p:sp>
      <p:pic>
        <p:nvPicPr>
          <p:cNvPr id="385" name="Google Shape;385;p25"/>
          <p:cNvPicPr preferRelativeResize="0"/>
          <p:nvPr/>
        </p:nvPicPr>
        <p:blipFill rotWithShape="1">
          <a:blip r:embed="rId3">
            <a:alphaModFix/>
          </a:blip>
          <a:srcRect/>
          <a:stretch/>
        </p:blipFill>
        <p:spPr>
          <a:xfrm>
            <a:off x="311700" y="1552025"/>
            <a:ext cx="4123825" cy="2709075"/>
          </a:xfrm>
          <a:prstGeom prst="rect">
            <a:avLst/>
          </a:prstGeom>
          <a:noFill/>
          <a:ln>
            <a:noFill/>
          </a:ln>
        </p:spPr>
      </p:pic>
      <p:pic>
        <p:nvPicPr>
          <p:cNvPr id="386" name="Google Shape;386;p25"/>
          <p:cNvPicPr preferRelativeResize="0"/>
          <p:nvPr/>
        </p:nvPicPr>
        <p:blipFill rotWithShape="1">
          <a:blip r:embed="rId4">
            <a:alphaModFix/>
          </a:blip>
          <a:srcRect l="1392" r="9346"/>
          <a:stretch/>
        </p:blipFill>
        <p:spPr>
          <a:xfrm>
            <a:off x="4727975" y="1580150"/>
            <a:ext cx="4245075" cy="1816525"/>
          </a:xfrm>
          <a:prstGeom prst="rect">
            <a:avLst/>
          </a:prstGeom>
          <a:noFill/>
          <a:ln>
            <a:noFill/>
          </a:ln>
        </p:spPr>
      </p:pic>
      <p:sp>
        <p:nvSpPr>
          <p:cNvPr id="387" name="Google Shape;387;p25"/>
          <p:cNvSpPr txBox="1">
            <a:spLocks noGrp="1"/>
          </p:cNvSpPr>
          <p:nvPr>
            <p:ph type="title"/>
          </p:nvPr>
        </p:nvSpPr>
        <p:spPr>
          <a:xfrm>
            <a:off x="733200" y="4797550"/>
            <a:ext cx="8410800" cy="3339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2800"/>
              <a:buNone/>
            </a:pPr>
            <a:r>
              <a:rPr lang="pt-BR" sz="600">
                <a:solidFill>
                  <a:schemeClr val="accent3"/>
                </a:solidFill>
              </a:rPr>
              <a:t>Probst, V., Simonyan, A., Pacheco, F. et al. Benchmarking full-length transcript single cell mRNA sequencing protocols. BMC Genomics 23, 860 (2022). https://doi.org/10.1186/s12864-022-09014-5</a:t>
            </a:r>
            <a:endParaRPr sz="600">
              <a:solidFill>
                <a:schemeClr val="accent3"/>
              </a:solidFill>
            </a:endParaRPr>
          </a:p>
          <a:p>
            <a:pPr marL="0" lvl="0" indent="0" algn="r" rtl="0">
              <a:lnSpc>
                <a:spcPct val="100000"/>
              </a:lnSpc>
              <a:spcBef>
                <a:spcPts val="0"/>
              </a:spcBef>
              <a:spcAft>
                <a:spcPts val="0"/>
              </a:spcAft>
              <a:buSzPts val="2800"/>
              <a:buNone/>
            </a:pPr>
            <a:endParaRPr sz="600">
              <a:solidFill>
                <a:schemeClr val="accent3"/>
              </a:solidFill>
            </a:endParaRPr>
          </a:p>
          <a:p>
            <a:pPr marL="0" lvl="0" indent="0" algn="l" rtl="0">
              <a:lnSpc>
                <a:spcPct val="100000"/>
              </a:lnSpc>
              <a:spcBef>
                <a:spcPts val="0"/>
              </a:spcBef>
              <a:spcAft>
                <a:spcPts val="0"/>
              </a:spcAft>
              <a:buSzPts val="2800"/>
              <a:buNone/>
            </a:pPr>
            <a:endParaRPr sz="600">
              <a:solidFill>
                <a:schemeClr val="accent3"/>
              </a:solidFill>
            </a:endParaRPr>
          </a:p>
        </p:txBody>
      </p:sp>
      <p:sp>
        <p:nvSpPr>
          <p:cNvPr id="388" name="Google Shape;388;p25"/>
          <p:cNvSpPr txBox="1"/>
          <p:nvPr/>
        </p:nvSpPr>
        <p:spPr>
          <a:xfrm>
            <a:off x="7512850" y="3546025"/>
            <a:ext cx="1209000" cy="63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500"/>
              <a:buFont typeface="Arial"/>
              <a:buNone/>
            </a:pPr>
            <a:r>
              <a:rPr lang="pt-BR" sz="1500" b="0" i="0" u="none" strike="noStrike" cap="none">
                <a:solidFill>
                  <a:schemeClr val="lt1"/>
                </a:solidFill>
                <a:highlight>
                  <a:schemeClr val="accent5"/>
                </a:highlight>
                <a:latin typeface="Proxima Nova"/>
                <a:ea typeface="Proxima Nova"/>
                <a:cs typeface="Proxima Nova"/>
                <a:sym typeface="Proxima Nova"/>
              </a:rPr>
              <a:t>Mais genes e counts /célula</a:t>
            </a:r>
            <a:endParaRPr sz="1500" b="0" i="0" u="none" strike="noStrike" cap="none">
              <a:solidFill>
                <a:schemeClr val="lt1"/>
              </a:solidFill>
              <a:highlight>
                <a:schemeClr val="accent5"/>
              </a:highlight>
              <a:latin typeface="Proxima Nova"/>
              <a:ea typeface="Proxima Nova"/>
              <a:cs typeface="Proxima Nova"/>
              <a:sym typeface="Proxima Nova"/>
            </a:endParaRPr>
          </a:p>
        </p:txBody>
      </p:sp>
      <p:sp>
        <p:nvSpPr>
          <p:cNvPr id="389" name="Google Shape;389;p25"/>
          <p:cNvSpPr txBox="1"/>
          <p:nvPr/>
        </p:nvSpPr>
        <p:spPr>
          <a:xfrm>
            <a:off x="6121250" y="3631100"/>
            <a:ext cx="1209000" cy="63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500"/>
              <a:buFont typeface="Arial"/>
              <a:buNone/>
            </a:pPr>
            <a:r>
              <a:rPr lang="pt-BR" sz="1500" b="0" i="0" u="none" strike="noStrike" cap="none">
                <a:solidFill>
                  <a:schemeClr val="lt1"/>
                </a:solidFill>
                <a:highlight>
                  <a:schemeClr val="accent5"/>
                </a:highlight>
                <a:latin typeface="Proxima Nova"/>
                <a:ea typeface="Proxima Nova"/>
                <a:cs typeface="Proxima Nova"/>
                <a:sym typeface="Proxima Nova"/>
              </a:rPr>
              <a:t>Mais células</a:t>
            </a:r>
            <a:endParaRPr sz="1500" b="0" i="0" u="none" strike="noStrike" cap="none">
              <a:solidFill>
                <a:schemeClr val="lt1"/>
              </a:solidFill>
              <a:highlight>
                <a:schemeClr val="accent5"/>
              </a:highlight>
              <a:latin typeface="Proxima Nova"/>
              <a:ea typeface="Proxima Nova"/>
              <a:cs typeface="Proxima Nova"/>
              <a:sym typeface="Proxima Nov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2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a:t>Conteúdos extras</a:t>
            </a:r>
            <a:endParaRPr/>
          </a:p>
        </p:txBody>
      </p:sp>
      <p:pic>
        <p:nvPicPr>
          <p:cNvPr id="395" name="Google Shape;395;p26"/>
          <p:cNvPicPr preferRelativeResize="0"/>
          <p:nvPr/>
        </p:nvPicPr>
        <p:blipFill rotWithShape="1">
          <a:blip r:embed="rId3">
            <a:alphaModFix/>
          </a:blip>
          <a:srcRect/>
          <a:stretch/>
        </p:blipFill>
        <p:spPr>
          <a:xfrm>
            <a:off x="733200" y="1869900"/>
            <a:ext cx="681025" cy="654500"/>
          </a:xfrm>
          <a:prstGeom prst="rect">
            <a:avLst/>
          </a:prstGeom>
          <a:noFill/>
          <a:ln>
            <a:noFill/>
          </a:ln>
        </p:spPr>
      </p:pic>
      <p:sp>
        <p:nvSpPr>
          <p:cNvPr id="396" name="Google Shape;396;p26"/>
          <p:cNvSpPr txBox="1"/>
          <p:nvPr/>
        </p:nvSpPr>
        <p:spPr>
          <a:xfrm>
            <a:off x="1414225" y="1793650"/>
            <a:ext cx="2531700" cy="1200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pt-BR" sz="1100" b="1" i="0" u="none" strike="noStrike" cap="none">
                <a:solidFill>
                  <a:srgbClr val="000000"/>
                </a:solidFill>
                <a:latin typeface="Proxima Nova"/>
                <a:ea typeface="Proxima Nova"/>
                <a:cs typeface="Proxima Nova"/>
                <a:sym typeface="Proxima Nova"/>
              </a:rPr>
              <a:t>Haque et al, 2017. DOI 10.1186/s13073-017-0467-4</a:t>
            </a:r>
            <a:endParaRPr sz="1100" b="1" i="0" u="none" strike="noStrike" cap="none">
              <a:solidFill>
                <a:srgbClr val="000000"/>
              </a:solidFill>
              <a:latin typeface="Proxima Nova"/>
              <a:ea typeface="Proxima Nova"/>
              <a:cs typeface="Proxima Nova"/>
              <a:sym typeface="Proxima Nova"/>
            </a:endParaRPr>
          </a:p>
          <a:p>
            <a:pPr marL="0" marR="0" lvl="0" indent="0" algn="l" rtl="0">
              <a:lnSpc>
                <a:spcPct val="100000"/>
              </a:lnSpc>
              <a:spcBef>
                <a:spcPts val="0"/>
              </a:spcBef>
              <a:spcAft>
                <a:spcPts val="0"/>
              </a:spcAft>
              <a:buClr>
                <a:srgbClr val="000000"/>
              </a:buClr>
              <a:buSzPts val="1100"/>
              <a:buFont typeface="Arial"/>
              <a:buNone/>
            </a:pPr>
            <a:r>
              <a:rPr lang="pt-BR" sz="1100" b="0" i="0" u="none" strike="noStrike" cap="none">
                <a:solidFill>
                  <a:srgbClr val="000000"/>
                </a:solidFill>
                <a:latin typeface="Proxima Nova"/>
                <a:ea typeface="Proxima Nova"/>
                <a:cs typeface="Proxima Nova"/>
                <a:sym typeface="Proxima Nova"/>
              </a:rPr>
              <a:t>A practical guide to single-cell RNA-sequencing for biomedical research and clinical applications</a:t>
            </a:r>
            <a:endParaRPr sz="1100" b="0" i="0" u="none" strike="noStrike" cap="none">
              <a:solidFill>
                <a:srgbClr val="000000"/>
              </a:solidFill>
              <a:latin typeface="Proxima Nova"/>
              <a:ea typeface="Proxima Nova"/>
              <a:cs typeface="Proxima Nova"/>
              <a:sym typeface="Proxima Nova"/>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Proxima Nova"/>
              <a:ea typeface="Proxima Nova"/>
              <a:cs typeface="Proxima Nova"/>
              <a:sym typeface="Proxima Nova"/>
            </a:endParaRPr>
          </a:p>
        </p:txBody>
      </p:sp>
      <p:sp>
        <p:nvSpPr>
          <p:cNvPr id="397" name="Google Shape;397;p26"/>
          <p:cNvSpPr txBox="1">
            <a:spLocks noGrp="1"/>
          </p:cNvSpPr>
          <p:nvPr>
            <p:ph type="body" idx="1"/>
          </p:nvPr>
        </p:nvSpPr>
        <p:spPr>
          <a:xfrm>
            <a:off x="733200" y="1324600"/>
            <a:ext cx="3686400" cy="572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SzPts val="1800"/>
              <a:buNone/>
            </a:pPr>
            <a:r>
              <a:rPr lang="pt-BR" sz="1500">
                <a:solidFill>
                  <a:schemeClr val="dk1"/>
                </a:solidFill>
              </a:rPr>
              <a:t>Princípios e planejamento experimental</a:t>
            </a:r>
            <a:endParaRPr sz="1500">
              <a:solidFill>
                <a:schemeClr val="dk1"/>
              </a:solidFill>
            </a:endParaRPr>
          </a:p>
        </p:txBody>
      </p:sp>
      <p:sp>
        <p:nvSpPr>
          <p:cNvPr id="398" name="Google Shape;398;p26"/>
          <p:cNvSpPr txBox="1">
            <a:spLocks noGrp="1"/>
          </p:cNvSpPr>
          <p:nvPr>
            <p:ph type="body" idx="1"/>
          </p:nvPr>
        </p:nvSpPr>
        <p:spPr>
          <a:xfrm>
            <a:off x="4780225" y="1324600"/>
            <a:ext cx="3686400" cy="572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SzPts val="1800"/>
              <a:buNone/>
            </a:pPr>
            <a:r>
              <a:rPr lang="pt-BR" sz="1500">
                <a:solidFill>
                  <a:schemeClr val="dk1"/>
                </a:solidFill>
              </a:rPr>
              <a:t>Métodos de geração de bibliotecas scRNA-seq</a:t>
            </a:r>
            <a:endParaRPr sz="1500">
              <a:solidFill>
                <a:schemeClr val="dk1"/>
              </a:solidFill>
            </a:endParaRPr>
          </a:p>
        </p:txBody>
      </p:sp>
      <p:pic>
        <p:nvPicPr>
          <p:cNvPr id="399" name="Google Shape;399;p26"/>
          <p:cNvPicPr preferRelativeResize="0"/>
          <p:nvPr/>
        </p:nvPicPr>
        <p:blipFill rotWithShape="1">
          <a:blip r:embed="rId3">
            <a:alphaModFix/>
          </a:blip>
          <a:srcRect/>
          <a:stretch/>
        </p:blipFill>
        <p:spPr>
          <a:xfrm>
            <a:off x="4780225" y="2193750"/>
            <a:ext cx="681025" cy="654500"/>
          </a:xfrm>
          <a:prstGeom prst="rect">
            <a:avLst/>
          </a:prstGeom>
          <a:noFill/>
          <a:ln>
            <a:noFill/>
          </a:ln>
        </p:spPr>
      </p:pic>
      <p:sp>
        <p:nvSpPr>
          <p:cNvPr id="400" name="Google Shape;400;p26"/>
          <p:cNvSpPr txBox="1"/>
          <p:nvPr/>
        </p:nvSpPr>
        <p:spPr>
          <a:xfrm>
            <a:off x="5461250" y="2117500"/>
            <a:ext cx="2531700" cy="1200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pt-BR" sz="1100" b="1" i="0" u="none" strike="noStrike" cap="none">
                <a:solidFill>
                  <a:srgbClr val="000000"/>
                </a:solidFill>
                <a:latin typeface="Proxima Nova"/>
                <a:ea typeface="Proxima Nova"/>
                <a:cs typeface="Proxima Nova"/>
                <a:sym typeface="Proxima Nova"/>
              </a:rPr>
              <a:t>De Simone et al, 2025. DOI 10.1093/nar/gkae1186</a:t>
            </a:r>
            <a:endParaRPr sz="1100" b="1" i="0" u="none" strike="noStrike" cap="none">
              <a:solidFill>
                <a:srgbClr val="000000"/>
              </a:solidFill>
              <a:latin typeface="Proxima Nova"/>
              <a:ea typeface="Proxima Nova"/>
              <a:cs typeface="Proxima Nova"/>
              <a:sym typeface="Proxima Nova"/>
            </a:endParaRPr>
          </a:p>
          <a:p>
            <a:pPr marL="0" marR="0" lvl="0" indent="0" algn="l" rtl="0">
              <a:lnSpc>
                <a:spcPct val="100000"/>
              </a:lnSpc>
              <a:spcBef>
                <a:spcPts val="0"/>
              </a:spcBef>
              <a:spcAft>
                <a:spcPts val="0"/>
              </a:spcAft>
              <a:buClr>
                <a:srgbClr val="000000"/>
              </a:buClr>
              <a:buSzPts val="1100"/>
              <a:buFont typeface="Arial"/>
              <a:buNone/>
            </a:pPr>
            <a:r>
              <a:rPr lang="pt-BR" sz="1100" b="0" i="0" u="none" strike="noStrike" cap="none">
                <a:solidFill>
                  <a:srgbClr val="000000"/>
                </a:solidFill>
                <a:latin typeface="Proxima Nova"/>
                <a:ea typeface="Proxima Nova"/>
                <a:cs typeface="Proxima Nova"/>
                <a:sym typeface="Proxima Nova"/>
              </a:rPr>
              <a:t>A comprehensive analysis framework for evaluating commercial single-cell RNA sequencing technologies</a:t>
            </a:r>
            <a:endParaRPr sz="1100" b="0" i="0" u="none" strike="noStrike" cap="none">
              <a:solidFill>
                <a:srgbClr val="000000"/>
              </a:solidFill>
              <a:latin typeface="Proxima Nova"/>
              <a:ea typeface="Proxima Nova"/>
              <a:cs typeface="Proxima Nova"/>
              <a:sym typeface="Proxima Nova"/>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Proxima Nova"/>
              <a:ea typeface="Proxima Nova"/>
              <a:cs typeface="Proxima Nova"/>
              <a:sym typeface="Proxima Nova"/>
            </a:endParaRPr>
          </a:p>
        </p:txBody>
      </p:sp>
      <p:pic>
        <p:nvPicPr>
          <p:cNvPr id="401" name="Google Shape;401;p26"/>
          <p:cNvPicPr preferRelativeResize="0"/>
          <p:nvPr/>
        </p:nvPicPr>
        <p:blipFill rotWithShape="1">
          <a:blip r:embed="rId3">
            <a:alphaModFix/>
          </a:blip>
          <a:srcRect/>
          <a:stretch/>
        </p:blipFill>
        <p:spPr>
          <a:xfrm>
            <a:off x="4780225" y="3241950"/>
            <a:ext cx="681025" cy="654500"/>
          </a:xfrm>
          <a:prstGeom prst="rect">
            <a:avLst/>
          </a:prstGeom>
          <a:noFill/>
          <a:ln>
            <a:noFill/>
          </a:ln>
        </p:spPr>
      </p:pic>
      <p:sp>
        <p:nvSpPr>
          <p:cNvPr id="402" name="Google Shape;402;p26"/>
          <p:cNvSpPr txBox="1"/>
          <p:nvPr/>
        </p:nvSpPr>
        <p:spPr>
          <a:xfrm>
            <a:off x="5461250" y="3165700"/>
            <a:ext cx="2531700" cy="1369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pt-BR" sz="1100" b="1" i="0" u="none" strike="noStrike" cap="none">
                <a:solidFill>
                  <a:srgbClr val="000000"/>
                </a:solidFill>
                <a:latin typeface="Proxima Nova"/>
                <a:ea typeface="Proxima Nova"/>
                <a:cs typeface="Proxima Nova"/>
                <a:sym typeface="Proxima Nova"/>
              </a:rPr>
              <a:t>Vídeo</a:t>
            </a:r>
            <a:endParaRPr sz="1100" b="1" i="0" u="none" strike="noStrike" cap="none">
              <a:solidFill>
                <a:srgbClr val="000000"/>
              </a:solidFill>
              <a:latin typeface="Proxima Nova"/>
              <a:ea typeface="Proxima Nova"/>
              <a:cs typeface="Proxima Nova"/>
              <a:sym typeface="Proxima Nova"/>
            </a:endParaRPr>
          </a:p>
          <a:p>
            <a:pPr marL="0" marR="0" lvl="0" indent="0" algn="l" rtl="0">
              <a:lnSpc>
                <a:spcPct val="100000"/>
              </a:lnSpc>
              <a:spcBef>
                <a:spcPts val="0"/>
              </a:spcBef>
              <a:spcAft>
                <a:spcPts val="0"/>
              </a:spcAft>
              <a:buClr>
                <a:srgbClr val="000000"/>
              </a:buClr>
              <a:buSzPts val="1100"/>
              <a:buFont typeface="Arial"/>
              <a:buNone/>
            </a:pPr>
            <a:r>
              <a:rPr lang="pt-BR" sz="1100" b="1" i="0" u="none" strike="noStrike" cap="none">
                <a:solidFill>
                  <a:srgbClr val="000000"/>
                </a:solidFill>
                <a:latin typeface="Proxima Nova"/>
                <a:ea typeface="Proxima Nova"/>
                <a:cs typeface="Proxima Nova"/>
                <a:sym typeface="Proxima Nova"/>
              </a:rPr>
              <a:t>Single Cell Gene Expression Protocol v3.1 | Assemble Chromium Next GEM Chip G</a:t>
            </a:r>
            <a:endParaRPr sz="1100" b="1" i="0" u="none" strike="noStrike" cap="none">
              <a:solidFill>
                <a:srgbClr val="000000"/>
              </a:solidFill>
              <a:latin typeface="Proxima Nova"/>
              <a:ea typeface="Proxima Nova"/>
              <a:cs typeface="Proxima Nova"/>
              <a:sym typeface="Proxima Nova"/>
            </a:endParaRPr>
          </a:p>
          <a:p>
            <a:pPr marL="0" marR="0" lvl="0" indent="0" algn="l" rtl="0">
              <a:lnSpc>
                <a:spcPct val="100000"/>
              </a:lnSpc>
              <a:spcBef>
                <a:spcPts val="0"/>
              </a:spcBef>
              <a:spcAft>
                <a:spcPts val="0"/>
              </a:spcAft>
              <a:buClr>
                <a:srgbClr val="000000"/>
              </a:buClr>
              <a:buSzPts val="1100"/>
              <a:buFont typeface="Arial"/>
              <a:buNone/>
            </a:pPr>
            <a:r>
              <a:rPr lang="pt-BR" sz="1100" b="0" i="0" u="none" strike="noStrike" cap="none">
                <a:solidFill>
                  <a:srgbClr val="000000"/>
                </a:solidFill>
                <a:latin typeface="Proxima Nova"/>
                <a:ea typeface="Proxima Nova"/>
                <a:cs typeface="Proxima Nova"/>
                <a:sym typeface="Proxima Nova"/>
              </a:rPr>
              <a:t>https://www.youtube.com/watch?v=cH8ldAqKUzE</a:t>
            </a:r>
            <a:endParaRPr sz="1100" b="0" i="0" u="none" strike="noStrike" cap="none">
              <a:solidFill>
                <a:srgbClr val="000000"/>
              </a:solidFill>
              <a:latin typeface="Proxima Nova"/>
              <a:ea typeface="Proxima Nova"/>
              <a:cs typeface="Proxima Nova"/>
              <a:sym typeface="Proxima Nova"/>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Proxima Nova"/>
              <a:ea typeface="Proxima Nova"/>
              <a:cs typeface="Proxima Nova"/>
              <a:sym typeface="Proxima Nov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g3f8c134e9bc_0_91"/>
          <p:cNvSpPr txBox="1">
            <a:spLocks noGrp="1"/>
          </p:cNvSpPr>
          <p:nvPr>
            <p:ph type="ctrTitle"/>
          </p:nvPr>
        </p:nvSpPr>
        <p:spPr>
          <a:xfrm>
            <a:off x="510450" y="3148700"/>
            <a:ext cx="8123100" cy="1588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SzPts val="4800"/>
              <a:buNone/>
            </a:pPr>
            <a:r>
              <a:rPr lang="pt-BR" sz="3900"/>
              <a:t>Métodos de </a:t>
            </a:r>
            <a:endParaRPr sz="3900"/>
          </a:p>
          <a:p>
            <a:pPr marL="0" lvl="0" indent="0" algn="l" rtl="0">
              <a:spcBef>
                <a:spcPts val="0"/>
              </a:spcBef>
              <a:spcAft>
                <a:spcPts val="0"/>
              </a:spcAft>
              <a:buSzPts val="4800"/>
              <a:buNone/>
            </a:pPr>
            <a:r>
              <a:rPr lang="pt-BR" sz="3900"/>
              <a:t>transcriptômica espacial</a:t>
            </a:r>
            <a:endParaRPr sz="44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28"/>
          <p:cNvSpPr txBox="1">
            <a:spLocks noGrp="1"/>
          </p:cNvSpPr>
          <p:nvPr>
            <p:ph type="title"/>
          </p:nvPr>
        </p:nvSpPr>
        <p:spPr>
          <a:xfrm>
            <a:off x="311700" y="445025"/>
            <a:ext cx="5615400" cy="707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sz="1800" b="1"/>
              <a:t>RNA-seq espacial</a:t>
            </a:r>
            <a:endParaRPr sz="1800" b="1"/>
          </a:p>
          <a:p>
            <a:pPr marL="0" lvl="0" indent="0" algn="l" rtl="0">
              <a:lnSpc>
                <a:spcPct val="100000"/>
              </a:lnSpc>
              <a:spcBef>
                <a:spcPts val="0"/>
              </a:spcBef>
              <a:spcAft>
                <a:spcPts val="0"/>
              </a:spcAft>
              <a:buSzPts val="2800"/>
              <a:buNone/>
            </a:pPr>
            <a:r>
              <a:rPr lang="pt-BR" sz="1800"/>
              <a:t>Evolução de tecnologias</a:t>
            </a:r>
            <a:endParaRPr sz="1800"/>
          </a:p>
        </p:txBody>
      </p:sp>
      <p:cxnSp>
        <p:nvCxnSpPr>
          <p:cNvPr id="413" name="Google Shape;413;p28"/>
          <p:cNvCxnSpPr/>
          <p:nvPr/>
        </p:nvCxnSpPr>
        <p:spPr>
          <a:xfrm rot="10800000" flipH="1">
            <a:off x="596025" y="2770550"/>
            <a:ext cx="3311100" cy="4200"/>
          </a:xfrm>
          <a:prstGeom prst="straightConnector1">
            <a:avLst/>
          </a:prstGeom>
          <a:noFill/>
          <a:ln w="28575" cap="flat" cmpd="sng">
            <a:solidFill>
              <a:schemeClr val="dk2"/>
            </a:solidFill>
            <a:prstDash val="solid"/>
            <a:round/>
            <a:headEnd type="oval" w="med" len="med"/>
            <a:tailEnd type="oval" w="med" len="med"/>
          </a:ln>
        </p:spPr>
      </p:cxnSp>
      <p:sp>
        <p:nvSpPr>
          <p:cNvPr id="414" name="Google Shape;414;p28"/>
          <p:cNvSpPr txBox="1"/>
          <p:nvPr/>
        </p:nvSpPr>
        <p:spPr>
          <a:xfrm>
            <a:off x="958575" y="1409438"/>
            <a:ext cx="2262300" cy="63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500"/>
              <a:buFont typeface="Arial"/>
              <a:buNone/>
            </a:pPr>
            <a:r>
              <a:rPr lang="pt-BR" sz="1500" b="1" i="0" u="none" strike="noStrike" cap="none">
                <a:solidFill>
                  <a:schemeClr val="dk1"/>
                </a:solidFill>
                <a:latin typeface="Proxima Nova"/>
                <a:ea typeface="Proxima Nova"/>
                <a:cs typeface="Proxima Nova"/>
                <a:sym typeface="Proxima Nova"/>
              </a:rPr>
              <a:t>Métodos baseados em hibridização </a:t>
            </a:r>
            <a:r>
              <a:rPr lang="pt-BR" sz="1500" b="1" i="1" u="none" strike="noStrike" cap="none">
                <a:solidFill>
                  <a:schemeClr val="dk1"/>
                </a:solidFill>
                <a:latin typeface="Proxima Nova"/>
                <a:ea typeface="Proxima Nova"/>
                <a:cs typeface="Proxima Nova"/>
                <a:sym typeface="Proxima Nova"/>
              </a:rPr>
              <a:t>in situ</a:t>
            </a:r>
            <a:endParaRPr sz="1500" b="1" i="1" u="none" strike="noStrike" cap="none">
              <a:solidFill>
                <a:schemeClr val="dk1"/>
              </a:solidFill>
              <a:latin typeface="Proxima Nova"/>
              <a:ea typeface="Proxima Nova"/>
              <a:cs typeface="Proxima Nova"/>
              <a:sym typeface="Proxima Nova"/>
            </a:endParaRPr>
          </a:p>
        </p:txBody>
      </p:sp>
      <p:sp>
        <p:nvSpPr>
          <p:cNvPr id="415" name="Google Shape;415;p28"/>
          <p:cNvSpPr txBox="1"/>
          <p:nvPr/>
        </p:nvSpPr>
        <p:spPr>
          <a:xfrm>
            <a:off x="653775" y="3647363"/>
            <a:ext cx="2262300" cy="63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500"/>
              <a:buFont typeface="Arial"/>
              <a:buNone/>
            </a:pPr>
            <a:r>
              <a:rPr lang="pt-BR" sz="1500" b="1" i="0" u="none" strike="noStrike" cap="none">
                <a:solidFill>
                  <a:schemeClr val="dk1"/>
                </a:solidFill>
                <a:latin typeface="Proxima Nova"/>
                <a:ea typeface="Proxima Nova"/>
                <a:cs typeface="Proxima Nova"/>
                <a:sym typeface="Proxima Nova"/>
              </a:rPr>
              <a:t>Métodos baseados em microdissecção</a:t>
            </a:r>
            <a:endParaRPr sz="1500" b="1" i="1" u="none" strike="noStrike" cap="none">
              <a:solidFill>
                <a:schemeClr val="dk1"/>
              </a:solidFill>
              <a:latin typeface="Proxima Nova"/>
              <a:ea typeface="Proxima Nova"/>
              <a:cs typeface="Proxima Nova"/>
              <a:sym typeface="Proxima Nova"/>
            </a:endParaRPr>
          </a:p>
        </p:txBody>
      </p:sp>
      <p:pic>
        <p:nvPicPr>
          <p:cNvPr id="416" name="Google Shape;416;p28"/>
          <p:cNvPicPr preferRelativeResize="0"/>
          <p:nvPr/>
        </p:nvPicPr>
        <p:blipFill rotWithShape="1">
          <a:blip r:embed="rId3">
            <a:alphaModFix/>
          </a:blip>
          <a:srcRect/>
          <a:stretch/>
        </p:blipFill>
        <p:spPr>
          <a:xfrm>
            <a:off x="3031199" y="3021700"/>
            <a:ext cx="4967099" cy="1881375"/>
          </a:xfrm>
          <a:prstGeom prst="rect">
            <a:avLst/>
          </a:prstGeom>
          <a:noFill/>
          <a:ln>
            <a:noFill/>
          </a:ln>
        </p:spPr>
      </p:pic>
      <p:sp>
        <p:nvSpPr>
          <p:cNvPr id="417" name="Google Shape;417;p28"/>
          <p:cNvSpPr txBox="1"/>
          <p:nvPr/>
        </p:nvSpPr>
        <p:spPr>
          <a:xfrm>
            <a:off x="254000" y="2326700"/>
            <a:ext cx="825900" cy="385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pt-BR" sz="1200" b="0" i="0" u="none" strike="noStrike" cap="none">
                <a:solidFill>
                  <a:schemeClr val="lt1"/>
                </a:solidFill>
                <a:highlight>
                  <a:schemeClr val="dk2"/>
                </a:highlight>
                <a:latin typeface="Proxima Nova"/>
                <a:ea typeface="Proxima Nova"/>
                <a:cs typeface="Proxima Nova"/>
                <a:sym typeface="Proxima Nova"/>
              </a:rPr>
              <a:t>2000</a:t>
            </a:r>
            <a:endParaRPr sz="1200" b="0" i="0" u="none" strike="noStrike" cap="none">
              <a:solidFill>
                <a:schemeClr val="lt1"/>
              </a:solidFill>
              <a:highlight>
                <a:schemeClr val="dk2"/>
              </a:highlight>
              <a:latin typeface="Proxima Nova"/>
              <a:ea typeface="Proxima Nova"/>
              <a:cs typeface="Proxima Nova"/>
              <a:sym typeface="Proxima Nova"/>
            </a:endParaRPr>
          </a:p>
        </p:txBody>
      </p:sp>
      <p:pic>
        <p:nvPicPr>
          <p:cNvPr id="418" name="Google Shape;418;p28"/>
          <p:cNvPicPr preferRelativeResize="0"/>
          <p:nvPr/>
        </p:nvPicPr>
        <p:blipFill rotWithShape="1">
          <a:blip r:embed="rId4">
            <a:alphaModFix/>
          </a:blip>
          <a:srcRect/>
          <a:stretch/>
        </p:blipFill>
        <p:spPr>
          <a:xfrm>
            <a:off x="3253570" y="642225"/>
            <a:ext cx="3646691" cy="1881375"/>
          </a:xfrm>
          <a:prstGeom prst="rect">
            <a:avLst/>
          </a:prstGeom>
          <a:noFill/>
          <a:ln>
            <a:noFill/>
          </a:ln>
        </p:spPr>
      </p:pic>
      <p:pic>
        <p:nvPicPr>
          <p:cNvPr id="419" name="Google Shape;419;p28"/>
          <p:cNvPicPr preferRelativeResize="0"/>
          <p:nvPr/>
        </p:nvPicPr>
        <p:blipFill rotWithShape="1">
          <a:blip r:embed="rId5">
            <a:alphaModFix/>
          </a:blip>
          <a:srcRect/>
          <a:stretch/>
        </p:blipFill>
        <p:spPr>
          <a:xfrm>
            <a:off x="3803975" y="399075"/>
            <a:ext cx="2465623" cy="1402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4" name="Google Shape;424;p29"/>
          <p:cNvSpPr txBox="1">
            <a:spLocks noGrp="1"/>
          </p:cNvSpPr>
          <p:nvPr>
            <p:ph type="title"/>
          </p:nvPr>
        </p:nvSpPr>
        <p:spPr>
          <a:xfrm>
            <a:off x="311700" y="445025"/>
            <a:ext cx="5615400" cy="707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sz="1800" b="1"/>
              <a:t>RNA-seq espacial</a:t>
            </a:r>
            <a:endParaRPr sz="1800" b="1"/>
          </a:p>
          <a:p>
            <a:pPr marL="0" lvl="0" indent="0" algn="l" rtl="0">
              <a:lnSpc>
                <a:spcPct val="100000"/>
              </a:lnSpc>
              <a:spcBef>
                <a:spcPts val="0"/>
              </a:spcBef>
              <a:spcAft>
                <a:spcPts val="0"/>
              </a:spcAft>
              <a:buSzPts val="2800"/>
              <a:buNone/>
            </a:pPr>
            <a:r>
              <a:rPr lang="pt-BR" sz="1800"/>
              <a:t>Evolução de tecnologias</a:t>
            </a:r>
            <a:endParaRPr sz="1800"/>
          </a:p>
        </p:txBody>
      </p:sp>
      <p:cxnSp>
        <p:nvCxnSpPr>
          <p:cNvPr id="425" name="Google Shape;425;p29"/>
          <p:cNvCxnSpPr/>
          <p:nvPr/>
        </p:nvCxnSpPr>
        <p:spPr>
          <a:xfrm rot="10800000" flipH="1">
            <a:off x="596025" y="2770550"/>
            <a:ext cx="3311100" cy="4200"/>
          </a:xfrm>
          <a:prstGeom prst="straightConnector1">
            <a:avLst/>
          </a:prstGeom>
          <a:noFill/>
          <a:ln w="28575" cap="flat" cmpd="sng">
            <a:solidFill>
              <a:schemeClr val="dk2"/>
            </a:solidFill>
            <a:prstDash val="solid"/>
            <a:round/>
            <a:headEnd type="oval" w="med" len="med"/>
            <a:tailEnd type="oval" w="med" len="med"/>
          </a:ln>
        </p:spPr>
      </p:cxnSp>
      <p:sp>
        <p:nvSpPr>
          <p:cNvPr id="426" name="Google Shape;426;p29"/>
          <p:cNvSpPr txBox="1"/>
          <p:nvPr/>
        </p:nvSpPr>
        <p:spPr>
          <a:xfrm>
            <a:off x="2227250" y="2916388"/>
            <a:ext cx="2262300" cy="63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500"/>
              <a:buFont typeface="Arial"/>
              <a:buNone/>
            </a:pPr>
            <a:r>
              <a:rPr lang="pt-BR" sz="1500" b="1" i="0" u="none" strike="noStrike" cap="none">
                <a:solidFill>
                  <a:schemeClr val="dk1"/>
                </a:solidFill>
                <a:latin typeface="Proxima Nova"/>
                <a:ea typeface="Proxima Nova"/>
                <a:cs typeface="Proxima Nova"/>
                <a:sym typeface="Proxima Nova"/>
              </a:rPr>
              <a:t>Transcriptômica espacial</a:t>
            </a:r>
            <a:endParaRPr sz="1500" b="1" i="1" u="none" strike="noStrike" cap="none">
              <a:solidFill>
                <a:schemeClr val="dk1"/>
              </a:solidFill>
              <a:latin typeface="Proxima Nova"/>
              <a:ea typeface="Proxima Nova"/>
              <a:cs typeface="Proxima Nova"/>
              <a:sym typeface="Proxima Nova"/>
            </a:endParaRPr>
          </a:p>
        </p:txBody>
      </p:sp>
      <p:sp>
        <p:nvSpPr>
          <p:cNvPr id="427" name="Google Shape;427;p29"/>
          <p:cNvSpPr txBox="1"/>
          <p:nvPr/>
        </p:nvSpPr>
        <p:spPr>
          <a:xfrm>
            <a:off x="3438450" y="2326700"/>
            <a:ext cx="825900" cy="385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pt-BR" sz="1200" b="0" i="0" u="none" strike="noStrike" cap="none">
                <a:solidFill>
                  <a:schemeClr val="lt1"/>
                </a:solidFill>
                <a:highlight>
                  <a:schemeClr val="dk2"/>
                </a:highlight>
                <a:latin typeface="Proxima Nova"/>
                <a:ea typeface="Proxima Nova"/>
                <a:cs typeface="Proxima Nova"/>
                <a:sym typeface="Proxima Nova"/>
              </a:rPr>
              <a:t>2016</a:t>
            </a:r>
            <a:endParaRPr sz="1200" b="0" i="0" u="none" strike="noStrike" cap="none">
              <a:solidFill>
                <a:schemeClr val="lt1"/>
              </a:solidFill>
              <a:highlight>
                <a:schemeClr val="dk2"/>
              </a:highlight>
              <a:latin typeface="Proxima Nova"/>
              <a:ea typeface="Proxima Nova"/>
              <a:cs typeface="Proxima Nova"/>
              <a:sym typeface="Proxima Nova"/>
            </a:endParaRPr>
          </a:p>
        </p:txBody>
      </p:sp>
      <p:sp>
        <p:nvSpPr>
          <p:cNvPr id="428" name="Google Shape;428;p29"/>
          <p:cNvSpPr txBox="1"/>
          <p:nvPr/>
        </p:nvSpPr>
        <p:spPr>
          <a:xfrm>
            <a:off x="254000" y="2326700"/>
            <a:ext cx="825900" cy="385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pt-BR" sz="1200" b="0" i="0" u="none" strike="noStrike" cap="none">
                <a:solidFill>
                  <a:schemeClr val="lt1"/>
                </a:solidFill>
                <a:highlight>
                  <a:schemeClr val="dk2"/>
                </a:highlight>
                <a:latin typeface="Proxima Nova"/>
                <a:ea typeface="Proxima Nova"/>
                <a:cs typeface="Proxima Nova"/>
                <a:sym typeface="Proxima Nova"/>
              </a:rPr>
              <a:t>2000</a:t>
            </a:r>
            <a:endParaRPr sz="1200" b="0" i="0" u="none" strike="noStrike" cap="none">
              <a:solidFill>
                <a:schemeClr val="lt1"/>
              </a:solidFill>
              <a:highlight>
                <a:schemeClr val="dk2"/>
              </a:highlight>
              <a:latin typeface="Proxima Nova"/>
              <a:ea typeface="Proxima Nova"/>
              <a:cs typeface="Proxima Nova"/>
              <a:sym typeface="Proxima Nova"/>
            </a:endParaRPr>
          </a:p>
        </p:txBody>
      </p:sp>
      <p:pic>
        <p:nvPicPr>
          <p:cNvPr id="429" name="Google Shape;429;p29"/>
          <p:cNvPicPr preferRelativeResize="0"/>
          <p:nvPr/>
        </p:nvPicPr>
        <p:blipFill rotWithShape="1">
          <a:blip r:embed="rId3">
            <a:alphaModFix/>
          </a:blip>
          <a:srcRect/>
          <a:stretch/>
        </p:blipFill>
        <p:spPr>
          <a:xfrm>
            <a:off x="4355100" y="702550"/>
            <a:ext cx="3650775" cy="2801175"/>
          </a:xfrm>
          <a:prstGeom prst="rect">
            <a:avLst/>
          </a:prstGeom>
          <a:noFill/>
          <a:ln>
            <a:noFill/>
          </a:ln>
        </p:spPr>
      </p:pic>
      <p:pic>
        <p:nvPicPr>
          <p:cNvPr id="430" name="Google Shape;430;p29"/>
          <p:cNvPicPr preferRelativeResize="0"/>
          <p:nvPr/>
        </p:nvPicPr>
        <p:blipFill rotWithShape="1">
          <a:blip r:embed="rId4">
            <a:alphaModFix/>
          </a:blip>
          <a:srcRect/>
          <a:stretch/>
        </p:blipFill>
        <p:spPr>
          <a:xfrm>
            <a:off x="4132475" y="3579925"/>
            <a:ext cx="4630024" cy="1043150"/>
          </a:xfrm>
          <a:prstGeom prst="rect">
            <a:avLst/>
          </a:prstGeom>
          <a:noFill/>
          <a:ln>
            <a:noFill/>
          </a:ln>
        </p:spPr>
      </p:pic>
      <p:pic>
        <p:nvPicPr>
          <p:cNvPr id="431" name="Google Shape;431;p29"/>
          <p:cNvPicPr preferRelativeResize="0"/>
          <p:nvPr/>
        </p:nvPicPr>
        <p:blipFill rotWithShape="1">
          <a:blip r:embed="rId5">
            <a:alphaModFix/>
          </a:blip>
          <a:srcRect/>
          <a:stretch/>
        </p:blipFill>
        <p:spPr>
          <a:xfrm>
            <a:off x="4381188" y="502800"/>
            <a:ext cx="4132600" cy="1452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2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2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3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30"/>
          <p:cNvSpPr txBox="1">
            <a:spLocks noGrp="1"/>
          </p:cNvSpPr>
          <p:nvPr>
            <p:ph type="title"/>
          </p:nvPr>
        </p:nvSpPr>
        <p:spPr>
          <a:xfrm>
            <a:off x="311700" y="445025"/>
            <a:ext cx="5615400" cy="707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sz="1800" b="1"/>
              <a:t>RNA-seq espacial</a:t>
            </a:r>
            <a:endParaRPr sz="1800" b="1"/>
          </a:p>
          <a:p>
            <a:pPr marL="0" lvl="0" indent="0" algn="l" rtl="0">
              <a:lnSpc>
                <a:spcPct val="100000"/>
              </a:lnSpc>
              <a:spcBef>
                <a:spcPts val="0"/>
              </a:spcBef>
              <a:spcAft>
                <a:spcPts val="0"/>
              </a:spcAft>
              <a:buSzPts val="2800"/>
              <a:buNone/>
            </a:pPr>
            <a:r>
              <a:rPr lang="pt-BR" sz="1800"/>
              <a:t>Evolução de tecnologias</a:t>
            </a:r>
            <a:endParaRPr sz="1800"/>
          </a:p>
        </p:txBody>
      </p:sp>
      <p:cxnSp>
        <p:nvCxnSpPr>
          <p:cNvPr id="437" name="Google Shape;437;p30"/>
          <p:cNvCxnSpPr/>
          <p:nvPr/>
        </p:nvCxnSpPr>
        <p:spPr>
          <a:xfrm rot="10800000" flipH="1">
            <a:off x="596025" y="2770550"/>
            <a:ext cx="3311100" cy="4200"/>
          </a:xfrm>
          <a:prstGeom prst="straightConnector1">
            <a:avLst/>
          </a:prstGeom>
          <a:noFill/>
          <a:ln w="28575" cap="flat" cmpd="sng">
            <a:solidFill>
              <a:schemeClr val="dk2"/>
            </a:solidFill>
            <a:prstDash val="solid"/>
            <a:round/>
            <a:headEnd type="oval" w="med" len="med"/>
            <a:tailEnd type="oval" w="med" len="med"/>
          </a:ln>
        </p:spPr>
      </p:cxnSp>
      <p:sp>
        <p:nvSpPr>
          <p:cNvPr id="438" name="Google Shape;438;p30"/>
          <p:cNvSpPr txBox="1"/>
          <p:nvPr/>
        </p:nvSpPr>
        <p:spPr>
          <a:xfrm>
            <a:off x="2227250" y="2916388"/>
            <a:ext cx="2262300" cy="63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500"/>
              <a:buFont typeface="Arial"/>
              <a:buNone/>
            </a:pPr>
            <a:r>
              <a:rPr lang="pt-BR" sz="1500" b="1" i="0" u="none" strike="noStrike" cap="none">
                <a:solidFill>
                  <a:schemeClr val="dk1"/>
                </a:solidFill>
                <a:latin typeface="Proxima Nova"/>
                <a:ea typeface="Proxima Nova"/>
                <a:cs typeface="Proxima Nova"/>
                <a:sym typeface="Proxima Nova"/>
              </a:rPr>
              <a:t>Transcriptômica espacial</a:t>
            </a:r>
            <a:endParaRPr sz="1500" b="1" i="1" u="none" strike="noStrike" cap="none">
              <a:solidFill>
                <a:schemeClr val="dk1"/>
              </a:solidFill>
              <a:latin typeface="Proxima Nova"/>
              <a:ea typeface="Proxima Nova"/>
              <a:cs typeface="Proxima Nova"/>
              <a:sym typeface="Proxima Nova"/>
            </a:endParaRPr>
          </a:p>
        </p:txBody>
      </p:sp>
      <p:sp>
        <p:nvSpPr>
          <p:cNvPr id="439" name="Google Shape;439;p30"/>
          <p:cNvSpPr txBox="1"/>
          <p:nvPr/>
        </p:nvSpPr>
        <p:spPr>
          <a:xfrm>
            <a:off x="3438450" y="2326700"/>
            <a:ext cx="825900" cy="385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pt-BR" sz="1200" b="0" i="0" u="none" strike="noStrike" cap="none">
                <a:solidFill>
                  <a:schemeClr val="lt1"/>
                </a:solidFill>
                <a:highlight>
                  <a:schemeClr val="dk2"/>
                </a:highlight>
                <a:latin typeface="Proxima Nova"/>
                <a:ea typeface="Proxima Nova"/>
                <a:cs typeface="Proxima Nova"/>
                <a:sym typeface="Proxima Nova"/>
              </a:rPr>
              <a:t>2016</a:t>
            </a:r>
            <a:endParaRPr sz="1200" b="0" i="0" u="none" strike="noStrike" cap="none">
              <a:solidFill>
                <a:schemeClr val="lt1"/>
              </a:solidFill>
              <a:highlight>
                <a:schemeClr val="dk2"/>
              </a:highlight>
              <a:latin typeface="Proxima Nova"/>
              <a:ea typeface="Proxima Nova"/>
              <a:cs typeface="Proxima Nova"/>
              <a:sym typeface="Proxima Nova"/>
            </a:endParaRPr>
          </a:p>
        </p:txBody>
      </p:sp>
      <p:sp>
        <p:nvSpPr>
          <p:cNvPr id="440" name="Google Shape;440;p30"/>
          <p:cNvSpPr txBox="1"/>
          <p:nvPr/>
        </p:nvSpPr>
        <p:spPr>
          <a:xfrm>
            <a:off x="254000" y="2326700"/>
            <a:ext cx="825900" cy="385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pt-BR" sz="1200" b="0" i="0" u="none" strike="noStrike" cap="none">
                <a:solidFill>
                  <a:schemeClr val="lt1"/>
                </a:solidFill>
                <a:highlight>
                  <a:schemeClr val="dk2"/>
                </a:highlight>
                <a:latin typeface="Proxima Nova"/>
                <a:ea typeface="Proxima Nova"/>
                <a:cs typeface="Proxima Nova"/>
                <a:sym typeface="Proxima Nova"/>
              </a:rPr>
              <a:t>2000</a:t>
            </a:r>
            <a:endParaRPr sz="1200" b="0" i="0" u="none" strike="noStrike" cap="none">
              <a:solidFill>
                <a:schemeClr val="lt1"/>
              </a:solidFill>
              <a:highlight>
                <a:schemeClr val="dk2"/>
              </a:highlight>
              <a:latin typeface="Proxima Nova"/>
              <a:ea typeface="Proxima Nova"/>
              <a:cs typeface="Proxima Nova"/>
              <a:sym typeface="Proxima Nova"/>
            </a:endParaRPr>
          </a:p>
        </p:txBody>
      </p:sp>
      <p:cxnSp>
        <p:nvCxnSpPr>
          <p:cNvPr id="441" name="Google Shape;441;p30"/>
          <p:cNvCxnSpPr/>
          <p:nvPr/>
        </p:nvCxnSpPr>
        <p:spPr>
          <a:xfrm rot="10800000" flipH="1">
            <a:off x="3852000" y="2770550"/>
            <a:ext cx="1224000" cy="4200"/>
          </a:xfrm>
          <a:prstGeom prst="straightConnector1">
            <a:avLst/>
          </a:prstGeom>
          <a:noFill/>
          <a:ln w="28575" cap="flat" cmpd="sng">
            <a:solidFill>
              <a:schemeClr val="dk2"/>
            </a:solidFill>
            <a:prstDash val="solid"/>
            <a:round/>
            <a:headEnd type="none" w="sm" len="sm"/>
            <a:tailEnd type="oval" w="med" len="med"/>
          </a:ln>
        </p:spPr>
      </p:cxnSp>
      <p:sp>
        <p:nvSpPr>
          <p:cNvPr id="442" name="Google Shape;442;p30"/>
          <p:cNvSpPr txBox="1"/>
          <p:nvPr/>
        </p:nvSpPr>
        <p:spPr>
          <a:xfrm>
            <a:off x="4604975" y="2326700"/>
            <a:ext cx="825900" cy="385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pt-BR" sz="1200" b="0" i="0" u="none" strike="noStrike" cap="none">
                <a:solidFill>
                  <a:schemeClr val="lt1"/>
                </a:solidFill>
                <a:highlight>
                  <a:schemeClr val="dk2"/>
                </a:highlight>
                <a:latin typeface="Proxima Nova"/>
                <a:ea typeface="Proxima Nova"/>
                <a:cs typeface="Proxima Nova"/>
                <a:sym typeface="Proxima Nova"/>
              </a:rPr>
              <a:t>2019</a:t>
            </a:r>
            <a:endParaRPr sz="1200" b="0" i="0" u="none" strike="noStrike" cap="none">
              <a:solidFill>
                <a:schemeClr val="lt1"/>
              </a:solidFill>
              <a:highlight>
                <a:schemeClr val="dk2"/>
              </a:highlight>
              <a:latin typeface="Proxima Nova"/>
              <a:ea typeface="Proxima Nova"/>
              <a:cs typeface="Proxima Nova"/>
              <a:sym typeface="Proxima Nova"/>
            </a:endParaRPr>
          </a:p>
        </p:txBody>
      </p:sp>
      <p:sp>
        <p:nvSpPr>
          <p:cNvPr id="443" name="Google Shape;443;p30"/>
          <p:cNvSpPr txBox="1"/>
          <p:nvPr/>
        </p:nvSpPr>
        <p:spPr>
          <a:xfrm>
            <a:off x="4016975" y="3162400"/>
            <a:ext cx="1239900" cy="63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pt-BR" sz="1400" b="0" i="0" u="none" strike="noStrike" cap="none">
                <a:solidFill>
                  <a:schemeClr val="lt1"/>
                </a:solidFill>
                <a:highlight>
                  <a:schemeClr val="accent5"/>
                </a:highlight>
                <a:latin typeface="Proxima Nova"/>
                <a:ea typeface="Proxima Nova"/>
                <a:cs typeface="Proxima Nova"/>
                <a:sym typeface="Proxima Nova"/>
              </a:rPr>
              <a:t>Slide-Seq </a:t>
            </a:r>
            <a:endParaRPr sz="1400" b="0" i="0" u="none" strike="noStrike" cap="none">
              <a:solidFill>
                <a:schemeClr val="lt1"/>
              </a:solidFill>
              <a:highlight>
                <a:schemeClr val="accent5"/>
              </a:highlight>
              <a:latin typeface="Proxima Nova"/>
              <a:ea typeface="Proxima Nova"/>
              <a:cs typeface="Proxima Nova"/>
              <a:sym typeface="Proxima Nova"/>
            </a:endParaRPr>
          </a:p>
        </p:txBody>
      </p:sp>
      <p:cxnSp>
        <p:nvCxnSpPr>
          <p:cNvPr id="444" name="Google Shape;444;p30"/>
          <p:cNvCxnSpPr/>
          <p:nvPr/>
        </p:nvCxnSpPr>
        <p:spPr>
          <a:xfrm flipH="1">
            <a:off x="4896125" y="2882600"/>
            <a:ext cx="120000" cy="308400"/>
          </a:xfrm>
          <a:prstGeom prst="straightConnector1">
            <a:avLst/>
          </a:prstGeom>
          <a:noFill/>
          <a:ln w="9525" cap="flat" cmpd="sng">
            <a:solidFill>
              <a:schemeClr val="accent5"/>
            </a:solidFill>
            <a:prstDash val="dash"/>
            <a:round/>
            <a:headEnd type="none" w="sm" len="sm"/>
            <a:tailEnd type="triangle" w="med" len="med"/>
          </a:ln>
        </p:spPr>
      </p:cxnSp>
      <p:cxnSp>
        <p:nvCxnSpPr>
          <p:cNvPr id="445" name="Google Shape;445;p30"/>
          <p:cNvCxnSpPr/>
          <p:nvPr/>
        </p:nvCxnSpPr>
        <p:spPr>
          <a:xfrm>
            <a:off x="5016125" y="2882600"/>
            <a:ext cx="243300" cy="606000"/>
          </a:xfrm>
          <a:prstGeom prst="straightConnector1">
            <a:avLst/>
          </a:prstGeom>
          <a:noFill/>
          <a:ln w="9525" cap="flat" cmpd="sng">
            <a:solidFill>
              <a:schemeClr val="accent5"/>
            </a:solidFill>
            <a:prstDash val="dash"/>
            <a:round/>
            <a:headEnd type="none" w="sm" len="sm"/>
            <a:tailEnd type="triangle" w="med" len="med"/>
          </a:ln>
        </p:spPr>
      </p:cxnSp>
      <p:sp>
        <p:nvSpPr>
          <p:cNvPr id="446" name="Google Shape;446;p30"/>
          <p:cNvSpPr txBox="1"/>
          <p:nvPr/>
        </p:nvSpPr>
        <p:spPr>
          <a:xfrm>
            <a:off x="4654225" y="3437125"/>
            <a:ext cx="1239900" cy="63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pt-BR" sz="1400" b="0" i="0" u="none" strike="noStrike" cap="none">
                <a:solidFill>
                  <a:schemeClr val="lt1"/>
                </a:solidFill>
                <a:highlight>
                  <a:schemeClr val="accent5"/>
                </a:highlight>
                <a:latin typeface="Proxima Nova"/>
                <a:ea typeface="Proxima Nova"/>
                <a:cs typeface="Proxima Nova"/>
                <a:sym typeface="Proxima Nova"/>
              </a:rPr>
              <a:t>Visium</a:t>
            </a:r>
            <a:endParaRPr sz="1400" b="0" i="0" u="none" strike="noStrike" cap="none">
              <a:solidFill>
                <a:schemeClr val="lt1"/>
              </a:solidFill>
              <a:highlight>
                <a:schemeClr val="accent5"/>
              </a:highlight>
              <a:latin typeface="Proxima Nova"/>
              <a:ea typeface="Proxima Nova"/>
              <a:cs typeface="Proxima Nova"/>
              <a:sym typeface="Proxima Nova"/>
            </a:endParaRPr>
          </a:p>
        </p:txBody>
      </p:sp>
      <p:pic>
        <p:nvPicPr>
          <p:cNvPr id="447" name="Google Shape;447;p30"/>
          <p:cNvPicPr preferRelativeResize="0"/>
          <p:nvPr/>
        </p:nvPicPr>
        <p:blipFill rotWithShape="1">
          <a:blip r:embed="rId3">
            <a:alphaModFix/>
          </a:blip>
          <a:srcRect/>
          <a:stretch/>
        </p:blipFill>
        <p:spPr>
          <a:xfrm>
            <a:off x="7470225" y="3644738"/>
            <a:ext cx="1523430" cy="979338"/>
          </a:xfrm>
          <a:prstGeom prst="rect">
            <a:avLst/>
          </a:prstGeom>
          <a:noFill/>
          <a:ln>
            <a:noFill/>
          </a:ln>
        </p:spPr>
      </p:pic>
      <p:pic>
        <p:nvPicPr>
          <p:cNvPr id="448" name="Google Shape;448;p30"/>
          <p:cNvPicPr preferRelativeResize="0"/>
          <p:nvPr/>
        </p:nvPicPr>
        <p:blipFill rotWithShape="1">
          <a:blip r:embed="rId4">
            <a:alphaModFix/>
          </a:blip>
          <a:srcRect/>
          <a:stretch/>
        </p:blipFill>
        <p:spPr>
          <a:xfrm>
            <a:off x="5707875" y="3546400"/>
            <a:ext cx="1622225" cy="1290050"/>
          </a:xfrm>
          <a:prstGeom prst="rect">
            <a:avLst/>
          </a:prstGeom>
          <a:noFill/>
          <a:ln>
            <a:noFill/>
          </a:ln>
        </p:spPr>
      </p:pic>
      <p:pic>
        <p:nvPicPr>
          <p:cNvPr id="449" name="Google Shape;449;p30"/>
          <p:cNvPicPr preferRelativeResize="0"/>
          <p:nvPr/>
        </p:nvPicPr>
        <p:blipFill rotWithShape="1">
          <a:blip r:embed="rId5">
            <a:alphaModFix/>
          </a:blip>
          <a:srcRect/>
          <a:stretch/>
        </p:blipFill>
        <p:spPr>
          <a:xfrm>
            <a:off x="4264349" y="239750"/>
            <a:ext cx="4656476" cy="1467470"/>
          </a:xfrm>
          <a:prstGeom prst="rect">
            <a:avLst/>
          </a:prstGeom>
          <a:noFill/>
          <a:ln>
            <a:noFill/>
          </a:ln>
        </p:spPr>
      </p:pic>
      <p:pic>
        <p:nvPicPr>
          <p:cNvPr id="450" name="Google Shape;450;p30"/>
          <p:cNvPicPr preferRelativeResize="0"/>
          <p:nvPr/>
        </p:nvPicPr>
        <p:blipFill rotWithShape="1">
          <a:blip r:embed="rId6">
            <a:alphaModFix/>
          </a:blip>
          <a:srcRect/>
          <a:stretch/>
        </p:blipFill>
        <p:spPr>
          <a:xfrm>
            <a:off x="6731350" y="1674688"/>
            <a:ext cx="2262300" cy="184162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4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4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4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4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4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pic>
        <p:nvPicPr>
          <p:cNvPr id="472" name="Google Shape;472;p32" descr="An introduction to RNA seq data analysis"/>
          <p:cNvPicPr preferRelativeResize="0"/>
          <p:nvPr/>
        </p:nvPicPr>
        <p:blipFill rotWithShape="1">
          <a:blip r:embed="rId3">
            <a:alphaModFix/>
          </a:blip>
          <a:srcRect/>
          <a:stretch/>
        </p:blipFill>
        <p:spPr>
          <a:xfrm>
            <a:off x="376223" y="1867763"/>
            <a:ext cx="2323155" cy="1485499"/>
          </a:xfrm>
          <a:prstGeom prst="rect">
            <a:avLst/>
          </a:prstGeom>
          <a:noFill/>
          <a:ln>
            <a:noFill/>
          </a:ln>
        </p:spPr>
      </p:pic>
      <p:pic>
        <p:nvPicPr>
          <p:cNvPr id="473" name="Google Shape;473;p32" descr="Single cell RNA sequencing – NGS Analysis"/>
          <p:cNvPicPr preferRelativeResize="0"/>
          <p:nvPr/>
        </p:nvPicPr>
        <p:blipFill rotWithShape="1">
          <a:blip r:embed="rId4">
            <a:alphaModFix/>
          </a:blip>
          <a:srcRect/>
          <a:stretch/>
        </p:blipFill>
        <p:spPr>
          <a:xfrm>
            <a:off x="3197792" y="1763502"/>
            <a:ext cx="2258694" cy="1694022"/>
          </a:xfrm>
          <a:prstGeom prst="rect">
            <a:avLst/>
          </a:prstGeom>
          <a:noFill/>
          <a:ln>
            <a:noFill/>
          </a:ln>
        </p:spPr>
      </p:pic>
      <p:pic>
        <p:nvPicPr>
          <p:cNvPr id="474" name="Google Shape;474;p32" descr="Exploring tissue architecture using spatial transcriptomics | Nature"/>
          <p:cNvPicPr preferRelativeResize="0"/>
          <p:nvPr/>
        </p:nvPicPr>
        <p:blipFill rotWithShape="1">
          <a:blip r:embed="rId5">
            <a:alphaModFix/>
          </a:blip>
          <a:srcRect/>
          <a:stretch/>
        </p:blipFill>
        <p:spPr>
          <a:xfrm>
            <a:off x="5838252" y="1966401"/>
            <a:ext cx="3001478" cy="1288226"/>
          </a:xfrm>
          <a:prstGeom prst="rect">
            <a:avLst/>
          </a:prstGeom>
          <a:noFill/>
          <a:ln>
            <a:noFill/>
          </a:ln>
        </p:spPr>
      </p:pic>
      <p:sp>
        <p:nvSpPr>
          <p:cNvPr id="475" name="Google Shape;475;p32"/>
          <p:cNvSpPr txBox="1"/>
          <p:nvPr/>
        </p:nvSpPr>
        <p:spPr>
          <a:xfrm>
            <a:off x="772889" y="1065300"/>
            <a:ext cx="1487700" cy="345000"/>
          </a:xfrm>
          <a:prstGeom prst="rect">
            <a:avLst/>
          </a:prstGeom>
          <a:noFill/>
          <a:ln>
            <a:noFill/>
          </a:ln>
        </p:spPr>
        <p:txBody>
          <a:bodyPr spcFirstLastPara="1" wrap="square" lIns="68275" tIns="34125" rIns="68275" bIns="34125" anchor="t" anchorCtr="0">
            <a:spAutoFit/>
          </a:bodyPr>
          <a:lstStyle/>
          <a:p>
            <a:pPr marL="0" marR="0" lvl="0" indent="0" algn="ctr" rtl="0">
              <a:lnSpc>
                <a:spcPct val="100000"/>
              </a:lnSpc>
              <a:spcBef>
                <a:spcPts val="0"/>
              </a:spcBef>
              <a:spcAft>
                <a:spcPts val="0"/>
              </a:spcAft>
              <a:buClr>
                <a:srgbClr val="000000"/>
              </a:buClr>
              <a:buSzPts val="1793"/>
              <a:buFont typeface="Arial"/>
              <a:buNone/>
            </a:pPr>
            <a:r>
              <a:rPr lang="pt-BR" sz="1793" b="1" i="0" u="none" strike="noStrike" cap="none">
                <a:solidFill>
                  <a:srgbClr val="292934"/>
                </a:solidFill>
                <a:latin typeface="Proxima Nova"/>
                <a:ea typeface="Proxima Nova"/>
                <a:cs typeface="Proxima Nova"/>
                <a:sym typeface="Proxima Nova"/>
              </a:rPr>
              <a:t>bulk RNAseq</a:t>
            </a:r>
            <a:endParaRPr sz="1793" b="1" i="0" u="none" strike="noStrike" cap="none">
              <a:solidFill>
                <a:srgbClr val="292934"/>
              </a:solidFill>
              <a:latin typeface="Proxima Nova"/>
              <a:ea typeface="Proxima Nova"/>
              <a:cs typeface="Proxima Nova"/>
              <a:sym typeface="Proxima Nova"/>
            </a:endParaRPr>
          </a:p>
        </p:txBody>
      </p:sp>
      <p:sp>
        <p:nvSpPr>
          <p:cNvPr id="476" name="Google Shape;476;p32"/>
          <p:cNvSpPr txBox="1"/>
          <p:nvPr/>
        </p:nvSpPr>
        <p:spPr>
          <a:xfrm>
            <a:off x="3617483" y="1065311"/>
            <a:ext cx="1419300" cy="345000"/>
          </a:xfrm>
          <a:prstGeom prst="rect">
            <a:avLst/>
          </a:prstGeom>
          <a:noFill/>
          <a:ln>
            <a:noFill/>
          </a:ln>
        </p:spPr>
        <p:txBody>
          <a:bodyPr spcFirstLastPara="1" wrap="square" lIns="68275" tIns="34125" rIns="68275" bIns="34125" anchor="t" anchorCtr="0">
            <a:spAutoFit/>
          </a:bodyPr>
          <a:lstStyle/>
          <a:p>
            <a:pPr marL="0" marR="0" lvl="0" indent="0" algn="ctr" rtl="0">
              <a:lnSpc>
                <a:spcPct val="100000"/>
              </a:lnSpc>
              <a:spcBef>
                <a:spcPts val="0"/>
              </a:spcBef>
              <a:spcAft>
                <a:spcPts val="0"/>
              </a:spcAft>
              <a:buClr>
                <a:srgbClr val="000000"/>
              </a:buClr>
              <a:buSzPts val="1793"/>
              <a:buFont typeface="Arial"/>
              <a:buNone/>
            </a:pPr>
            <a:r>
              <a:rPr lang="pt-BR" sz="1793" b="1" i="0" u="none" strike="noStrike" cap="none">
                <a:solidFill>
                  <a:srgbClr val="292934"/>
                </a:solidFill>
                <a:latin typeface="Proxima Nova"/>
                <a:ea typeface="Proxima Nova"/>
                <a:cs typeface="Proxima Nova"/>
                <a:sym typeface="Proxima Nova"/>
              </a:rPr>
              <a:t>scRNAseq</a:t>
            </a:r>
            <a:endParaRPr sz="1793" b="1" i="0" u="none" strike="noStrike" cap="none">
              <a:solidFill>
                <a:srgbClr val="292934"/>
              </a:solidFill>
              <a:latin typeface="Proxima Nova"/>
              <a:ea typeface="Proxima Nova"/>
              <a:cs typeface="Proxima Nova"/>
              <a:sym typeface="Proxima Nova"/>
            </a:endParaRPr>
          </a:p>
        </p:txBody>
      </p:sp>
      <p:sp>
        <p:nvSpPr>
          <p:cNvPr id="477" name="Google Shape;477;p32"/>
          <p:cNvSpPr txBox="1"/>
          <p:nvPr/>
        </p:nvSpPr>
        <p:spPr>
          <a:xfrm>
            <a:off x="5920888" y="1065311"/>
            <a:ext cx="2836200" cy="345000"/>
          </a:xfrm>
          <a:prstGeom prst="rect">
            <a:avLst/>
          </a:prstGeom>
          <a:noFill/>
          <a:ln>
            <a:noFill/>
          </a:ln>
        </p:spPr>
        <p:txBody>
          <a:bodyPr spcFirstLastPara="1" wrap="square" lIns="68275" tIns="34125" rIns="68275" bIns="34125" anchor="t" anchorCtr="0">
            <a:spAutoFit/>
          </a:bodyPr>
          <a:lstStyle/>
          <a:p>
            <a:pPr marL="0" marR="0" lvl="0" indent="0" algn="ctr" rtl="0">
              <a:lnSpc>
                <a:spcPct val="100000"/>
              </a:lnSpc>
              <a:spcBef>
                <a:spcPts val="0"/>
              </a:spcBef>
              <a:spcAft>
                <a:spcPts val="0"/>
              </a:spcAft>
              <a:buClr>
                <a:srgbClr val="000000"/>
              </a:buClr>
              <a:buSzPts val="1793"/>
              <a:buFont typeface="Arial"/>
              <a:buNone/>
            </a:pPr>
            <a:r>
              <a:rPr lang="pt-BR" sz="1793" b="1" i="0" u="none" strike="noStrike" cap="none">
                <a:solidFill>
                  <a:srgbClr val="292934"/>
                </a:solidFill>
                <a:latin typeface="Proxima Nova"/>
                <a:ea typeface="Proxima Nova"/>
                <a:cs typeface="Proxima Nova"/>
                <a:sym typeface="Proxima Nova"/>
              </a:rPr>
              <a:t>Spatial Transcriptomics</a:t>
            </a:r>
            <a:endParaRPr sz="1793" b="1" i="0" u="none" strike="noStrike" cap="none">
              <a:solidFill>
                <a:srgbClr val="292934"/>
              </a:solidFill>
              <a:latin typeface="Proxima Nova"/>
              <a:ea typeface="Proxima Nova"/>
              <a:cs typeface="Proxima Nova"/>
              <a:sym typeface="Proxima Nova"/>
            </a:endParaRPr>
          </a:p>
        </p:txBody>
      </p:sp>
      <p:sp>
        <p:nvSpPr>
          <p:cNvPr id="478" name="Google Shape;478;p32"/>
          <p:cNvSpPr txBox="1"/>
          <p:nvPr/>
        </p:nvSpPr>
        <p:spPr>
          <a:xfrm>
            <a:off x="6392549" y="1427819"/>
            <a:ext cx="1893000" cy="503100"/>
          </a:xfrm>
          <a:prstGeom prst="rect">
            <a:avLst/>
          </a:prstGeom>
          <a:noFill/>
          <a:ln>
            <a:noFill/>
          </a:ln>
        </p:spPr>
        <p:txBody>
          <a:bodyPr spcFirstLastPara="1" wrap="square" lIns="68275" tIns="34125" rIns="68275" bIns="34125" anchor="t" anchorCtr="0">
            <a:normAutofit/>
          </a:bodyPr>
          <a:lstStyle/>
          <a:p>
            <a:pPr marL="0" marR="0" lvl="0" indent="0" algn="ctr" rtl="0">
              <a:lnSpc>
                <a:spcPct val="100000"/>
              </a:lnSpc>
              <a:spcBef>
                <a:spcPts val="0"/>
              </a:spcBef>
              <a:spcAft>
                <a:spcPts val="0"/>
              </a:spcAft>
              <a:buClr>
                <a:srgbClr val="000000"/>
              </a:buClr>
              <a:buSzPts val="1793"/>
              <a:buFont typeface="Arial"/>
              <a:buNone/>
            </a:pPr>
            <a:r>
              <a:rPr lang="pt-BR" sz="1793" b="1" i="0" u="none" strike="noStrike" cap="none">
                <a:solidFill>
                  <a:srgbClr val="FF0000"/>
                </a:solidFill>
                <a:latin typeface="Proxima Nova"/>
                <a:ea typeface="Proxima Nova"/>
                <a:cs typeface="Proxima Nova"/>
                <a:sym typeface="Proxima Nova"/>
              </a:rPr>
              <a:t>2016</a:t>
            </a:r>
            <a:endParaRPr sz="1793" b="0" i="0" u="none" strike="noStrike" cap="none">
              <a:solidFill>
                <a:srgbClr val="292934"/>
              </a:solidFill>
              <a:latin typeface="Proxima Nova"/>
              <a:ea typeface="Proxima Nova"/>
              <a:cs typeface="Proxima Nova"/>
              <a:sym typeface="Proxima Nova"/>
            </a:endParaRPr>
          </a:p>
        </p:txBody>
      </p:sp>
      <p:sp>
        <p:nvSpPr>
          <p:cNvPr id="479" name="Google Shape;479;p32"/>
          <p:cNvSpPr txBox="1"/>
          <p:nvPr/>
        </p:nvSpPr>
        <p:spPr>
          <a:xfrm>
            <a:off x="148504" y="3708843"/>
            <a:ext cx="1161300" cy="1548300"/>
          </a:xfrm>
          <a:prstGeom prst="rect">
            <a:avLst/>
          </a:prstGeom>
          <a:noFill/>
          <a:ln>
            <a:noFill/>
          </a:ln>
        </p:spPr>
        <p:txBody>
          <a:bodyPr spcFirstLastPara="1" wrap="square" lIns="68275" tIns="34125" rIns="68275" bIns="34125" anchor="t" anchorCtr="0">
            <a:normAutofit/>
          </a:bodyPr>
          <a:lstStyle/>
          <a:p>
            <a:pPr marL="0" marR="0" lvl="0" indent="0" algn="l" rtl="0">
              <a:lnSpc>
                <a:spcPct val="150000"/>
              </a:lnSpc>
              <a:spcBef>
                <a:spcPts val="0"/>
              </a:spcBef>
              <a:spcAft>
                <a:spcPts val="0"/>
              </a:spcAft>
              <a:buClr>
                <a:srgbClr val="93A299"/>
              </a:buClr>
              <a:buSzPts val="1524"/>
              <a:buFont typeface="Arial"/>
              <a:buNone/>
            </a:pPr>
            <a:r>
              <a:rPr lang="pt-BR" sz="1793" i="0" u="none" strike="noStrike" cap="none">
                <a:solidFill>
                  <a:srgbClr val="292934"/>
                </a:solidFill>
                <a:latin typeface="Proxima Nova"/>
                <a:ea typeface="Proxima Nova"/>
                <a:cs typeface="Proxima Nova"/>
                <a:sym typeface="Proxima Nova"/>
              </a:rPr>
              <a:t>RNA</a:t>
            </a:r>
            <a:endParaRPr sz="1046" i="0" u="none" strike="noStrike" cap="none">
              <a:solidFill>
                <a:srgbClr val="000000"/>
              </a:solidFill>
              <a:latin typeface="Proxima Nova"/>
              <a:ea typeface="Proxima Nova"/>
              <a:cs typeface="Proxima Nova"/>
              <a:sym typeface="Proxima Nova"/>
            </a:endParaRPr>
          </a:p>
          <a:p>
            <a:pPr marL="0" marR="0" lvl="0" indent="0" algn="l" rtl="0">
              <a:lnSpc>
                <a:spcPct val="150000"/>
              </a:lnSpc>
              <a:spcBef>
                <a:spcPts val="359"/>
              </a:spcBef>
              <a:spcAft>
                <a:spcPts val="0"/>
              </a:spcAft>
              <a:buClr>
                <a:srgbClr val="93A299"/>
              </a:buClr>
              <a:buSzPts val="1524"/>
              <a:buFont typeface="Arial"/>
              <a:buNone/>
            </a:pPr>
            <a:r>
              <a:rPr lang="pt-BR" sz="1793" i="0" u="none" strike="noStrike" cap="none">
                <a:solidFill>
                  <a:srgbClr val="292934"/>
                </a:solidFill>
                <a:latin typeface="Proxima Nova"/>
                <a:ea typeface="Proxima Nova"/>
                <a:cs typeface="Proxima Nova"/>
                <a:sym typeface="Proxima Nova"/>
              </a:rPr>
              <a:t>Célula</a:t>
            </a:r>
            <a:endParaRPr sz="1793" i="0" u="none" strike="noStrike" cap="none">
              <a:solidFill>
                <a:srgbClr val="292934"/>
              </a:solidFill>
              <a:latin typeface="Proxima Nova"/>
              <a:ea typeface="Proxima Nova"/>
              <a:cs typeface="Proxima Nova"/>
              <a:sym typeface="Proxima Nova"/>
            </a:endParaRPr>
          </a:p>
          <a:p>
            <a:pPr marL="0" marR="0" lvl="0" indent="0" algn="l" rtl="0">
              <a:lnSpc>
                <a:spcPct val="150000"/>
              </a:lnSpc>
              <a:spcBef>
                <a:spcPts val="359"/>
              </a:spcBef>
              <a:spcAft>
                <a:spcPts val="0"/>
              </a:spcAft>
              <a:buClr>
                <a:srgbClr val="93A299"/>
              </a:buClr>
              <a:buSzPts val="1524"/>
              <a:buFont typeface="Arial"/>
              <a:buNone/>
            </a:pPr>
            <a:r>
              <a:rPr lang="pt-BR" sz="1793" i="0" u="none" strike="noStrike" cap="none">
                <a:solidFill>
                  <a:srgbClr val="292934"/>
                </a:solidFill>
                <a:latin typeface="Proxima Nova"/>
                <a:ea typeface="Proxima Nova"/>
                <a:cs typeface="Proxima Nova"/>
                <a:sym typeface="Proxima Nova"/>
              </a:rPr>
              <a:t>Tecido</a:t>
            </a:r>
            <a:endParaRPr sz="1793" i="0" u="none" strike="noStrike" cap="none">
              <a:solidFill>
                <a:srgbClr val="292934"/>
              </a:solidFill>
              <a:latin typeface="Proxima Nova"/>
              <a:ea typeface="Proxima Nova"/>
              <a:cs typeface="Proxima Nova"/>
              <a:sym typeface="Proxima Nova"/>
            </a:endParaRPr>
          </a:p>
        </p:txBody>
      </p:sp>
      <p:sp>
        <p:nvSpPr>
          <p:cNvPr id="480" name="Google Shape;480;p32"/>
          <p:cNvSpPr txBox="1"/>
          <p:nvPr/>
        </p:nvSpPr>
        <p:spPr>
          <a:xfrm>
            <a:off x="591359" y="1427819"/>
            <a:ext cx="1893000" cy="503100"/>
          </a:xfrm>
          <a:prstGeom prst="rect">
            <a:avLst/>
          </a:prstGeom>
          <a:noFill/>
          <a:ln>
            <a:noFill/>
          </a:ln>
        </p:spPr>
        <p:txBody>
          <a:bodyPr spcFirstLastPara="1" wrap="square" lIns="68275" tIns="34125" rIns="68275" bIns="34125" anchor="t" anchorCtr="0">
            <a:normAutofit/>
          </a:bodyPr>
          <a:lstStyle/>
          <a:p>
            <a:pPr marL="0" marR="0" lvl="0" indent="0" algn="ctr" rtl="0">
              <a:lnSpc>
                <a:spcPct val="100000"/>
              </a:lnSpc>
              <a:spcBef>
                <a:spcPts val="0"/>
              </a:spcBef>
              <a:spcAft>
                <a:spcPts val="0"/>
              </a:spcAft>
              <a:buClr>
                <a:srgbClr val="93A299"/>
              </a:buClr>
              <a:buSzPts val="1524"/>
              <a:buFont typeface="Arial"/>
              <a:buNone/>
            </a:pPr>
            <a:r>
              <a:rPr lang="pt-BR" sz="1793" b="1" i="0" u="none" strike="noStrike" cap="none">
                <a:solidFill>
                  <a:srgbClr val="FF0000"/>
                </a:solidFill>
                <a:latin typeface="Proxima Nova"/>
                <a:ea typeface="Proxima Nova"/>
                <a:cs typeface="Proxima Nova"/>
                <a:sym typeface="Proxima Nova"/>
              </a:rPr>
              <a:t>2006</a:t>
            </a:r>
            <a:endParaRPr sz="1046" b="0" i="0" u="none" strike="noStrike" cap="none">
              <a:solidFill>
                <a:srgbClr val="000000"/>
              </a:solidFill>
              <a:latin typeface="Proxima Nova"/>
              <a:ea typeface="Proxima Nova"/>
              <a:cs typeface="Proxima Nova"/>
              <a:sym typeface="Proxima Nova"/>
            </a:endParaRPr>
          </a:p>
        </p:txBody>
      </p:sp>
      <p:sp>
        <p:nvSpPr>
          <p:cNvPr id="481" name="Google Shape;481;p32"/>
          <p:cNvSpPr txBox="1"/>
          <p:nvPr/>
        </p:nvSpPr>
        <p:spPr>
          <a:xfrm>
            <a:off x="3380698" y="1427819"/>
            <a:ext cx="1893000" cy="503100"/>
          </a:xfrm>
          <a:prstGeom prst="rect">
            <a:avLst/>
          </a:prstGeom>
          <a:noFill/>
          <a:ln>
            <a:noFill/>
          </a:ln>
        </p:spPr>
        <p:txBody>
          <a:bodyPr spcFirstLastPara="1" wrap="square" lIns="68275" tIns="34125" rIns="68275" bIns="34125" anchor="t" anchorCtr="0">
            <a:normAutofit/>
          </a:bodyPr>
          <a:lstStyle/>
          <a:p>
            <a:pPr marL="0" marR="0" lvl="0" indent="0" algn="ctr" rtl="0">
              <a:lnSpc>
                <a:spcPct val="100000"/>
              </a:lnSpc>
              <a:spcBef>
                <a:spcPts val="0"/>
              </a:spcBef>
              <a:spcAft>
                <a:spcPts val="0"/>
              </a:spcAft>
              <a:buClr>
                <a:srgbClr val="93A299"/>
              </a:buClr>
              <a:buSzPts val="1524"/>
              <a:buFont typeface="Arial"/>
              <a:buNone/>
            </a:pPr>
            <a:r>
              <a:rPr lang="pt-BR" sz="1793" b="1" i="0" u="none" strike="noStrike" cap="none">
                <a:solidFill>
                  <a:srgbClr val="FF0000"/>
                </a:solidFill>
                <a:latin typeface="Proxima Nova"/>
                <a:ea typeface="Proxima Nova"/>
                <a:cs typeface="Proxima Nova"/>
                <a:sym typeface="Proxima Nova"/>
              </a:rPr>
              <a:t>2009</a:t>
            </a:r>
            <a:endParaRPr sz="1046" b="0" i="0" u="none" strike="noStrike" cap="none">
              <a:solidFill>
                <a:srgbClr val="000000"/>
              </a:solidFill>
              <a:latin typeface="Proxima Nova"/>
              <a:ea typeface="Proxima Nova"/>
              <a:cs typeface="Proxima Nova"/>
              <a:sym typeface="Proxima Nova"/>
            </a:endParaRPr>
          </a:p>
        </p:txBody>
      </p:sp>
      <p:cxnSp>
        <p:nvCxnSpPr>
          <p:cNvPr id="482" name="Google Shape;482;p32"/>
          <p:cNvCxnSpPr/>
          <p:nvPr/>
        </p:nvCxnSpPr>
        <p:spPr>
          <a:xfrm>
            <a:off x="2331862" y="1425341"/>
            <a:ext cx="1048800" cy="0"/>
          </a:xfrm>
          <a:prstGeom prst="straightConnector1">
            <a:avLst/>
          </a:prstGeom>
          <a:noFill/>
          <a:ln w="21350" cap="flat" cmpd="sng">
            <a:solidFill>
              <a:srgbClr val="D2533C"/>
            </a:solidFill>
            <a:prstDash val="solid"/>
            <a:round/>
            <a:headEnd type="none" w="sm" len="sm"/>
            <a:tailEnd type="triangle" w="med" len="med"/>
          </a:ln>
        </p:spPr>
      </p:cxnSp>
      <p:cxnSp>
        <p:nvCxnSpPr>
          <p:cNvPr id="483" name="Google Shape;483;p32"/>
          <p:cNvCxnSpPr/>
          <p:nvPr/>
        </p:nvCxnSpPr>
        <p:spPr>
          <a:xfrm>
            <a:off x="5036796" y="1432685"/>
            <a:ext cx="952200" cy="0"/>
          </a:xfrm>
          <a:prstGeom prst="straightConnector1">
            <a:avLst/>
          </a:prstGeom>
          <a:noFill/>
          <a:ln w="21350" cap="flat" cmpd="sng">
            <a:solidFill>
              <a:srgbClr val="D2533C"/>
            </a:solidFill>
            <a:prstDash val="solid"/>
            <a:round/>
            <a:headEnd type="none" w="sm" len="sm"/>
            <a:tailEnd type="triangle" w="med" len="med"/>
          </a:ln>
        </p:spPr>
      </p:cxnSp>
      <p:sp>
        <p:nvSpPr>
          <p:cNvPr id="484" name="Google Shape;484;p32"/>
          <p:cNvSpPr txBox="1"/>
          <p:nvPr/>
        </p:nvSpPr>
        <p:spPr>
          <a:xfrm>
            <a:off x="1373288" y="3673576"/>
            <a:ext cx="328800" cy="412500"/>
          </a:xfrm>
          <a:prstGeom prst="rect">
            <a:avLst/>
          </a:prstGeom>
          <a:noFill/>
          <a:ln>
            <a:noFill/>
          </a:ln>
        </p:spPr>
        <p:txBody>
          <a:bodyPr spcFirstLastPara="1" wrap="square" lIns="68275" tIns="34125" rIns="68275" bIns="34125" anchor="t" anchorCtr="0">
            <a:normAutofit/>
          </a:bodyPr>
          <a:lstStyle/>
          <a:p>
            <a:pPr marL="0" marR="0" lvl="0" indent="0" algn="l" rtl="0">
              <a:lnSpc>
                <a:spcPct val="100000"/>
              </a:lnSpc>
              <a:spcBef>
                <a:spcPts val="0"/>
              </a:spcBef>
              <a:spcAft>
                <a:spcPts val="0"/>
              </a:spcAft>
              <a:buClr>
                <a:srgbClr val="93A299"/>
              </a:buClr>
              <a:buSzPts val="1778"/>
              <a:buFont typeface="Arial"/>
              <a:buNone/>
            </a:pPr>
            <a:r>
              <a:rPr lang="pt-BR" sz="2091" b="1" i="0" u="none" strike="noStrike" cap="none">
                <a:solidFill>
                  <a:srgbClr val="292934"/>
                </a:solidFill>
                <a:latin typeface="Proxima Nova"/>
                <a:ea typeface="Proxima Nova"/>
                <a:cs typeface="Proxima Nova"/>
                <a:sym typeface="Proxima Nova"/>
              </a:rPr>
              <a:t>X</a:t>
            </a:r>
            <a:endParaRPr sz="1046" b="0" i="0" u="none" strike="noStrike" cap="none">
              <a:solidFill>
                <a:srgbClr val="000000"/>
              </a:solidFill>
              <a:latin typeface="Proxima Nova"/>
              <a:ea typeface="Proxima Nova"/>
              <a:cs typeface="Proxima Nova"/>
              <a:sym typeface="Proxima Nova"/>
            </a:endParaRPr>
          </a:p>
        </p:txBody>
      </p:sp>
      <p:sp>
        <p:nvSpPr>
          <p:cNvPr id="485" name="Google Shape;485;p32"/>
          <p:cNvSpPr txBox="1"/>
          <p:nvPr/>
        </p:nvSpPr>
        <p:spPr>
          <a:xfrm>
            <a:off x="4162627" y="3673576"/>
            <a:ext cx="328800" cy="412500"/>
          </a:xfrm>
          <a:prstGeom prst="rect">
            <a:avLst/>
          </a:prstGeom>
          <a:noFill/>
          <a:ln>
            <a:noFill/>
          </a:ln>
        </p:spPr>
        <p:txBody>
          <a:bodyPr spcFirstLastPara="1" wrap="square" lIns="68275" tIns="34125" rIns="68275" bIns="34125" anchor="t" anchorCtr="0">
            <a:normAutofit/>
          </a:bodyPr>
          <a:lstStyle/>
          <a:p>
            <a:pPr marL="0" marR="0" lvl="0" indent="0" algn="l" rtl="0">
              <a:lnSpc>
                <a:spcPct val="100000"/>
              </a:lnSpc>
              <a:spcBef>
                <a:spcPts val="0"/>
              </a:spcBef>
              <a:spcAft>
                <a:spcPts val="0"/>
              </a:spcAft>
              <a:buClr>
                <a:srgbClr val="93A299"/>
              </a:buClr>
              <a:buSzPts val="1778"/>
              <a:buFont typeface="Arial"/>
              <a:buNone/>
            </a:pPr>
            <a:r>
              <a:rPr lang="pt-BR" sz="2091" b="1" i="0" u="none" strike="noStrike" cap="none">
                <a:solidFill>
                  <a:srgbClr val="292934"/>
                </a:solidFill>
                <a:latin typeface="Proxima Nova"/>
                <a:ea typeface="Proxima Nova"/>
                <a:cs typeface="Proxima Nova"/>
                <a:sym typeface="Proxima Nova"/>
              </a:rPr>
              <a:t>X</a:t>
            </a:r>
            <a:endParaRPr sz="1046" b="0" i="0" u="none" strike="noStrike" cap="none">
              <a:solidFill>
                <a:srgbClr val="000000"/>
              </a:solidFill>
              <a:latin typeface="Proxima Nova"/>
              <a:ea typeface="Proxima Nova"/>
              <a:cs typeface="Proxima Nova"/>
              <a:sym typeface="Proxima Nova"/>
            </a:endParaRPr>
          </a:p>
        </p:txBody>
      </p:sp>
      <p:sp>
        <p:nvSpPr>
          <p:cNvPr id="486" name="Google Shape;486;p32"/>
          <p:cNvSpPr txBox="1"/>
          <p:nvPr/>
        </p:nvSpPr>
        <p:spPr>
          <a:xfrm>
            <a:off x="4162627" y="4086149"/>
            <a:ext cx="328800" cy="412500"/>
          </a:xfrm>
          <a:prstGeom prst="rect">
            <a:avLst/>
          </a:prstGeom>
          <a:noFill/>
          <a:ln>
            <a:noFill/>
          </a:ln>
        </p:spPr>
        <p:txBody>
          <a:bodyPr spcFirstLastPara="1" wrap="square" lIns="68275" tIns="34125" rIns="68275" bIns="34125" anchor="t" anchorCtr="0">
            <a:normAutofit/>
          </a:bodyPr>
          <a:lstStyle/>
          <a:p>
            <a:pPr marL="0" marR="0" lvl="0" indent="0" algn="l" rtl="0">
              <a:lnSpc>
                <a:spcPct val="100000"/>
              </a:lnSpc>
              <a:spcBef>
                <a:spcPts val="0"/>
              </a:spcBef>
              <a:spcAft>
                <a:spcPts val="0"/>
              </a:spcAft>
              <a:buClr>
                <a:srgbClr val="93A299"/>
              </a:buClr>
              <a:buSzPts val="1778"/>
              <a:buFont typeface="Arial"/>
              <a:buNone/>
            </a:pPr>
            <a:r>
              <a:rPr lang="pt-BR" sz="2091" b="1" i="0" u="none" strike="noStrike" cap="none">
                <a:solidFill>
                  <a:srgbClr val="292934"/>
                </a:solidFill>
                <a:latin typeface="Proxima Nova"/>
                <a:ea typeface="Proxima Nova"/>
                <a:cs typeface="Proxima Nova"/>
                <a:sym typeface="Proxima Nova"/>
              </a:rPr>
              <a:t>X</a:t>
            </a:r>
            <a:endParaRPr sz="1046" b="0" i="0" u="none" strike="noStrike" cap="none">
              <a:solidFill>
                <a:srgbClr val="000000"/>
              </a:solidFill>
              <a:latin typeface="Proxima Nova"/>
              <a:ea typeface="Proxima Nova"/>
              <a:cs typeface="Proxima Nova"/>
              <a:sym typeface="Proxima Nova"/>
            </a:endParaRPr>
          </a:p>
        </p:txBody>
      </p:sp>
      <p:sp>
        <p:nvSpPr>
          <p:cNvPr id="487" name="Google Shape;487;p32"/>
          <p:cNvSpPr txBox="1"/>
          <p:nvPr/>
        </p:nvSpPr>
        <p:spPr>
          <a:xfrm>
            <a:off x="7174478" y="3673576"/>
            <a:ext cx="328800" cy="412500"/>
          </a:xfrm>
          <a:prstGeom prst="rect">
            <a:avLst/>
          </a:prstGeom>
          <a:noFill/>
          <a:ln>
            <a:noFill/>
          </a:ln>
        </p:spPr>
        <p:txBody>
          <a:bodyPr spcFirstLastPara="1" wrap="square" lIns="68275" tIns="34125" rIns="68275" bIns="34125" anchor="t" anchorCtr="0">
            <a:normAutofit/>
          </a:bodyPr>
          <a:lstStyle/>
          <a:p>
            <a:pPr marL="0" marR="0" lvl="0" indent="0" algn="l" rtl="0">
              <a:lnSpc>
                <a:spcPct val="100000"/>
              </a:lnSpc>
              <a:spcBef>
                <a:spcPts val="0"/>
              </a:spcBef>
              <a:spcAft>
                <a:spcPts val="0"/>
              </a:spcAft>
              <a:buClr>
                <a:srgbClr val="93A299"/>
              </a:buClr>
              <a:buSzPts val="1778"/>
              <a:buFont typeface="Arial"/>
              <a:buNone/>
            </a:pPr>
            <a:r>
              <a:rPr lang="pt-BR" sz="2091" b="1" i="0" u="none" strike="noStrike" cap="none">
                <a:solidFill>
                  <a:srgbClr val="292934"/>
                </a:solidFill>
                <a:latin typeface="Proxima Nova"/>
                <a:ea typeface="Proxima Nova"/>
                <a:cs typeface="Proxima Nova"/>
                <a:sym typeface="Proxima Nova"/>
              </a:rPr>
              <a:t>X</a:t>
            </a:r>
            <a:endParaRPr sz="1046" b="0" i="0" u="none" strike="noStrike" cap="none">
              <a:solidFill>
                <a:srgbClr val="000000"/>
              </a:solidFill>
              <a:latin typeface="Proxima Nova"/>
              <a:ea typeface="Proxima Nova"/>
              <a:cs typeface="Proxima Nova"/>
              <a:sym typeface="Proxima Nova"/>
            </a:endParaRPr>
          </a:p>
        </p:txBody>
      </p:sp>
      <p:sp>
        <p:nvSpPr>
          <p:cNvPr id="488" name="Google Shape;488;p32"/>
          <p:cNvSpPr txBox="1"/>
          <p:nvPr/>
        </p:nvSpPr>
        <p:spPr>
          <a:xfrm>
            <a:off x="7174478" y="4086149"/>
            <a:ext cx="328800" cy="412500"/>
          </a:xfrm>
          <a:prstGeom prst="rect">
            <a:avLst/>
          </a:prstGeom>
          <a:noFill/>
          <a:ln>
            <a:noFill/>
          </a:ln>
        </p:spPr>
        <p:txBody>
          <a:bodyPr spcFirstLastPara="1" wrap="square" lIns="68275" tIns="34125" rIns="68275" bIns="34125" anchor="t" anchorCtr="0">
            <a:normAutofit/>
          </a:bodyPr>
          <a:lstStyle/>
          <a:p>
            <a:pPr marL="0" marR="0" lvl="0" indent="0" algn="l" rtl="0">
              <a:lnSpc>
                <a:spcPct val="100000"/>
              </a:lnSpc>
              <a:spcBef>
                <a:spcPts val="0"/>
              </a:spcBef>
              <a:spcAft>
                <a:spcPts val="0"/>
              </a:spcAft>
              <a:buClr>
                <a:srgbClr val="93A299"/>
              </a:buClr>
              <a:buSzPts val="1778"/>
              <a:buFont typeface="Arial"/>
              <a:buNone/>
            </a:pPr>
            <a:r>
              <a:rPr lang="pt-BR" sz="2091" b="1" i="0" u="none" strike="noStrike" cap="none">
                <a:solidFill>
                  <a:srgbClr val="292934"/>
                </a:solidFill>
                <a:latin typeface="Proxima Nova"/>
                <a:ea typeface="Proxima Nova"/>
                <a:cs typeface="Proxima Nova"/>
                <a:sym typeface="Proxima Nova"/>
              </a:rPr>
              <a:t>X</a:t>
            </a:r>
            <a:endParaRPr sz="1046" b="0" i="0" u="none" strike="noStrike" cap="none">
              <a:solidFill>
                <a:srgbClr val="000000"/>
              </a:solidFill>
              <a:latin typeface="Proxima Nova"/>
              <a:ea typeface="Proxima Nova"/>
              <a:cs typeface="Proxima Nova"/>
              <a:sym typeface="Proxima Nova"/>
            </a:endParaRPr>
          </a:p>
        </p:txBody>
      </p:sp>
      <p:sp>
        <p:nvSpPr>
          <p:cNvPr id="489" name="Google Shape;489;p32"/>
          <p:cNvSpPr txBox="1"/>
          <p:nvPr/>
        </p:nvSpPr>
        <p:spPr>
          <a:xfrm>
            <a:off x="7174478" y="4516079"/>
            <a:ext cx="328800" cy="412500"/>
          </a:xfrm>
          <a:prstGeom prst="rect">
            <a:avLst/>
          </a:prstGeom>
          <a:noFill/>
          <a:ln>
            <a:noFill/>
          </a:ln>
        </p:spPr>
        <p:txBody>
          <a:bodyPr spcFirstLastPara="1" wrap="square" lIns="68275" tIns="34125" rIns="68275" bIns="34125" anchor="t" anchorCtr="0">
            <a:normAutofit/>
          </a:bodyPr>
          <a:lstStyle/>
          <a:p>
            <a:pPr marL="0" marR="0" lvl="0" indent="0" algn="l" rtl="0">
              <a:lnSpc>
                <a:spcPct val="100000"/>
              </a:lnSpc>
              <a:spcBef>
                <a:spcPts val="0"/>
              </a:spcBef>
              <a:spcAft>
                <a:spcPts val="0"/>
              </a:spcAft>
              <a:buClr>
                <a:srgbClr val="93A299"/>
              </a:buClr>
              <a:buSzPts val="1778"/>
              <a:buFont typeface="Arial"/>
              <a:buNone/>
            </a:pPr>
            <a:r>
              <a:rPr lang="pt-BR" sz="2091" b="1" i="0" u="none" strike="noStrike" cap="none">
                <a:solidFill>
                  <a:srgbClr val="292934"/>
                </a:solidFill>
                <a:latin typeface="Proxima Nova"/>
                <a:ea typeface="Proxima Nova"/>
                <a:cs typeface="Proxima Nova"/>
                <a:sym typeface="Proxima Nova"/>
              </a:rPr>
              <a:t>X</a:t>
            </a:r>
            <a:endParaRPr sz="1046" b="0" i="0" u="none" strike="noStrike" cap="none">
              <a:solidFill>
                <a:srgbClr val="000000"/>
              </a:solidFill>
              <a:latin typeface="Proxima Nova"/>
              <a:ea typeface="Proxima Nova"/>
              <a:cs typeface="Proxima Nova"/>
              <a:sym typeface="Proxima Nova"/>
            </a:endParaRPr>
          </a:p>
        </p:txBody>
      </p:sp>
      <p:sp>
        <p:nvSpPr>
          <p:cNvPr id="490" name="Google Shape;490;p32"/>
          <p:cNvSpPr/>
          <p:nvPr/>
        </p:nvSpPr>
        <p:spPr>
          <a:xfrm>
            <a:off x="148500" y="1478104"/>
            <a:ext cx="8995500" cy="2116200"/>
          </a:xfrm>
          <a:prstGeom prst="rect">
            <a:avLst/>
          </a:prstGeom>
          <a:solidFill>
            <a:srgbClr val="FFFFFF">
              <a:alpha val="85882"/>
            </a:srgbClr>
          </a:solidFill>
          <a:ln>
            <a:noFill/>
          </a:ln>
        </p:spPr>
        <p:txBody>
          <a:bodyPr spcFirstLastPara="1" wrap="square" lIns="68275" tIns="34125" rIns="68275" bIns="34125" anchor="ctr" anchorCtr="0">
            <a:noAutofit/>
          </a:bodyPr>
          <a:lstStyle/>
          <a:p>
            <a:pPr marL="0" marR="0" lvl="0" indent="0" algn="ctr" rtl="0">
              <a:lnSpc>
                <a:spcPct val="100000"/>
              </a:lnSpc>
              <a:spcBef>
                <a:spcPts val="0"/>
              </a:spcBef>
              <a:spcAft>
                <a:spcPts val="0"/>
              </a:spcAft>
              <a:buClr>
                <a:srgbClr val="000000"/>
              </a:buClr>
              <a:buSzPts val="1344"/>
              <a:buFont typeface="Arial"/>
              <a:buNone/>
            </a:pPr>
            <a:endParaRPr sz="1344" i="0" u="none" strike="noStrike" cap="none">
              <a:solidFill>
                <a:srgbClr val="FFFFFF"/>
              </a:solidFill>
              <a:latin typeface="Proxima Nova"/>
              <a:ea typeface="Proxima Nova"/>
              <a:cs typeface="Proxima Nova"/>
              <a:sym typeface="Proxima Nova"/>
            </a:endParaRPr>
          </a:p>
        </p:txBody>
      </p:sp>
      <p:sp>
        <p:nvSpPr>
          <p:cNvPr id="491" name="Google Shape;491;p32"/>
          <p:cNvSpPr txBox="1"/>
          <p:nvPr/>
        </p:nvSpPr>
        <p:spPr>
          <a:xfrm>
            <a:off x="879693" y="2277440"/>
            <a:ext cx="1163100" cy="345000"/>
          </a:xfrm>
          <a:prstGeom prst="rect">
            <a:avLst/>
          </a:prstGeom>
          <a:noFill/>
          <a:ln>
            <a:noFill/>
          </a:ln>
        </p:spPr>
        <p:txBody>
          <a:bodyPr spcFirstLastPara="1" wrap="square" lIns="68275" tIns="34125" rIns="68275" bIns="34125" anchor="t" anchorCtr="0">
            <a:spAutoFit/>
          </a:bodyPr>
          <a:lstStyle/>
          <a:p>
            <a:pPr marL="0" marR="0" lvl="0" indent="0" algn="ctr" rtl="0">
              <a:lnSpc>
                <a:spcPct val="100000"/>
              </a:lnSpc>
              <a:spcBef>
                <a:spcPts val="0"/>
              </a:spcBef>
              <a:spcAft>
                <a:spcPts val="0"/>
              </a:spcAft>
              <a:buClr>
                <a:srgbClr val="000000"/>
              </a:buClr>
              <a:buSzPts val="1793"/>
              <a:buFont typeface="Arial"/>
              <a:buNone/>
            </a:pPr>
            <a:r>
              <a:rPr lang="pt-BR" sz="1793" b="1" i="0" u="none" strike="noStrike" cap="none">
                <a:solidFill>
                  <a:srgbClr val="292934"/>
                </a:solidFill>
                <a:latin typeface="Proxima Nova"/>
                <a:ea typeface="Proxima Nova"/>
                <a:cs typeface="Proxima Nova"/>
                <a:sym typeface="Proxima Nova"/>
              </a:rPr>
              <a:t>OBJETO</a:t>
            </a:r>
            <a:endParaRPr sz="1793" b="1" i="0" u="none" strike="noStrike" cap="none">
              <a:solidFill>
                <a:srgbClr val="292934"/>
              </a:solidFill>
              <a:latin typeface="Proxima Nova"/>
              <a:ea typeface="Proxima Nova"/>
              <a:cs typeface="Proxima Nova"/>
              <a:sym typeface="Proxima Nova"/>
            </a:endParaRPr>
          </a:p>
        </p:txBody>
      </p:sp>
      <p:sp>
        <p:nvSpPr>
          <p:cNvPr id="492" name="Google Shape;492;p32"/>
          <p:cNvSpPr txBox="1"/>
          <p:nvPr/>
        </p:nvSpPr>
        <p:spPr>
          <a:xfrm>
            <a:off x="3745534" y="2277440"/>
            <a:ext cx="1163100" cy="345000"/>
          </a:xfrm>
          <a:prstGeom prst="rect">
            <a:avLst/>
          </a:prstGeom>
          <a:noFill/>
          <a:ln>
            <a:noFill/>
          </a:ln>
        </p:spPr>
        <p:txBody>
          <a:bodyPr spcFirstLastPara="1" wrap="square" lIns="68275" tIns="34125" rIns="68275" bIns="34125" anchor="t" anchorCtr="0">
            <a:spAutoFit/>
          </a:bodyPr>
          <a:lstStyle/>
          <a:p>
            <a:pPr marL="0" marR="0" lvl="0" indent="0" algn="ctr" rtl="0">
              <a:lnSpc>
                <a:spcPct val="100000"/>
              </a:lnSpc>
              <a:spcBef>
                <a:spcPts val="0"/>
              </a:spcBef>
              <a:spcAft>
                <a:spcPts val="0"/>
              </a:spcAft>
              <a:buClr>
                <a:srgbClr val="000000"/>
              </a:buClr>
              <a:buSzPts val="1793"/>
              <a:buFont typeface="Arial"/>
              <a:buNone/>
            </a:pPr>
            <a:r>
              <a:rPr lang="pt-BR" sz="1793" b="1" i="0" u="none" strike="noStrike" cap="none">
                <a:solidFill>
                  <a:srgbClr val="292934"/>
                </a:solidFill>
                <a:latin typeface="Proxima Nova"/>
                <a:ea typeface="Proxima Nova"/>
                <a:cs typeface="Proxima Nova"/>
                <a:sym typeface="Proxima Nova"/>
              </a:rPr>
              <a:t>SUJEITO</a:t>
            </a:r>
            <a:endParaRPr sz="1793" b="1" i="0" u="none" strike="noStrike" cap="none">
              <a:solidFill>
                <a:srgbClr val="292934"/>
              </a:solidFill>
              <a:latin typeface="Proxima Nova"/>
              <a:ea typeface="Proxima Nova"/>
              <a:cs typeface="Proxima Nova"/>
              <a:sym typeface="Proxima Nova"/>
            </a:endParaRPr>
          </a:p>
        </p:txBody>
      </p:sp>
      <p:sp>
        <p:nvSpPr>
          <p:cNvPr id="493" name="Google Shape;493;p32"/>
          <p:cNvSpPr txBox="1"/>
          <p:nvPr/>
        </p:nvSpPr>
        <p:spPr>
          <a:xfrm>
            <a:off x="6921898" y="2277440"/>
            <a:ext cx="1487700" cy="345000"/>
          </a:xfrm>
          <a:prstGeom prst="rect">
            <a:avLst/>
          </a:prstGeom>
          <a:noFill/>
          <a:ln>
            <a:noFill/>
          </a:ln>
        </p:spPr>
        <p:txBody>
          <a:bodyPr spcFirstLastPara="1" wrap="square" lIns="68275" tIns="34125" rIns="68275" bIns="34125" anchor="t" anchorCtr="0">
            <a:spAutoFit/>
          </a:bodyPr>
          <a:lstStyle/>
          <a:p>
            <a:pPr marL="0" marR="0" lvl="0" indent="0" algn="ctr" rtl="0">
              <a:lnSpc>
                <a:spcPct val="100000"/>
              </a:lnSpc>
              <a:spcBef>
                <a:spcPts val="0"/>
              </a:spcBef>
              <a:spcAft>
                <a:spcPts val="0"/>
              </a:spcAft>
              <a:buClr>
                <a:srgbClr val="000000"/>
              </a:buClr>
              <a:buSzPts val="1793"/>
              <a:buFont typeface="Arial"/>
              <a:buNone/>
            </a:pPr>
            <a:r>
              <a:rPr lang="pt-BR" sz="1793" b="1" i="0" u="none" strike="noStrike" cap="none">
                <a:solidFill>
                  <a:srgbClr val="292934"/>
                </a:solidFill>
                <a:latin typeface="Proxima Nova"/>
                <a:ea typeface="Proxima Nova"/>
                <a:cs typeface="Proxima Nova"/>
                <a:sym typeface="Proxima Nova"/>
              </a:rPr>
              <a:t>CONTEXTO</a:t>
            </a:r>
            <a:endParaRPr sz="1793" b="1" i="0" u="none" strike="noStrike" cap="none">
              <a:solidFill>
                <a:srgbClr val="292934"/>
              </a:solidFill>
              <a:latin typeface="Proxima Nova"/>
              <a:ea typeface="Proxima Nova"/>
              <a:cs typeface="Proxima Nova"/>
              <a:sym typeface="Proxima Nova"/>
            </a:endParaRPr>
          </a:p>
        </p:txBody>
      </p:sp>
      <p:sp>
        <p:nvSpPr>
          <p:cNvPr id="494" name="Google Shape;494;p32"/>
          <p:cNvSpPr txBox="1">
            <a:spLocks noGrp="1"/>
          </p:cNvSpPr>
          <p:nvPr>
            <p:ph type="title"/>
          </p:nvPr>
        </p:nvSpPr>
        <p:spPr>
          <a:xfrm>
            <a:off x="311700" y="445025"/>
            <a:ext cx="5615400" cy="707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sz="1800" b="1"/>
              <a:t>RNA-seq espacial</a:t>
            </a:r>
            <a:endParaRPr sz="1800" b="1"/>
          </a:p>
          <a:p>
            <a:pPr marL="0" lvl="0" indent="0" algn="l" rtl="0">
              <a:lnSpc>
                <a:spcPct val="100000"/>
              </a:lnSpc>
              <a:spcBef>
                <a:spcPts val="0"/>
              </a:spcBef>
              <a:spcAft>
                <a:spcPts val="0"/>
              </a:spcAft>
              <a:buSzPts val="2800"/>
              <a:buNone/>
            </a:pPr>
            <a:r>
              <a:rPr lang="pt-BR" sz="1800"/>
              <a:t>Princípios</a:t>
            </a:r>
            <a:endParaRPr sz="1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7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7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7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7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7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8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8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8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8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7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8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8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8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8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8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8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90"/>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91"/>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92"/>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sp>
        <p:nvSpPr>
          <p:cNvPr id="499" name="Google Shape;499;p33"/>
          <p:cNvSpPr txBox="1">
            <a:spLocks noGrp="1"/>
          </p:cNvSpPr>
          <p:nvPr>
            <p:ph type="title"/>
          </p:nvPr>
        </p:nvSpPr>
        <p:spPr>
          <a:xfrm>
            <a:off x="311700" y="445025"/>
            <a:ext cx="5615400" cy="707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sz="1800" b="1"/>
              <a:t>RNA-seq espacial</a:t>
            </a:r>
            <a:endParaRPr sz="1800" b="1"/>
          </a:p>
          <a:p>
            <a:pPr marL="0" lvl="0" indent="0" algn="l" rtl="0">
              <a:lnSpc>
                <a:spcPct val="100000"/>
              </a:lnSpc>
              <a:spcBef>
                <a:spcPts val="0"/>
              </a:spcBef>
              <a:spcAft>
                <a:spcPts val="0"/>
              </a:spcAft>
              <a:buSzPts val="2800"/>
              <a:buNone/>
            </a:pPr>
            <a:r>
              <a:rPr lang="pt-BR" sz="1800"/>
              <a:t>Princípios</a:t>
            </a:r>
            <a:endParaRPr sz="1800"/>
          </a:p>
        </p:txBody>
      </p:sp>
      <p:sp>
        <p:nvSpPr>
          <p:cNvPr id="500" name="Google Shape;500;p33"/>
          <p:cNvSpPr txBox="1"/>
          <p:nvPr/>
        </p:nvSpPr>
        <p:spPr>
          <a:xfrm>
            <a:off x="121189" y="1691250"/>
            <a:ext cx="1487700" cy="345000"/>
          </a:xfrm>
          <a:prstGeom prst="rect">
            <a:avLst/>
          </a:prstGeom>
          <a:noFill/>
          <a:ln>
            <a:noFill/>
          </a:ln>
        </p:spPr>
        <p:txBody>
          <a:bodyPr spcFirstLastPara="1" wrap="square" lIns="68275" tIns="34125" rIns="68275" bIns="34125" anchor="t" anchorCtr="0">
            <a:spAutoFit/>
          </a:bodyPr>
          <a:lstStyle/>
          <a:p>
            <a:pPr marL="0" marR="0" lvl="0" indent="0" algn="ctr" rtl="0">
              <a:lnSpc>
                <a:spcPct val="100000"/>
              </a:lnSpc>
              <a:spcBef>
                <a:spcPts val="0"/>
              </a:spcBef>
              <a:spcAft>
                <a:spcPts val="0"/>
              </a:spcAft>
              <a:buClr>
                <a:srgbClr val="000000"/>
              </a:buClr>
              <a:buSzPts val="1793"/>
              <a:buFont typeface="Arial"/>
              <a:buNone/>
            </a:pPr>
            <a:r>
              <a:rPr lang="pt-BR" sz="1793" b="1" i="0" u="none" strike="noStrike" cap="none">
                <a:solidFill>
                  <a:srgbClr val="292934"/>
                </a:solidFill>
                <a:latin typeface="Proxima Nova"/>
                <a:ea typeface="Proxima Nova"/>
                <a:cs typeface="Proxima Nova"/>
                <a:sym typeface="Proxima Nova"/>
              </a:rPr>
              <a:t>bulk RNAseq</a:t>
            </a:r>
            <a:endParaRPr sz="1793" b="1" i="0" u="none" strike="noStrike" cap="none">
              <a:solidFill>
                <a:srgbClr val="292934"/>
              </a:solidFill>
              <a:latin typeface="Proxima Nova"/>
              <a:ea typeface="Proxima Nova"/>
              <a:cs typeface="Proxima Nova"/>
              <a:sym typeface="Proxima Nova"/>
            </a:endParaRPr>
          </a:p>
        </p:txBody>
      </p:sp>
      <p:sp>
        <p:nvSpPr>
          <p:cNvPr id="501" name="Google Shape;501;p33"/>
          <p:cNvSpPr txBox="1"/>
          <p:nvPr/>
        </p:nvSpPr>
        <p:spPr>
          <a:xfrm>
            <a:off x="2965773" y="1691261"/>
            <a:ext cx="1419300" cy="345000"/>
          </a:xfrm>
          <a:prstGeom prst="rect">
            <a:avLst/>
          </a:prstGeom>
          <a:noFill/>
          <a:ln>
            <a:noFill/>
          </a:ln>
        </p:spPr>
        <p:txBody>
          <a:bodyPr spcFirstLastPara="1" wrap="square" lIns="68275" tIns="34125" rIns="68275" bIns="34125" anchor="t" anchorCtr="0">
            <a:spAutoFit/>
          </a:bodyPr>
          <a:lstStyle/>
          <a:p>
            <a:pPr marL="0" marR="0" lvl="0" indent="0" algn="ctr" rtl="0">
              <a:lnSpc>
                <a:spcPct val="100000"/>
              </a:lnSpc>
              <a:spcBef>
                <a:spcPts val="0"/>
              </a:spcBef>
              <a:spcAft>
                <a:spcPts val="0"/>
              </a:spcAft>
              <a:buClr>
                <a:srgbClr val="000000"/>
              </a:buClr>
              <a:buSzPts val="1793"/>
              <a:buFont typeface="Arial"/>
              <a:buNone/>
            </a:pPr>
            <a:r>
              <a:rPr lang="pt-BR" sz="1793" b="1" i="0" u="none" strike="noStrike" cap="none">
                <a:solidFill>
                  <a:srgbClr val="292934"/>
                </a:solidFill>
                <a:latin typeface="Proxima Nova"/>
                <a:ea typeface="Proxima Nova"/>
                <a:cs typeface="Proxima Nova"/>
                <a:sym typeface="Proxima Nova"/>
              </a:rPr>
              <a:t>scRNAseq</a:t>
            </a:r>
            <a:endParaRPr sz="1793" b="1" i="0" u="none" strike="noStrike" cap="none">
              <a:solidFill>
                <a:srgbClr val="292934"/>
              </a:solidFill>
              <a:latin typeface="Proxima Nova"/>
              <a:ea typeface="Proxima Nova"/>
              <a:cs typeface="Proxima Nova"/>
              <a:sym typeface="Proxima Nova"/>
            </a:endParaRPr>
          </a:p>
        </p:txBody>
      </p:sp>
      <p:sp>
        <p:nvSpPr>
          <p:cNvPr id="502" name="Google Shape;502;p33"/>
          <p:cNvSpPr txBox="1"/>
          <p:nvPr/>
        </p:nvSpPr>
        <p:spPr>
          <a:xfrm>
            <a:off x="5922336" y="1691261"/>
            <a:ext cx="2836200" cy="345000"/>
          </a:xfrm>
          <a:prstGeom prst="rect">
            <a:avLst/>
          </a:prstGeom>
          <a:noFill/>
          <a:ln>
            <a:noFill/>
          </a:ln>
        </p:spPr>
        <p:txBody>
          <a:bodyPr spcFirstLastPara="1" wrap="square" lIns="68275" tIns="34125" rIns="68275" bIns="34125" anchor="t" anchorCtr="0">
            <a:spAutoFit/>
          </a:bodyPr>
          <a:lstStyle/>
          <a:p>
            <a:pPr marL="0" marR="0" lvl="0" indent="0" algn="ctr" rtl="0">
              <a:lnSpc>
                <a:spcPct val="100000"/>
              </a:lnSpc>
              <a:spcBef>
                <a:spcPts val="0"/>
              </a:spcBef>
              <a:spcAft>
                <a:spcPts val="0"/>
              </a:spcAft>
              <a:buClr>
                <a:srgbClr val="000000"/>
              </a:buClr>
              <a:buSzPts val="1793"/>
              <a:buFont typeface="Arial"/>
              <a:buNone/>
            </a:pPr>
            <a:r>
              <a:rPr lang="pt-BR" sz="1793" b="1" i="0" u="none" strike="noStrike" cap="none" dirty="0" err="1">
                <a:solidFill>
                  <a:srgbClr val="292934"/>
                </a:solidFill>
                <a:latin typeface="Proxima Nova"/>
                <a:ea typeface="Proxima Nova"/>
                <a:cs typeface="Proxima Nova"/>
                <a:sym typeface="Proxima Nova"/>
              </a:rPr>
              <a:t>Spatial</a:t>
            </a:r>
            <a:r>
              <a:rPr lang="pt-BR" sz="1793" b="1" i="0" u="none" strike="noStrike" cap="none" dirty="0">
                <a:solidFill>
                  <a:srgbClr val="292934"/>
                </a:solidFill>
                <a:latin typeface="Proxima Nova"/>
                <a:ea typeface="Proxima Nova"/>
                <a:cs typeface="Proxima Nova"/>
                <a:sym typeface="Proxima Nova"/>
              </a:rPr>
              <a:t> </a:t>
            </a:r>
            <a:r>
              <a:rPr lang="pt-BR" sz="1793" b="1" i="0" u="none" strike="noStrike" cap="none" dirty="0" err="1">
                <a:solidFill>
                  <a:srgbClr val="292934"/>
                </a:solidFill>
                <a:latin typeface="Proxima Nova"/>
                <a:ea typeface="Proxima Nova"/>
                <a:cs typeface="Proxima Nova"/>
                <a:sym typeface="Proxima Nova"/>
              </a:rPr>
              <a:t>Transcriptomics</a:t>
            </a:r>
            <a:endParaRPr sz="1793" b="1" i="0" u="none" strike="noStrike" cap="none" dirty="0">
              <a:solidFill>
                <a:srgbClr val="292934"/>
              </a:solidFill>
              <a:latin typeface="Proxima Nova"/>
              <a:ea typeface="Proxima Nova"/>
              <a:cs typeface="Proxima Nova"/>
              <a:sym typeface="Proxima Nova"/>
            </a:endParaRPr>
          </a:p>
        </p:txBody>
      </p:sp>
      <p:pic>
        <p:nvPicPr>
          <p:cNvPr id="503" name="Google Shape;503;p33"/>
          <p:cNvPicPr preferRelativeResize="0"/>
          <p:nvPr/>
        </p:nvPicPr>
        <p:blipFill rotWithShape="1">
          <a:blip r:embed="rId3">
            <a:alphaModFix/>
          </a:blip>
          <a:srcRect/>
          <a:stretch/>
        </p:blipFill>
        <p:spPr>
          <a:xfrm>
            <a:off x="175142" y="2404370"/>
            <a:ext cx="1379795" cy="1889529"/>
          </a:xfrm>
          <a:prstGeom prst="rect">
            <a:avLst/>
          </a:prstGeom>
          <a:noFill/>
          <a:ln>
            <a:noFill/>
          </a:ln>
        </p:spPr>
      </p:pic>
      <p:pic>
        <p:nvPicPr>
          <p:cNvPr id="504" name="Google Shape;504;p33"/>
          <p:cNvPicPr preferRelativeResize="0"/>
          <p:nvPr/>
        </p:nvPicPr>
        <p:blipFill rotWithShape="1">
          <a:blip r:embed="rId4">
            <a:alphaModFix/>
          </a:blip>
          <a:srcRect/>
          <a:stretch/>
        </p:blipFill>
        <p:spPr>
          <a:xfrm>
            <a:off x="1952876" y="2426342"/>
            <a:ext cx="3445094" cy="1845586"/>
          </a:xfrm>
          <a:prstGeom prst="rect">
            <a:avLst/>
          </a:prstGeom>
          <a:noFill/>
          <a:ln>
            <a:noFill/>
          </a:ln>
        </p:spPr>
      </p:pic>
      <p:pic>
        <p:nvPicPr>
          <p:cNvPr id="505" name="Google Shape;505;p33"/>
          <p:cNvPicPr preferRelativeResize="0"/>
          <p:nvPr/>
        </p:nvPicPr>
        <p:blipFill rotWithShape="1">
          <a:blip r:embed="rId5">
            <a:alphaModFix/>
          </a:blip>
          <a:srcRect/>
          <a:stretch/>
        </p:blipFill>
        <p:spPr>
          <a:xfrm>
            <a:off x="5600312" y="2202235"/>
            <a:ext cx="3480248" cy="2293800"/>
          </a:xfrm>
          <a:prstGeom prst="rect">
            <a:avLst/>
          </a:prstGeom>
          <a:noFill/>
          <a:ln>
            <a:noFill/>
          </a:ln>
        </p:spPr>
      </p:pic>
      <p:sp>
        <p:nvSpPr>
          <p:cNvPr id="506" name="Google Shape;506;p33"/>
          <p:cNvSpPr/>
          <p:nvPr/>
        </p:nvSpPr>
        <p:spPr>
          <a:xfrm>
            <a:off x="5742225" y="2612561"/>
            <a:ext cx="3252000" cy="435600"/>
          </a:xfrm>
          <a:prstGeom prst="roundRect">
            <a:avLst>
              <a:gd name="adj" fmla="val 16667"/>
            </a:avLst>
          </a:prstGeom>
          <a:noFill/>
          <a:ln w="28575" cap="flat" cmpd="sng">
            <a:solidFill>
              <a:srgbClr val="D2533C"/>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roxima Nova"/>
              <a:ea typeface="Proxima Nova"/>
              <a:cs typeface="Proxima Nova"/>
              <a:sym typeface="Proxima Nov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0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0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0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0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0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D0C6A-98F4-76FE-001C-ACDBCFD6B681}"/>
            </a:ext>
          </a:extLst>
        </p:cNvPr>
        <p:cNvGrpSpPr/>
        <p:nvPr/>
      </p:nvGrpSpPr>
      <p:grpSpPr>
        <a:xfrm>
          <a:off x="0" y="0"/>
          <a:ext cx="0" cy="0"/>
          <a:chOff x="0" y="0"/>
          <a:chExt cx="0" cy="0"/>
        </a:xfrm>
      </p:grpSpPr>
      <p:sp>
        <p:nvSpPr>
          <p:cNvPr id="7" name="Google Shape;499;p33">
            <a:extLst>
              <a:ext uri="{FF2B5EF4-FFF2-40B4-BE49-F238E27FC236}">
                <a16:creationId xmlns:a16="http://schemas.microsoft.com/office/drawing/2014/main" id="{61B9C97B-2029-8D0D-E55F-B1AE26FB193E}"/>
              </a:ext>
            </a:extLst>
          </p:cNvPr>
          <p:cNvSpPr txBox="1">
            <a:spLocks/>
          </p:cNvSpPr>
          <p:nvPr/>
        </p:nvSpPr>
        <p:spPr>
          <a:xfrm>
            <a:off x="311700" y="445025"/>
            <a:ext cx="5615400" cy="707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Proxima Nova"/>
              <a:buNone/>
              <a:defRPr sz="2800" b="0" i="0" u="none" strike="noStrike" cap="none" spc="0">
                <a:solidFill>
                  <a:schemeClr val="dk1"/>
                </a:solidFill>
                <a:latin typeface="Proxima Nova"/>
                <a:ea typeface="Proxima Nova"/>
                <a:cs typeface="Proxima Nova"/>
                <a:sym typeface="Proxima Nova"/>
              </a:defRPr>
            </a:lvl1pPr>
            <a:lvl2pPr marR="0" lvl="1" algn="l" rtl="0">
              <a:lnSpc>
                <a:spcPct val="100000"/>
              </a:lnSpc>
              <a:spcBef>
                <a:spcPts val="0"/>
              </a:spcBef>
              <a:spcAft>
                <a:spcPts val="0"/>
              </a:spcAft>
              <a:buClr>
                <a:schemeClr val="dk1"/>
              </a:buClr>
              <a:buSzPts val="2800"/>
              <a:buFont typeface="Proxima Nova"/>
              <a:buNone/>
              <a:defRPr sz="2800" b="0" i="0" u="none" strike="noStrike" cap="none" spc="0">
                <a:solidFill>
                  <a:schemeClr val="dk1"/>
                </a:solidFill>
                <a:latin typeface="Proxima Nova"/>
                <a:ea typeface="Proxima Nova"/>
                <a:cs typeface="Proxima Nova"/>
                <a:sym typeface="Proxima Nova"/>
              </a:defRPr>
            </a:lvl2pPr>
            <a:lvl3pPr marR="0" lvl="2" algn="l" rtl="0">
              <a:lnSpc>
                <a:spcPct val="100000"/>
              </a:lnSpc>
              <a:spcBef>
                <a:spcPts val="0"/>
              </a:spcBef>
              <a:spcAft>
                <a:spcPts val="0"/>
              </a:spcAft>
              <a:buClr>
                <a:schemeClr val="dk1"/>
              </a:buClr>
              <a:buSzPts val="2800"/>
              <a:buFont typeface="Proxima Nova"/>
              <a:buNone/>
              <a:defRPr sz="2800" b="0" i="0" u="none" strike="noStrike" cap="none" spc="0">
                <a:solidFill>
                  <a:schemeClr val="dk1"/>
                </a:solidFill>
                <a:latin typeface="Proxima Nova"/>
                <a:ea typeface="Proxima Nova"/>
                <a:cs typeface="Proxima Nova"/>
                <a:sym typeface="Proxima Nova"/>
              </a:defRPr>
            </a:lvl3pPr>
            <a:lvl4pPr marR="0" lvl="3" algn="l" rtl="0">
              <a:lnSpc>
                <a:spcPct val="100000"/>
              </a:lnSpc>
              <a:spcBef>
                <a:spcPts val="0"/>
              </a:spcBef>
              <a:spcAft>
                <a:spcPts val="0"/>
              </a:spcAft>
              <a:buClr>
                <a:schemeClr val="dk1"/>
              </a:buClr>
              <a:buSzPts val="2800"/>
              <a:buFont typeface="Proxima Nova"/>
              <a:buNone/>
              <a:defRPr sz="2800" b="0" i="0" u="none" strike="noStrike" cap="none" spc="0">
                <a:solidFill>
                  <a:schemeClr val="dk1"/>
                </a:solidFill>
                <a:latin typeface="Proxima Nova"/>
                <a:ea typeface="Proxima Nova"/>
                <a:cs typeface="Proxima Nova"/>
                <a:sym typeface="Proxima Nova"/>
              </a:defRPr>
            </a:lvl4pPr>
            <a:lvl5pPr marR="0" lvl="4" algn="l" rtl="0">
              <a:lnSpc>
                <a:spcPct val="100000"/>
              </a:lnSpc>
              <a:spcBef>
                <a:spcPts val="0"/>
              </a:spcBef>
              <a:spcAft>
                <a:spcPts val="0"/>
              </a:spcAft>
              <a:buClr>
                <a:schemeClr val="dk1"/>
              </a:buClr>
              <a:buSzPts val="2800"/>
              <a:buFont typeface="Proxima Nova"/>
              <a:buNone/>
              <a:defRPr sz="2800" b="0" i="0" u="none" strike="noStrike" cap="none" spc="0">
                <a:solidFill>
                  <a:schemeClr val="dk1"/>
                </a:solidFill>
                <a:latin typeface="Proxima Nova"/>
                <a:ea typeface="Proxima Nova"/>
                <a:cs typeface="Proxima Nova"/>
                <a:sym typeface="Proxima Nova"/>
              </a:defRPr>
            </a:lvl5pPr>
            <a:lvl6pPr marR="0" lvl="5" algn="l" rtl="0">
              <a:lnSpc>
                <a:spcPct val="100000"/>
              </a:lnSpc>
              <a:spcBef>
                <a:spcPts val="0"/>
              </a:spcBef>
              <a:spcAft>
                <a:spcPts val="0"/>
              </a:spcAft>
              <a:buClr>
                <a:schemeClr val="dk1"/>
              </a:buClr>
              <a:buSzPts val="2800"/>
              <a:buFont typeface="Proxima Nova"/>
              <a:buNone/>
              <a:defRPr sz="2800" b="0" i="0" u="none" strike="noStrike" cap="none" spc="0">
                <a:solidFill>
                  <a:schemeClr val="dk1"/>
                </a:solidFill>
                <a:latin typeface="Proxima Nova"/>
                <a:ea typeface="Proxima Nova"/>
                <a:cs typeface="Proxima Nova"/>
                <a:sym typeface="Proxima Nova"/>
              </a:defRPr>
            </a:lvl6pPr>
            <a:lvl7pPr marR="0" lvl="6" algn="l" rtl="0">
              <a:lnSpc>
                <a:spcPct val="100000"/>
              </a:lnSpc>
              <a:spcBef>
                <a:spcPts val="0"/>
              </a:spcBef>
              <a:spcAft>
                <a:spcPts val="0"/>
              </a:spcAft>
              <a:buClr>
                <a:schemeClr val="dk1"/>
              </a:buClr>
              <a:buSzPts val="2800"/>
              <a:buFont typeface="Proxima Nova"/>
              <a:buNone/>
              <a:defRPr sz="2800" b="0" i="0" u="none" strike="noStrike" cap="none" spc="0">
                <a:solidFill>
                  <a:schemeClr val="dk1"/>
                </a:solidFill>
                <a:latin typeface="Proxima Nova"/>
                <a:ea typeface="Proxima Nova"/>
                <a:cs typeface="Proxima Nova"/>
                <a:sym typeface="Proxima Nova"/>
              </a:defRPr>
            </a:lvl7pPr>
            <a:lvl8pPr marR="0" lvl="7" algn="l" rtl="0">
              <a:lnSpc>
                <a:spcPct val="100000"/>
              </a:lnSpc>
              <a:spcBef>
                <a:spcPts val="0"/>
              </a:spcBef>
              <a:spcAft>
                <a:spcPts val="0"/>
              </a:spcAft>
              <a:buClr>
                <a:schemeClr val="dk1"/>
              </a:buClr>
              <a:buSzPts val="2800"/>
              <a:buFont typeface="Proxima Nova"/>
              <a:buNone/>
              <a:defRPr sz="2800" b="0" i="0" u="none" strike="noStrike" cap="none" spc="0">
                <a:solidFill>
                  <a:schemeClr val="dk1"/>
                </a:solidFill>
                <a:latin typeface="Proxima Nova"/>
                <a:ea typeface="Proxima Nova"/>
                <a:cs typeface="Proxima Nova"/>
                <a:sym typeface="Proxima Nova"/>
              </a:defRPr>
            </a:lvl8pPr>
            <a:lvl9pPr marR="0" lvl="8" algn="l" rtl="0">
              <a:lnSpc>
                <a:spcPct val="100000"/>
              </a:lnSpc>
              <a:spcBef>
                <a:spcPts val="0"/>
              </a:spcBef>
              <a:spcAft>
                <a:spcPts val="0"/>
              </a:spcAft>
              <a:buClr>
                <a:schemeClr val="dk1"/>
              </a:buClr>
              <a:buSzPts val="2800"/>
              <a:buFont typeface="Proxima Nova"/>
              <a:buNone/>
              <a:defRPr sz="2800" b="0" i="0" u="none" strike="noStrike" cap="none" spc="0">
                <a:solidFill>
                  <a:schemeClr val="dk1"/>
                </a:solidFill>
                <a:latin typeface="Proxima Nova"/>
                <a:ea typeface="Proxima Nova"/>
                <a:cs typeface="Proxima Nova"/>
                <a:sym typeface="Proxima Nova"/>
              </a:defRPr>
            </a:lvl9pPr>
          </a:lstStyle>
          <a:p>
            <a:r>
              <a:rPr lang="pt-BR" sz="1800" b="1" dirty="0"/>
              <a:t>RNA-</a:t>
            </a:r>
            <a:r>
              <a:rPr lang="pt-BR" sz="1800" b="1" dirty="0" err="1"/>
              <a:t>seq</a:t>
            </a:r>
            <a:r>
              <a:rPr lang="pt-BR" sz="1800" b="1" dirty="0"/>
              <a:t> espacial</a:t>
            </a:r>
          </a:p>
          <a:p>
            <a:r>
              <a:rPr lang="pt-BR" sz="1800"/>
              <a:t>Tecnologias</a:t>
            </a:r>
          </a:p>
        </p:txBody>
      </p:sp>
      <p:sp>
        <p:nvSpPr>
          <p:cNvPr id="2" name="Retângulo 1">
            <a:extLst>
              <a:ext uri="{FF2B5EF4-FFF2-40B4-BE49-F238E27FC236}">
                <a16:creationId xmlns:a16="http://schemas.microsoft.com/office/drawing/2014/main" id="{230F0F44-90F0-8B30-11F0-F7D0980CE24E}"/>
              </a:ext>
            </a:extLst>
          </p:cNvPr>
          <p:cNvSpPr/>
          <p:nvPr/>
        </p:nvSpPr>
        <p:spPr>
          <a:xfrm>
            <a:off x="847235" y="1988917"/>
            <a:ext cx="3193473" cy="582807"/>
          </a:xfrm>
          <a:prstGeom prst="rect">
            <a:avLst/>
          </a:prstGeom>
          <a:solidFill>
            <a:srgbClr val="00B050"/>
          </a:solidFill>
          <a:ln>
            <a:solidFill>
              <a:srgbClr val="92D05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t>Baseada em </a:t>
            </a:r>
            <a:r>
              <a:rPr lang="pt-BR" b="1" dirty="0"/>
              <a:t>sequenciamento</a:t>
            </a:r>
          </a:p>
        </p:txBody>
      </p:sp>
      <p:sp>
        <p:nvSpPr>
          <p:cNvPr id="5" name="Retângulo 4">
            <a:extLst>
              <a:ext uri="{FF2B5EF4-FFF2-40B4-BE49-F238E27FC236}">
                <a16:creationId xmlns:a16="http://schemas.microsoft.com/office/drawing/2014/main" id="{80DA8DF8-29BC-D9AF-6260-6DF21B429A53}"/>
              </a:ext>
            </a:extLst>
          </p:cNvPr>
          <p:cNvSpPr/>
          <p:nvPr/>
        </p:nvSpPr>
        <p:spPr>
          <a:xfrm>
            <a:off x="5103294" y="1988917"/>
            <a:ext cx="3193473" cy="582807"/>
          </a:xfrm>
          <a:prstGeom prst="rect">
            <a:avLst/>
          </a:prstGeom>
          <a:solidFill>
            <a:srgbClr val="0070C0"/>
          </a:solidFill>
          <a:ln>
            <a:solidFill>
              <a:srgbClr val="00B0F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t>Baseada em </a:t>
            </a:r>
            <a:r>
              <a:rPr lang="pt-BR" b="1" dirty="0"/>
              <a:t>imagem</a:t>
            </a:r>
          </a:p>
        </p:txBody>
      </p:sp>
      <p:sp>
        <p:nvSpPr>
          <p:cNvPr id="8" name="Retângulo 7">
            <a:extLst>
              <a:ext uri="{FF2B5EF4-FFF2-40B4-BE49-F238E27FC236}">
                <a16:creationId xmlns:a16="http://schemas.microsoft.com/office/drawing/2014/main" id="{754DF19E-07EB-81C9-4242-A1C07AF643CF}"/>
              </a:ext>
            </a:extLst>
          </p:cNvPr>
          <p:cNvSpPr/>
          <p:nvPr/>
        </p:nvSpPr>
        <p:spPr>
          <a:xfrm>
            <a:off x="5103294" y="2696368"/>
            <a:ext cx="3193473" cy="582807"/>
          </a:xfrm>
          <a:prstGeom prst="rect">
            <a:avLst/>
          </a:prstGeom>
          <a:solidFill>
            <a:srgbClr val="00B0F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t>Baseada em </a:t>
            </a:r>
            <a:r>
              <a:rPr lang="pt-BR" b="1" dirty="0"/>
              <a:t>molécula</a:t>
            </a:r>
          </a:p>
        </p:txBody>
      </p:sp>
      <p:sp>
        <p:nvSpPr>
          <p:cNvPr id="11" name="Google Shape;502;p33">
            <a:extLst>
              <a:ext uri="{FF2B5EF4-FFF2-40B4-BE49-F238E27FC236}">
                <a16:creationId xmlns:a16="http://schemas.microsoft.com/office/drawing/2014/main" id="{C458EBB4-1157-CAC4-7046-7012AC9D31FE}"/>
              </a:ext>
            </a:extLst>
          </p:cNvPr>
          <p:cNvSpPr txBox="1"/>
          <p:nvPr/>
        </p:nvSpPr>
        <p:spPr>
          <a:xfrm>
            <a:off x="3153900" y="1152425"/>
            <a:ext cx="2836200" cy="345000"/>
          </a:xfrm>
          <a:prstGeom prst="rect">
            <a:avLst/>
          </a:prstGeom>
          <a:noFill/>
          <a:ln>
            <a:noFill/>
          </a:ln>
        </p:spPr>
        <p:txBody>
          <a:bodyPr spcFirstLastPara="1" wrap="square" lIns="68275" tIns="34125" rIns="68275" bIns="34125" anchor="t" anchorCtr="0">
            <a:spAutoFit/>
          </a:bodyPr>
          <a:lstStyle/>
          <a:p>
            <a:pPr marL="0" marR="0" lvl="0" indent="0" algn="ctr" rtl="0">
              <a:lnSpc>
                <a:spcPct val="100000"/>
              </a:lnSpc>
              <a:spcBef>
                <a:spcPts val="0"/>
              </a:spcBef>
              <a:spcAft>
                <a:spcPts val="0"/>
              </a:spcAft>
              <a:buClr>
                <a:srgbClr val="000000"/>
              </a:buClr>
              <a:buSzPts val="1793"/>
              <a:buFont typeface="Arial"/>
              <a:buNone/>
            </a:pPr>
            <a:r>
              <a:rPr lang="pt-BR" sz="1793" b="1" i="0" u="none" strike="noStrike" cap="none" dirty="0">
                <a:solidFill>
                  <a:srgbClr val="292934"/>
                </a:solidFill>
                <a:latin typeface="Proxima Nova"/>
                <a:ea typeface="Proxima Nova"/>
                <a:cs typeface="Proxima Nova"/>
                <a:sym typeface="Proxima Nova"/>
              </a:rPr>
              <a:t>Plataformas</a:t>
            </a:r>
            <a:endParaRPr sz="1793" b="1" i="0" u="none" strike="noStrike" cap="none" dirty="0">
              <a:solidFill>
                <a:srgbClr val="292934"/>
              </a:solidFill>
              <a:latin typeface="Proxima Nova"/>
              <a:ea typeface="Proxima Nova"/>
              <a:cs typeface="Proxima Nova"/>
              <a:sym typeface="Proxima Nova"/>
            </a:endParaRPr>
          </a:p>
        </p:txBody>
      </p:sp>
      <p:cxnSp>
        <p:nvCxnSpPr>
          <p:cNvPr id="15" name="Conector: Angulado 14">
            <a:extLst>
              <a:ext uri="{FF2B5EF4-FFF2-40B4-BE49-F238E27FC236}">
                <a16:creationId xmlns:a16="http://schemas.microsoft.com/office/drawing/2014/main" id="{B6B6E927-1D98-94FB-E534-DD46BDA15068}"/>
              </a:ext>
            </a:extLst>
          </p:cNvPr>
          <p:cNvCxnSpPr>
            <a:stCxn id="11" idx="2"/>
            <a:endCxn id="2" idx="0"/>
          </p:cNvCxnSpPr>
          <p:nvPr/>
        </p:nvCxnSpPr>
        <p:spPr>
          <a:xfrm rot="5400000">
            <a:off x="3262240" y="679157"/>
            <a:ext cx="491492" cy="2128028"/>
          </a:xfrm>
          <a:prstGeom prst="bentConnector3">
            <a:avLst/>
          </a:prstGeom>
          <a:ln w="28575">
            <a:tailEnd type="triangle"/>
          </a:ln>
        </p:spPr>
        <p:style>
          <a:lnRef idx="1">
            <a:schemeClr val="accent3"/>
          </a:lnRef>
          <a:fillRef idx="0">
            <a:schemeClr val="accent3"/>
          </a:fillRef>
          <a:effectRef idx="0">
            <a:schemeClr val="accent3"/>
          </a:effectRef>
          <a:fontRef idx="minor">
            <a:schemeClr val="tx1"/>
          </a:fontRef>
        </p:style>
      </p:cxnSp>
      <p:cxnSp>
        <p:nvCxnSpPr>
          <p:cNvPr id="17" name="Conector: Angulado 16">
            <a:extLst>
              <a:ext uri="{FF2B5EF4-FFF2-40B4-BE49-F238E27FC236}">
                <a16:creationId xmlns:a16="http://schemas.microsoft.com/office/drawing/2014/main" id="{4A4EA599-24A3-A61C-752D-2748DF96229F}"/>
              </a:ext>
            </a:extLst>
          </p:cNvPr>
          <p:cNvCxnSpPr>
            <a:stCxn id="11" idx="2"/>
            <a:endCxn id="5" idx="0"/>
          </p:cNvCxnSpPr>
          <p:nvPr/>
        </p:nvCxnSpPr>
        <p:spPr>
          <a:xfrm rot="16200000" flipH="1">
            <a:off x="5390269" y="679155"/>
            <a:ext cx="491492" cy="2128031"/>
          </a:xfrm>
          <a:prstGeom prst="bentConnector3">
            <a:avLst/>
          </a:prstGeom>
          <a:ln w="28575">
            <a:tailEnd type="triangle"/>
          </a:ln>
        </p:spPr>
        <p:style>
          <a:lnRef idx="1">
            <a:schemeClr val="accent3"/>
          </a:lnRef>
          <a:fillRef idx="0">
            <a:schemeClr val="accent3"/>
          </a:fillRef>
          <a:effectRef idx="0">
            <a:schemeClr val="accent3"/>
          </a:effectRef>
          <a:fontRef idx="minor">
            <a:schemeClr val="tx1"/>
          </a:fontRef>
        </p:style>
      </p:cxnSp>
      <p:cxnSp>
        <p:nvCxnSpPr>
          <p:cNvPr id="19" name="Conector reto 18">
            <a:extLst>
              <a:ext uri="{FF2B5EF4-FFF2-40B4-BE49-F238E27FC236}">
                <a16:creationId xmlns:a16="http://schemas.microsoft.com/office/drawing/2014/main" id="{FB6CCF7C-C28C-555A-953B-AA50E919191F}"/>
              </a:ext>
            </a:extLst>
          </p:cNvPr>
          <p:cNvCxnSpPr>
            <a:stCxn id="5" idx="2"/>
            <a:endCxn id="8" idx="0"/>
          </p:cNvCxnSpPr>
          <p:nvPr/>
        </p:nvCxnSpPr>
        <p:spPr>
          <a:xfrm>
            <a:off x="6700031" y="2571724"/>
            <a:ext cx="0" cy="124644"/>
          </a:xfrm>
          <a:prstGeom prst="line">
            <a:avLst/>
          </a:prstGeom>
          <a:ln w="28575"/>
        </p:spPr>
        <p:style>
          <a:lnRef idx="1">
            <a:schemeClr val="accent3"/>
          </a:lnRef>
          <a:fillRef idx="0">
            <a:schemeClr val="accent3"/>
          </a:fillRef>
          <a:effectRef idx="0">
            <a:schemeClr val="accent3"/>
          </a:effectRef>
          <a:fontRef idx="minor">
            <a:schemeClr val="tx1"/>
          </a:fontRef>
        </p:style>
      </p:cxnSp>
      <p:sp>
        <p:nvSpPr>
          <p:cNvPr id="4" name="CaixaDeTexto 3">
            <a:extLst>
              <a:ext uri="{FF2B5EF4-FFF2-40B4-BE49-F238E27FC236}">
                <a16:creationId xmlns:a16="http://schemas.microsoft.com/office/drawing/2014/main" id="{B460D1E3-D668-E3E5-E38F-D26BB3B568D8}"/>
              </a:ext>
            </a:extLst>
          </p:cNvPr>
          <p:cNvSpPr txBox="1"/>
          <p:nvPr/>
        </p:nvSpPr>
        <p:spPr>
          <a:xfrm>
            <a:off x="847234" y="3653504"/>
            <a:ext cx="3193474" cy="523220"/>
          </a:xfrm>
          <a:prstGeom prst="rect">
            <a:avLst/>
          </a:prstGeom>
          <a:solidFill>
            <a:schemeClr val="bg1"/>
          </a:solidFill>
          <a:ln w="19050">
            <a:solidFill>
              <a:srgbClr val="92D050"/>
            </a:solidFill>
          </a:ln>
        </p:spPr>
        <p:txBody>
          <a:bodyPr wrap="square">
            <a:spAutoFit/>
          </a:bodyPr>
          <a:lstStyle/>
          <a:p>
            <a:pPr algn="ctr"/>
            <a:r>
              <a:rPr lang="pt-BR" dirty="0">
                <a:latin typeface="Proxima Nova" panose="020B0604020202020204" charset="0"/>
              </a:rPr>
              <a:t>Cobertura gênica mais ampla (por exemplo, o transcriptoma completo)</a:t>
            </a:r>
          </a:p>
        </p:txBody>
      </p:sp>
      <p:sp>
        <p:nvSpPr>
          <p:cNvPr id="9" name="CaixaDeTexto 8">
            <a:extLst>
              <a:ext uri="{FF2B5EF4-FFF2-40B4-BE49-F238E27FC236}">
                <a16:creationId xmlns:a16="http://schemas.microsoft.com/office/drawing/2014/main" id="{1C73B6E3-A45A-64CD-3753-DC45B4135DD6}"/>
              </a:ext>
            </a:extLst>
          </p:cNvPr>
          <p:cNvSpPr txBox="1"/>
          <p:nvPr/>
        </p:nvSpPr>
        <p:spPr>
          <a:xfrm>
            <a:off x="5103294" y="3653504"/>
            <a:ext cx="3193474" cy="738664"/>
          </a:xfrm>
          <a:prstGeom prst="rect">
            <a:avLst/>
          </a:prstGeom>
          <a:solidFill>
            <a:schemeClr val="bg1"/>
          </a:solidFill>
          <a:ln w="19050">
            <a:solidFill>
              <a:srgbClr val="00B0F0"/>
            </a:solidFill>
          </a:ln>
        </p:spPr>
        <p:txBody>
          <a:bodyPr wrap="square">
            <a:spAutoFit/>
          </a:bodyPr>
          <a:lstStyle/>
          <a:p>
            <a:pPr algn="ctr"/>
            <a:r>
              <a:rPr lang="pt-BR" dirty="0">
                <a:latin typeface="Proxima Nova" panose="020B0604020202020204" charset="0"/>
              </a:rPr>
              <a:t>Resolução espacial mais elevada (por exemplo, resolução em nível de célula única ou subcelular).</a:t>
            </a:r>
          </a:p>
        </p:txBody>
      </p:sp>
    </p:spTree>
    <p:extLst>
      <p:ext uri="{BB962C8B-B14F-4D97-AF65-F5344CB8AC3E}">
        <p14:creationId xmlns:p14="http://schemas.microsoft.com/office/powerpoint/2010/main" val="73656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4" grpId="0" animBg="1"/>
      <p:bldP spid="9"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2CF7A-ADB3-F10A-F4C3-72283C623B2B}"/>
            </a:ext>
          </a:extLst>
        </p:cNvPr>
        <p:cNvGrpSpPr/>
        <p:nvPr/>
      </p:nvGrpSpPr>
      <p:grpSpPr>
        <a:xfrm>
          <a:off x="0" y="0"/>
          <a:ext cx="0" cy="0"/>
          <a:chOff x="0" y="0"/>
          <a:chExt cx="0" cy="0"/>
        </a:xfrm>
      </p:grpSpPr>
      <p:sp>
        <p:nvSpPr>
          <p:cNvPr id="3" name="Espaço Reservado para Texto 2">
            <a:extLst>
              <a:ext uri="{FF2B5EF4-FFF2-40B4-BE49-F238E27FC236}">
                <a16:creationId xmlns:a16="http://schemas.microsoft.com/office/drawing/2014/main" id="{505DD205-93F7-68EB-50BD-44328640AEF1}"/>
              </a:ext>
            </a:extLst>
          </p:cNvPr>
          <p:cNvSpPr>
            <a:spLocks noGrp="1"/>
          </p:cNvSpPr>
          <p:nvPr>
            <p:ph type="body" idx="1"/>
          </p:nvPr>
        </p:nvSpPr>
        <p:spPr/>
        <p:txBody>
          <a:bodyPr/>
          <a:lstStyle/>
          <a:p>
            <a:pPr>
              <a:lnSpc>
                <a:spcPct val="114999"/>
              </a:lnSpc>
            </a:pPr>
            <a:r>
              <a:rPr lang="pt-BR" sz="1400" dirty="0"/>
              <a:t>Capturam </a:t>
            </a:r>
            <a:r>
              <a:rPr lang="pt-BR" sz="1400" b="1" dirty="0"/>
              <a:t>informações moleculares </a:t>
            </a:r>
            <a:r>
              <a:rPr lang="pt-BR" sz="1400" dirty="0"/>
              <a:t>em um conjunto de locais de medição espacial em um corte de tecido disposto sobre uma lâmina</a:t>
            </a:r>
          </a:p>
          <a:p>
            <a:pPr lvl="1">
              <a:lnSpc>
                <a:spcPct val="114999"/>
              </a:lnSpc>
              <a:spcBef>
                <a:spcPts val="200"/>
              </a:spcBef>
            </a:pPr>
            <a:r>
              <a:rPr lang="pt-BR" dirty="0"/>
              <a:t>A </a:t>
            </a:r>
            <a:r>
              <a:rPr lang="pt-BR" b="1" dirty="0"/>
              <a:t>localização espacial </a:t>
            </a:r>
            <a:r>
              <a:rPr lang="pt-BR" dirty="0"/>
              <a:t>é identificada por meio de um </a:t>
            </a:r>
            <a:r>
              <a:rPr lang="pt-BR" b="1" dirty="0"/>
              <a:t>código de barras </a:t>
            </a:r>
            <a:r>
              <a:rPr lang="pt-BR" dirty="0"/>
              <a:t>(</a:t>
            </a:r>
            <a:r>
              <a:rPr lang="pt-BR" i="1" dirty="0" err="1"/>
              <a:t>barcode</a:t>
            </a:r>
            <a:r>
              <a:rPr lang="pt-BR" dirty="0"/>
              <a:t>) exclusivo para cada ponto de medição, e as leituras são sumarizadas (por exemplo, na forma de contagens) de acordo com características como genes ou segmentos (</a:t>
            </a:r>
            <a:r>
              <a:rPr lang="pt-BR" i="1" dirty="0" err="1"/>
              <a:t>bins</a:t>
            </a:r>
            <a:r>
              <a:rPr lang="pt-BR" dirty="0"/>
              <a:t>).</a:t>
            </a:r>
            <a:br>
              <a:rPr lang="pt-BR" dirty="0"/>
            </a:br>
            <a:endParaRPr lang="pt-BR" dirty="0"/>
          </a:p>
          <a:p>
            <a:pPr>
              <a:lnSpc>
                <a:spcPct val="114999"/>
              </a:lnSpc>
            </a:pPr>
            <a:r>
              <a:rPr lang="pt-BR" sz="1400" b="1" dirty="0"/>
              <a:t>Vantagem</a:t>
            </a:r>
            <a:r>
              <a:rPr lang="pt-BR" sz="1400" dirty="0"/>
              <a:t>: as características representam um conjunto não direcionado (</a:t>
            </a:r>
            <a:r>
              <a:rPr lang="pt-BR" sz="1400" i="1" dirty="0" err="1"/>
              <a:t>untargeted</a:t>
            </a:r>
            <a:r>
              <a:rPr lang="pt-BR" sz="1400" dirty="0"/>
              <a:t>) de entidades moleculares, dispensando, portanto, a seleção e a otimização de painéis. </a:t>
            </a:r>
          </a:p>
          <a:p>
            <a:pPr lvl="1">
              <a:lnSpc>
                <a:spcPct val="114999"/>
              </a:lnSpc>
              <a:spcBef>
                <a:spcPts val="200"/>
              </a:spcBef>
            </a:pPr>
            <a:r>
              <a:rPr lang="pt-BR" dirty="0"/>
              <a:t>Na prática, muitos ensaios espaciais ainda exigem painéis (ex.: variantes espaciais de </a:t>
            </a:r>
            <a:r>
              <a:rPr lang="pt-BR" dirty="0" err="1"/>
              <a:t>CITE-seq</a:t>
            </a:r>
            <a:r>
              <a:rPr lang="pt-BR" dirty="0"/>
              <a:t>, </a:t>
            </a:r>
            <a:r>
              <a:rPr lang="pt-BR" dirty="0" err="1"/>
              <a:t>Visium</a:t>
            </a:r>
            <a:r>
              <a:rPr lang="pt-BR" dirty="0"/>
              <a:t> v2 e </a:t>
            </a:r>
            <a:r>
              <a:rPr lang="pt-BR" dirty="0" err="1"/>
              <a:t>Visium</a:t>
            </a:r>
            <a:r>
              <a:rPr lang="pt-BR" dirty="0"/>
              <a:t> HD</a:t>
            </a:r>
            <a:br>
              <a:rPr lang="pt-BR" dirty="0"/>
            </a:br>
            <a:endParaRPr lang="pt-BR" dirty="0"/>
          </a:p>
          <a:p>
            <a:pPr>
              <a:lnSpc>
                <a:spcPct val="114999"/>
              </a:lnSpc>
              <a:spcBef>
                <a:spcPts val="200"/>
              </a:spcBef>
            </a:pPr>
            <a:r>
              <a:rPr lang="pt-BR" sz="1400" dirty="0"/>
              <a:t>A </a:t>
            </a:r>
            <a:r>
              <a:rPr lang="pt-BR" sz="1400" b="1" dirty="0"/>
              <a:t>resolução espacial </a:t>
            </a:r>
            <a:r>
              <a:rPr lang="pt-BR" sz="1400" dirty="0"/>
              <a:t>varia entre as plataformas e depende do tamanho e do espaçamento entre os locais de medição espacial. </a:t>
            </a:r>
          </a:p>
          <a:p>
            <a:pPr lvl="1">
              <a:lnSpc>
                <a:spcPct val="114999"/>
              </a:lnSpc>
              <a:spcBef>
                <a:spcPts val="200"/>
              </a:spcBef>
            </a:pPr>
            <a:r>
              <a:rPr lang="pt-BR" dirty="0"/>
              <a:t>Os locais de medição espacial são frequentemente denominados “</a:t>
            </a:r>
            <a:r>
              <a:rPr lang="pt-BR" i="1" dirty="0"/>
              <a:t>spots</a:t>
            </a:r>
            <a:r>
              <a:rPr lang="pt-BR" dirty="0"/>
              <a:t>”, “</a:t>
            </a:r>
            <a:r>
              <a:rPr lang="pt-BR" i="1" dirty="0" err="1"/>
              <a:t>beads</a:t>
            </a:r>
            <a:r>
              <a:rPr lang="pt-BR" dirty="0"/>
              <a:t>” ou “</a:t>
            </a:r>
            <a:r>
              <a:rPr lang="pt-BR" i="1" dirty="0" err="1"/>
              <a:t>bins</a:t>
            </a:r>
            <a:r>
              <a:rPr lang="pt-BR" dirty="0"/>
              <a:t>”.</a:t>
            </a:r>
          </a:p>
        </p:txBody>
      </p:sp>
      <p:sp>
        <p:nvSpPr>
          <p:cNvPr id="7" name="Google Shape;499;p33">
            <a:extLst>
              <a:ext uri="{FF2B5EF4-FFF2-40B4-BE49-F238E27FC236}">
                <a16:creationId xmlns:a16="http://schemas.microsoft.com/office/drawing/2014/main" id="{046BF4E4-C737-142F-557D-88AE41997E7F}"/>
              </a:ext>
            </a:extLst>
          </p:cNvPr>
          <p:cNvSpPr txBox="1">
            <a:spLocks/>
          </p:cNvSpPr>
          <p:nvPr/>
        </p:nvSpPr>
        <p:spPr>
          <a:xfrm>
            <a:off x="311699" y="445025"/>
            <a:ext cx="7858265" cy="707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Proxima Nova"/>
              <a:buNone/>
              <a:defRPr sz="2800" b="0" i="0" u="none" strike="noStrike" cap="none" spc="0">
                <a:solidFill>
                  <a:schemeClr val="dk1"/>
                </a:solidFill>
                <a:latin typeface="Proxima Nova"/>
                <a:ea typeface="Proxima Nova"/>
                <a:cs typeface="Proxima Nova"/>
                <a:sym typeface="Proxima Nova"/>
              </a:defRPr>
            </a:lvl1pPr>
            <a:lvl2pPr marR="0" lvl="1" algn="l" rtl="0">
              <a:lnSpc>
                <a:spcPct val="100000"/>
              </a:lnSpc>
              <a:spcBef>
                <a:spcPts val="0"/>
              </a:spcBef>
              <a:spcAft>
                <a:spcPts val="0"/>
              </a:spcAft>
              <a:buClr>
                <a:schemeClr val="dk1"/>
              </a:buClr>
              <a:buSzPts val="2800"/>
              <a:buFont typeface="Proxima Nova"/>
              <a:buNone/>
              <a:defRPr sz="2800" b="0" i="0" u="none" strike="noStrike" cap="none" spc="0">
                <a:solidFill>
                  <a:schemeClr val="dk1"/>
                </a:solidFill>
                <a:latin typeface="Proxima Nova"/>
                <a:ea typeface="Proxima Nova"/>
                <a:cs typeface="Proxima Nova"/>
                <a:sym typeface="Proxima Nova"/>
              </a:defRPr>
            </a:lvl2pPr>
            <a:lvl3pPr marR="0" lvl="2" algn="l" rtl="0">
              <a:lnSpc>
                <a:spcPct val="100000"/>
              </a:lnSpc>
              <a:spcBef>
                <a:spcPts val="0"/>
              </a:spcBef>
              <a:spcAft>
                <a:spcPts val="0"/>
              </a:spcAft>
              <a:buClr>
                <a:schemeClr val="dk1"/>
              </a:buClr>
              <a:buSzPts val="2800"/>
              <a:buFont typeface="Proxima Nova"/>
              <a:buNone/>
              <a:defRPr sz="2800" b="0" i="0" u="none" strike="noStrike" cap="none" spc="0">
                <a:solidFill>
                  <a:schemeClr val="dk1"/>
                </a:solidFill>
                <a:latin typeface="Proxima Nova"/>
                <a:ea typeface="Proxima Nova"/>
                <a:cs typeface="Proxima Nova"/>
                <a:sym typeface="Proxima Nova"/>
              </a:defRPr>
            </a:lvl3pPr>
            <a:lvl4pPr marR="0" lvl="3" algn="l" rtl="0">
              <a:lnSpc>
                <a:spcPct val="100000"/>
              </a:lnSpc>
              <a:spcBef>
                <a:spcPts val="0"/>
              </a:spcBef>
              <a:spcAft>
                <a:spcPts val="0"/>
              </a:spcAft>
              <a:buClr>
                <a:schemeClr val="dk1"/>
              </a:buClr>
              <a:buSzPts val="2800"/>
              <a:buFont typeface="Proxima Nova"/>
              <a:buNone/>
              <a:defRPr sz="2800" b="0" i="0" u="none" strike="noStrike" cap="none" spc="0">
                <a:solidFill>
                  <a:schemeClr val="dk1"/>
                </a:solidFill>
                <a:latin typeface="Proxima Nova"/>
                <a:ea typeface="Proxima Nova"/>
                <a:cs typeface="Proxima Nova"/>
                <a:sym typeface="Proxima Nova"/>
              </a:defRPr>
            </a:lvl4pPr>
            <a:lvl5pPr marR="0" lvl="4" algn="l" rtl="0">
              <a:lnSpc>
                <a:spcPct val="100000"/>
              </a:lnSpc>
              <a:spcBef>
                <a:spcPts val="0"/>
              </a:spcBef>
              <a:spcAft>
                <a:spcPts val="0"/>
              </a:spcAft>
              <a:buClr>
                <a:schemeClr val="dk1"/>
              </a:buClr>
              <a:buSzPts val="2800"/>
              <a:buFont typeface="Proxima Nova"/>
              <a:buNone/>
              <a:defRPr sz="2800" b="0" i="0" u="none" strike="noStrike" cap="none" spc="0">
                <a:solidFill>
                  <a:schemeClr val="dk1"/>
                </a:solidFill>
                <a:latin typeface="Proxima Nova"/>
                <a:ea typeface="Proxima Nova"/>
                <a:cs typeface="Proxima Nova"/>
                <a:sym typeface="Proxima Nova"/>
              </a:defRPr>
            </a:lvl5pPr>
            <a:lvl6pPr marR="0" lvl="5" algn="l" rtl="0">
              <a:lnSpc>
                <a:spcPct val="100000"/>
              </a:lnSpc>
              <a:spcBef>
                <a:spcPts val="0"/>
              </a:spcBef>
              <a:spcAft>
                <a:spcPts val="0"/>
              </a:spcAft>
              <a:buClr>
                <a:schemeClr val="dk1"/>
              </a:buClr>
              <a:buSzPts val="2800"/>
              <a:buFont typeface="Proxima Nova"/>
              <a:buNone/>
              <a:defRPr sz="2800" b="0" i="0" u="none" strike="noStrike" cap="none" spc="0">
                <a:solidFill>
                  <a:schemeClr val="dk1"/>
                </a:solidFill>
                <a:latin typeface="Proxima Nova"/>
                <a:ea typeface="Proxima Nova"/>
                <a:cs typeface="Proxima Nova"/>
                <a:sym typeface="Proxima Nova"/>
              </a:defRPr>
            </a:lvl6pPr>
            <a:lvl7pPr marR="0" lvl="6" algn="l" rtl="0">
              <a:lnSpc>
                <a:spcPct val="100000"/>
              </a:lnSpc>
              <a:spcBef>
                <a:spcPts val="0"/>
              </a:spcBef>
              <a:spcAft>
                <a:spcPts val="0"/>
              </a:spcAft>
              <a:buClr>
                <a:schemeClr val="dk1"/>
              </a:buClr>
              <a:buSzPts val="2800"/>
              <a:buFont typeface="Proxima Nova"/>
              <a:buNone/>
              <a:defRPr sz="2800" b="0" i="0" u="none" strike="noStrike" cap="none" spc="0">
                <a:solidFill>
                  <a:schemeClr val="dk1"/>
                </a:solidFill>
                <a:latin typeface="Proxima Nova"/>
                <a:ea typeface="Proxima Nova"/>
                <a:cs typeface="Proxima Nova"/>
                <a:sym typeface="Proxima Nova"/>
              </a:defRPr>
            </a:lvl7pPr>
            <a:lvl8pPr marR="0" lvl="7" algn="l" rtl="0">
              <a:lnSpc>
                <a:spcPct val="100000"/>
              </a:lnSpc>
              <a:spcBef>
                <a:spcPts val="0"/>
              </a:spcBef>
              <a:spcAft>
                <a:spcPts val="0"/>
              </a:spcAft>
              <a:buClr>
                <a:schemeClr val="dk1"/>
              </a:buClr>
              <a:buSzPts val="2800"/>
              <a:buFont typeface="Proxima Nova"/>
              <a:buNone/>
              <a:defRPr sz="2800" b="0" i="0" u="none" strike="noStrike" cap="none" spc="0">
                <a:solidFill>
                  <a:schemeClr val="dk1"/>
                </a:solidFill>
                <a:latin typeface="Proxima Nova"/>
                <a:ea typeface="Proxima Nova"/>
                <a:cs typeface="Proxima Nova"/>
                <a:sym typeface="Proxima Nova"/>
              </a:defRPr>
            </a:lvl8pPr>
            <a:lvl9pPr marR="0" lvl="8" algn="l" rtl="0">
              <a:lnSpc>
                <a:spcPct val="100000"/>
              </a:lnSpc>
              <a:spcBef>
                <a:spcPts val="0"/>
              </a:spcBef>
              <a:spcAft>
                <a:spcPts val="0"/>
              </a:spcAft>
              <a:buClr>
                <a:schemeClr val="dk1"/>
              </a:buClr>
              <a:buSzPts val="2800"/>
              <a:buFont typeface="Proxima Nova"/>
              <a:buNone/>
              <a:defRPr sz="2800" b="0" i="0" u="none" strike="noStrike" cap="none" spc="0">
                <a:solidFill>
                  <a:schemeClr val="dk1"/>
                </a:solidFill>
                <a:latin typeface="Proxima Nova"/>
                <a:ea typeface="Proxima Nova"/>
                <a:cs typeface="Proxima Nova"/>
                <a:sym typeface="Proxima Nova"/>
              </a:defRPr>
            </a:lvl9pPr>
          </a:lstStyle>
          <a:p>
            <a:r>
              <a:rPr lang="pt-BR" sz="1800" b="1" dirty="0"/>
              <a:t>RNA-</a:t>
            </a:r>
            <a:r>
              <a:rPr lang="pt-BR" sz="1800" b="1" dirty="0" err="1"/>
              <a:t>seq</a:t>
            </a:r>
            <a:r>
              <a:rPr lang="pt-BR" sz="1800" b="1" dirty="0"/>
              <a:t> espacial</a:t>
            </a:r>
          </a:p>
          <a:p>
            <a:r>
              <a:rPr lang="pt-BR" sz="1800" dirty="0"/>
              <a:t>Tecnologias – Transcriptômica espacial baseada em sequenciamento</a:t>
            </a:r>
          </a:p>
        </p:txBody>
      </p:sp>
    </p:spTree>
    <p:extLst>
      <p:ext uri="{BB962C8B-B14F-4D97-AF65-F5344CB8AC3E}">
        <p14:creationId xmlns:p14="http://schemas.microsoft.com/office/powerpoint/2010/main" val="5984662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09337-27DD-0E6F-BCD5-B86AB9D8DB62}"/>
            </a:ext>
          </a:extLst>
        </p:cNvPr>
        <p:cNvGrpSpPr/>
        <p:nvPr/>
      </p:nvGrpSpPr>
      <p:grpSpPr>
        <a:xfrm>
          <a:off x="0" y="0"/>
          <a:ext cx="0" cy="0"/>
          <a:chOff x="0" y="0"/>
          <a:chExt cx="0" cy="0"/>
        </a:xfrm>
      </p:grpSpPr>
      <p:sp>
        <p:nvSpPr>
          <p:cNvPr id="4" name="Google Shape;499;p33">
            <a:extLst>
              <a:ext uri="{FF2B5EF4-FFF2-40B4-BE49-F238E27FC236}">
                <a16:creationId xmlns:a16="http://schemas.microsoft.com/office/drawing/2014/main" id="{AAE33F01-319F-D52E-B563-123D377F30AF}"/>
              </a:ext>
            </a:extLst>
          </p:cNvPr>
          <p:cNvSpPr txBox="1">
            <a:spLocks/>
          </p:cNvSpPr>
          <p:nvPr/>
        </p:nvSpPr>
        <p:spPr>
          <a:xfrm>
            <a:off x="311699" y="445025"/>
            <a:ext cx="7858265" cy="707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Proxima Nova"/>
              <a:buNone/>
              <a:defRPr sz="2800" b="0" i="0" u="none" strike="noStrike" cap="none" spc="0">
                <a:solidFill>
                  <a:schemeClr val="dk1"/>
                </a:solidFill>
                <a:latin typeface="Proxima Nova"/>
                <a:ea typeface="Proxima Nova"/>
                <a:cs typeface="Proxima Nova"/>
                <a:sym typeface="Proxima Nova"/>
              </a:defRPr>
            </a:lvl1pPr>
            <a:lvl2pPr marR="0" lvl="1" algn="l" rtl="0">
              <a:lnSpc>
                <a:spcPct val="100000"/>
              </a:lnSpc>
              <a:spcBef>
                <a:spcPts val="0"/>
              </a:spcBef>
              <a:spcAft>
                <a:spcPts val="0"/>
              </a:spcAft>
              <a:buClr>
                <a:schemeClr val="dk1"/>
              </a:buClr>
              <a:buSzPts val="2800"/>
              <a:buFont typeface="Proxima Nova"/>
              <a:buNone/>
              <a:defRPr sz="2800" b="0" i="0" u="none" strike="noStrike" cap="none" spc="0">
                <a:solidFill>
                  <a:schemeClr val="dk1"/>
                </a:solidFill>
                <a:latin typeface="Proxima Nova"/>
                <a:ea typeface="Proxima Nova"/>
                <a:cs typeface="Proxima Nova"/>
                <a:sym typeface="Proxima Nova"/>
              </a:defRPr>
            </a:lvl2pPr>
            <a:lvl3pPr marR="0" lvl="2" algn="l" rtl="0">
              <a:lnSpc>
                <a:spcPct val="100000"/>
              </a:lnSpc>
              <a:spcBef>
                <a:spcPts val="0"/>
              </a:spcBef>
              <a:spcAft>
                <a:spcPts val="0"/>
              </a:spcAft>
              <a:buClr>
                <a:schemeClr val="dk1"/>
              </a:buClr>
              <a:buSzPts val="2800"/>
              <a:buFont typeface="Proxima Nova"/>
              <a:buNone/>
              <a:defRPr sz="2800" b="0" i="0" u="none" strike="noStrike" cap="none" spc="0">
                <a:solidFill>
                  <a:schemeClr val="dk1"/>
                </a:solidFill>
                <a:latin typeface="Proxima Nova"/>
                <a:ea typeface="Proxima Nova"/>
                <a:cs typeface="Proxima Nova"/>
                <a:sym typeface="Proxima Nova"/>
              </a:defRPr>
            </a:lvl3pPr>
            <a:lvl4pPr marR="0" lvl="3" algn="l" rtl="0">
              <a:lnSpc>
                <a:spcPct val="100000"/>
              </a:lnSpc>
              <a:spcBef>
                <a:spcPts val="0"/>
              </a:spcBef>
              <a:spcAft>
                <a:spcPts val="0"/>
              </a:spcAft>
              <a:buClr>
                <a:schemeClr val="dk1"/>
              </a:buClr>
              <a:buSzPts val="2800"/>
              <a:buFont typeface="Proxima Nova"/>
              <a:buNone/>
              <a:defRPr sz="2800" b="0" i="0" u="none" strike="noStrike" cap="none" spc="0">
                <a:solidFill>
                  <a:schemeClr val="dk1"/>
                </a:solidFill>
                <a:latin typeface="Proxima Nova"/>
                <a:ea typeface="Proxima Nova"/>
                <a:cs typeface="Proxima Nova"/>
                <a:sym typeface="Proxima Nova"/>
              </a:defRPr>
            </a:lvl4pPr>
            <a:lvl5pPr marR="0" lvl="4" algn="l" rtl="0">
              <a:lnSpc>
                <a:spcPct val="100000"/>
              </a:lnSpc>
              <a:spcBef>
                <a:spcPts val="0"/>
              </a:spcBef>
              <a:spcAft>
                <a:spcPts val="0"/>
              </a:spcAft>
              <a:buClr>
                <a:schemeClr val="dk1"/>
              </a:buClr>
              <a:buSzPts val="2800"/>
              <a:buFont typeface="Proxima Nova"/>
              <a:buNone/>
              <a:defRPr sz="2800" b="0" i="0" u="none" strike="noStrike" cap="none" spc="0">
                <a:solidFill>
                  <a:schemeClr val="dk1"/>
                </a:solidFill>
                <a:latin typeface="Proxima Nova"/>
                <a:ea typeface="Proxima Nova"/>
                <a:cs typeface="Proxima Nova"/>
                <a:sym typeface="Proxima Nova"/>
              </a:defRPr>
            </a:lvl5pPr>
            <a:lvl6pPr marR="0" lvl="5" algn="l" rtl="0">
              <a:lnSpc>
                <a:spcPct val="100000"/>
              </a:lnSpc>
              <a:spcBef>
                <a:spcPts val="0"/>
              </a:spcBef>
              <a:spcAft>
                <a:spcPts val="0"/>
              </a:spcAft>
              <a:buClr>
                <a:schemeClr val="dk1"/>
              </a:buClr>
              <a:buSzPts val="2800"/>
              <a:buFont typeface="Proxima Nova"/>
              <a:buNone/>
              <a:defRPr sz="2800" b="0" i="0" u="none" strike="noStrike" cap="none" spc="0">
                <a:solidFill>
                  <a:schemeClr val="dk1"/>
                </a:solidFill>
                <a:latin typeface="Proxima Nova"/>
                <a:ea typeface="Proxima Nova"/>
                <a:cs typeface="Proxima Nova"/>
                <a:sym typeface="Proxima Nova"/>
              </a:defRPr>
            </a:lvl6pPr>
            <a:lvl7pPr marR="0" lvl="6" algn="l" rtl="0">
              <a:lnSpc>
                <a:spcPct val="100000"/>
              </a:lnSpc>
              <a:spcBef>
                <a:spcPts val="0"/>
              </a:spcBef>
              <a:spcAft>
                <a:spcPts val="0"/>
              </a:spcAft>
              <a:buClr>
                <a:schemeClr val="dk1"/>
              </a:buClr>
              <a:buSzPts val="2800"/>
              <a:buFont typeface="Proxima Nova"/>
              <a:buNone/>
              <a:defRPr sz="2800" b="0" i="0" u="none" strike="noStrike" cap="none" spc="0">
                <a:solidFill>
                  <a:schemeClr val="dk1"/>
                </a:solidFill>
                <a:latin typeface="Proxima Nova"/>
                <a:ea typeface="Proxima Nova"/>
                <a:cs typeface="Proxima Nova"/>
                <a:sym typeface="Proxima Nova"/>
              </a:defRPr>
            </a:lvl7pPr>
            <a:lvl8pPr marR="0" lvl="7" algn="l" rtl="0">
              <a:lnSpc>
                <a:spcPct val="100000"/>
              </a:lnSpc>
              <a:spcBef>
                <a:spcPts val="0"/>
              </a:spcBef>
              <a:spcAft>
                <a:spcPts val="0"/>
              </a:spcAft>
              <a:buClr>
                <a:schemeClr val="dk1"/>
              </a:buClr>
              <a:buSzPts val="2800"/>
              <a:buFont typeface="Proxima Nova"/>
              <a:buNone/>
              <a:defRPr sz="2800" b="0" i="0" u="none" strike="noStrike" cap="none" spc="0">
                <a:solidFill>
                  <a:schemeClr val="dk1"/>
                </a:solidFill>
                <a:latin typeface="Proxima Nova"/>
                <a:ea typeface="Proxima Nova"/>
                <a:cs typeface="Proxima Nova"/>
                <a:sym typeface="Proxima Nova"/>
              </a:defRPr>
            </a:lvl8pPr>
            <a:lvl9pPr marR="0" lvl="8" algn="l" rtl="0">
              <a:lnSpc>
                <a:spcPct val="100000"/>
              </a:lnSpc>
              <a:spcBef>
                <a:spcPts val="0"/>
              </a:spcBef>
              <a:spcAft>
                <a:spcPts val="0"/>
              </a:spcAft>
              <a:buClr>
                <a:schemeClr val="dk1"/>
              </a:buClr>
              <a:buSzPts val="2800"/>
              <a:buFont typeface="Proxima Nova"/>
              <a:buNone/>
              <a:defRPr sz="2800" b="0" i="0" u="none" strike="noStrike" cap="none" spc="0">
                <a:solidFill>
                  <a:schemeClr val="dk1"/>
                </a:solidFill>
                <a:latin typeface="Proxima Nova"/>
                <a:ea typeface="Proxima Nova"/>
                <a:cs typeface="Proxima Nova"/>
                <a:sym typeface="Proxima Nova"/>
              </a:defRPr>
            </a:lvl9pPr>
          </a:lstStyle>
          <a:p>
            <a:r>
              <a:rPr lang="pt-BR" sz="1800" b="1" dirty="0"/>
              <a:t>RNA-</a:t>
            </a:r>
            <a:r>
              <a:rPr lang="pt-BR" sz="1800" b="1" dirty="0" err="1"/>
              <a:t>seq</a:t>
            </a:r>
            <a:r>
              <a:rPr lang="pt-BR" sz="1800" b="1" dirty="0"/>
              <a:t> espacial</a:t>
            </a:r>
          </a:p>
          <a:p>
            <a:r>
              <a:rPr lang="pt-BR" sz="1800" dirty="0"/>
              <a:t>Tecnologias – Transcriptômica espacial baseada em sequenciamento</a:t>
            </a:r>
          </a:p>
        </p:txBody>
      </p:sp>
      <p:pic>
        <p:nvPicPr>
          <p:cNvPr id="5" name="Imagem 4">
            <a:extLst>
              <a:ext uri="{FF2B5EF4-FFF2-40B4-BE49-F238E27FC236}">
                <a16:creationId xmlns:a16="http://schemas.microsoft.com/office/drawing/2014/main" id="{1EC38E73-1A4F-9FF5-34FB-380FFCBDC931}"/>
              </a:ext>
            </a:extLst>
          </p:cNvPr>
          <p:cNvPicPr>
            <a:picLocks noChangeAspect="1"/>
          </p:cNvPicPr>
          <p:nvPr/>
        </p:nvPicPr>
        <p:blipFill>
          <a:blip r:embed="rId3"/>
          <a:srcRect l="1975" t="11523" r="67447" b="61583"/>
          <a:stretch>
            <a:fillRect/>
          </a:stretch>
        </p:blipFill>
        <p:spPr>
          <a:xfrm>
            <a:off x="880347" y="1390713"/>
            <a:ext cx="3622080" cy="3350503"/>
          </a:xfrm>
          <a:prstGeom prst="rect">
            <a:avLst/>
          </a:prstGeom>
        </p:spPr>
      </p:pic>
      <p:pic>
        <p:nvPicPr>
          <p:cNvPr id="8" name="Imagem 7">
            <a:extLst>
              <a:ext uri="{FF2B5EF4-FFF2-40B4-BE49-F238E27FC236}">
                <a16:creationId xmlns:a16="http://schemas.microsoft.com/office/drawing/2014/main" id="{73D484AB-4B29-4AA8-E43E-3D6601F95323}"/>
              </a:ext>
            </a:extLst>
          </p:cNvPr>
          <p:cNvPicPr>
            <a:picLocks noChangeAspect="1"/>
          </p:cNvPicPr>
          <p:nvPr/>
        </p:nvPicPr>
        <p:blipFill>
          <a:blip r:embed="rId3"/>
          <a:srcRect l="1630" t="37780" r="67294" b="30560"/>
          <a:stretch>
            <a:fillRect/>
          </a:stretch>
        </p:blipFill>
        <p:spPr>
          <a:xfrm>
            <a:off x="4707564" y="1152425"/>
            <a:ext cx="3571607" cy="3827079"/>
          </a:xfrm>
          <a:prstGeom prst="rect">
            <a:avLst/>
          </a:prstGeom>
        </p:spPr>
      </p:pic>
    </p:spTree>
    <p:extLst>
      <p:ext uri="{BB962C8B-B14F-4D97-AF65-F5344CB8AC3E}">
        <p14:creationId xmlns:p14="http://schemas.microsoft.com/office/powerpoint/2010/main" val="18830692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D629F-AB22-A1F6-A00C-B5A26356BF21}"/>
            </a:ext>
          </a:extLst>
        </p:cNvPr>
        <p:cNvGrpSpPr/>
        <p:nvPr/>
      </p:nvGrpSpPr>
      <p:grpSpPr>
        <a:xfrm>
          <a:off x="0" y="0"/>
          <a:ext cx="0" cy="0"/>
          <a:chOff x="0" y="0"/>
          <a:chExt cx="0" cy="0"/>
        </a:xfrm>
      </p:grpSpPr>
      <p:sp>
        <p:nvSpPr>
          <p:cNvPr id="3" name="Espaço Reservado para Texto 2">
            <a:extLst>
              <a:ext uri="{FF2B5EF4-FFF2-40B4-BE49-F238E27FC236}">
                <a16:creationId xmlns:a16="http://schemas.microsoft.com/office/drawing/2014/main" id="{22CCF1FC-6E24-7F79-FB4F-3E9C13B771DF}"/>
              </a:ext>
            </a:extLst>
          </p:cNvPr>
          <p:cNvSpPr>
            <a:spLocks noGrp="1"/>
          </p:cNvSpPr>
          <p:nvPr>
            <p:ph type="body" idx="1"/>
          </p:nvPr>
        </p:nvSpPr>
        <p:spPr/>
        <p:txBody>
          <a:bodyPr/>
          <a:lstStyle/>
          <a:p>
            <a:pPr>
              <a:lnSpc>
                <a:spcPct val="114999"/>
              </a:lnSpc>
            </a:pPr>
            <a:r>
              <a:rPr lang="pt-BR" sz="1400" dirty="0"/>
              <a:t>Identificam a localização espacial de moléculas de RNA individuais por meio </a:t>
            </a:r>
            <a:r>
              <a:rPr lang="pt-BR" sz="1400" b="1" dirty="0"/>
              <a:t>de hibridização </a:t>
            </a:r>
            <a:r>
              <a:rPr lang="pt-BR" sz="1400" b="1" i="1" dirty="0"/>
              <a:t>in situ </a:t>
            </a:r>
            <a:r>
              <a:rPr lang="pt-BR" sz="1400" b="1" dirty="0"/>
              <a:t>sequencial (ISH)</a:t>
            </a:r>
            <a:r>
              <a:rPr lang="pt-BR" sz="1400" dirty="0"/>
              <a:t>  ou </a:t>
            </a:r>
            <a:r>
              <a:rPr lang="pt-BR" sz="1400" b="1" dirty="0"/>
              <a:t>sequenciamento </a:t>
            </a:r>
            <a:r>
              <a:rPr lang="pt-BR" sz="1400" b="1" i="1" dirty="0"/>
              <a:t>in situ </a:t>
            </a:r>
            <a:r>
              <a:rPr lang="pt-BR" sz="1400" b="1" dirty="0"/>
              <a:t>(ISS)</a:t>
            </a:r>
            <a:r>
              <a:rPr lang="pt-BR" sz="1400" dirty="0"/>
              <a:t>, abrangendo </a:t>
            </a:r>
            <a:r>
              <a:rPr lang="pt-BR" sz="1400" b="1" dirty="0"/>
              <a:t>painéis direcionados </a:t>
            </a:r>
            <a:r>
              <a:rPr lang="pt-BR" sz="1400" dirty="0"/>
              <a:t>de até centenas ou milhares de genes.</a:t>
            </a:r>
          </a:p>
          <a:p>
            <a:pPr lvl="1">
              <a:lnSpc>
                <a:spcPct val="114999"/>
              </a:lnSpc>
              <a:spcBef>
                <a:spcPts val="200"/>
              </a:spcBef>
            </a:pPr>
            <a:r>
              <a:rPr lang="pt-BR" dirty="0"/>
              <a:t>Transcritos são identificados individualmente → dados brutos são coletados com </a:t>
            </a:r>
            <a:r>
              <a:rPr lang="pt-BR" b="1" dirty="0"/>
              <a:t>resolução espacial subcelular.</a:t>
            </a:r>
            <a:br>
              <a:rPr lang="pt-BR" b="1" dirty="0"/>
            </a:br>
            <a:endParaRPr lang="pt-BR" b="1" dirty="0"/>
          </a:p>
          <a:p>
            <a:pPr>
              <a:lnSpc>
                <a:spcPct val="114999"/>
              </a:lnSpc>
            </a:pPr>
            <a:r>
              <a:rPr lang="pt-BR" sz="1400" dirty="0"/>
              <a:t>A </a:t>
            </a:r>
            <a:r>
              <a:rPr lang="pt-BR" sz="1400" b="1" dirty="0"/>
              <a:t>segmentação de imagens </a:t>
            </a:r>
            <a:r>
              <a:rPr lang="pt-BR" sz="1400" dirty="0"/>
              <a:t>é utilizada </a:t>
            </a:r>
            <a:r>
              <a:rPr lang="pt-BR" sz="1400" b="1" dirty="0"/>
              <a:t>para identificar os limites de células ou núcleos individuais </a:t>
            </a:r>
            <a:r>
              <a:rPr lang="pt-BR" sz="1400" dirty="0"/>
              <a:t>e, durante o pré-processamento, associar as moléculas de RNA a essas células ou núcleos. </a:t>
            </a:r>
            <a:br>
              <a:rPr lang="pt-BR" sz="1400" dirty="0"/>
            </a:br>
            <a:endParaRPr lang="pt-BR" sz="1400" dirty="0"/>
          </a:p>
          <a:p>
            <a:pPr>
              <a:lnSpc>
                <a:spcPct val="114999"/>
              </a:lnSpc>
            </a:pPr>
            <a:r>
              <a:rPr lang="pt-BR" sz="1400" dirty="0"/>
              <a:t>A </a:t>
            </a:r>
            <a:r>
              <a:rPr lang="pt-BR" sz="1400" b="1" dirty="0"/>
              <a:t>seleção de conjuntos direcionados de genes </a:t>
            </a:r>
            <a:r>
              <a:rPr lang="pt-BR" sz="1400" dirty="0"/>
              <a:t>biologicamente informativos para um experimento — processo conhecido como </a:t>
            </a:r>
            <a:r>
              <a:rPr lang="pt-BR" sz="1400" b="1" dirty="0"/>
              <a:t>desenho de painel </a:t>
            </a:r>
            <a:r>
              <a:rPr lang="pt-BR" sz="1400" dirty="0"/>
              <a:t>(</a:t>
            </a:r>
            <a:r>
              <a:rPr lang="pt-BR" sz="1400" i="1" dirty="0" err="1"/>
              <a:t>panel</a:t>
            </a:r>
            <a:r>
              <a:rPr lang="pt-BR" sz="1400" i="1" dirty="0"/>
              <a:t> design</a:t>
            </a:r>
            <a:r>
              <a:rPr lang="pt-BR" sz="1400" dirty="0"/>
              <a:t>) — é um aspecto fundamental no planejamento experimental.</a:t>
            </a:r>
            <a:endParaRPr lang="pt-BR" dirty="0"/>
          </a:p>
        </p:txBody>
      </p:sp>
      <p:sp>
        <p:nvSpPr>
          <p:cNvPr id="7" name="Google Shape;499;p33">
            <a:extLst>
              <a:ext uri="{FF2B5EF4-FFF2-40B4-BE49-F238E27FC236}">
                <a16:creationId xmlns:a16="http://schemas.microsoft.com/office/drawing/2014/main" id="{F73FB17F-84F9-A504-DCB6-EED44D97BEBC}"/>
              </a:ext>
            </a:extLst>
          </p:cNvPr>
          <p:cNvSpPr txBox="1">
            <a:spLocks/>
          </p:cNvSpPr>
          <p:nvPr/>
        </p:nvSpPr>
        <p:spPr>
          <a:xfrm>
            <a:off x="311700" y="445025"/>
            <a:ext cx="6578338" cy="707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Proxima Nova"/>
              <a:buNone/>
              <a:defRPr sz="2800" b="0" i="0" u="none" strike="noStrike" cap="none" spc="0">
                <a:solidFill>
                  <a:schemeClr val="dk1"/>
                </a:solidFill>
                <a:latin typeface="Proxima Nova"/>
                <a:ea typeface="Proxima Nova"/>
                <a:cs typeface="Proxima Nova"/>
                <a:sym typeface="Proxima Nova"/>
              </a:defRPr>
            </a:lvl1pPr>
            <a:lvl2pPr marR="0" lvl="1" algn="l" rtl="0">
              <a:lnSpc>
                <a:spcPct val="100000"/>
              </a:lnSpc>
              <a:spcBef>
                <a:spcPts val="0"/>
              </a:spcBef>
              <a:spcAft>
                <a:spcPts val="0"/>
              </a:spcAft>
              <a:buClr>
                <a:schemeClr val="dk1"/>
              </a:buClr>
              <a:buSzPts val="2800"/>
              <a:buFont typeface="Proxima Nova"/>
              <a:buNone/>
              <a:defRPr sz="2800" b="0" i="0" u="none" strike="noStrike" cap="none" spc="0">
                <a:solidFill>
                  <a:schemeClr val="dk1"/>
                </a:solidFill>
                <a:latin typeface="Proxima Nova"/>
                <a:ea typeface="Proxima Nova"/>
                <a:cs typeface="Proxima Nova"/>
                <a:sym typeface="Proxima Nova"/>
              </a:defRPr>
            </a:lvl2pPr>
            <a:lvl3pPr marR="0" lvl="2" algn="l" rtl="0">
              <a:lnSpc>
                <a:spcPct val="100000"/>
              </a:lnSpc>
              <a:spcBef>
                <a:spcPts val="0"/>
              </a:spcBef>
              <a:spcAft>
                <a:spcPts val="0"/>
              </a:spcAft>
              <a:buClr>
                <a:schemeClr val="dk1"/>
              </a:buClr>
              <a:buSzPts val="2800"/>
              <a:buFont typeface="Proxima Nova"/>
              <a:buNone/>
              <a:defRPr sz="2800" b="0" i="0" u="none" strike="noStrike" cap="none" spc="0">
                <a:solidFill>
                  <a:schemeClr val="dk1"/>
                </a:solidFill>
                <a:latin typeface="Proxima Nova"/>
                <a:ea typeface="Proxima Nova"/>
                <a:cs typeface="Proxima Nova"/>
                <a:sym typeface="Proxima Nova"/>
              </a:defRPr>
            </a:lvl3pPr>
            <a:lvl4pPr marR="0" lvl="3" algn="l" rtl="0">
              <a:lnSpc>
                <a:spcPct val="100000"/>
              </a:lnSpc>
              <a:spcBef>
                <a:spcPts val="0"/>
              </a:spcBef>
              <a:spcAft>
                <a:spcPts val="0"/>
              </a:spcAft>
              <a:buClr>
                <a:schemeClr val="dk1"/>
              </a:buClr>
              <a:buSzPts val="2800"/>
              <a:buFont typeface="Proxima Nova"/>
              <a:buNone/>
              <a:defRPr sz="2800" b="0" i="0" u="none" strike="noStrike" cap="none" spc="0">
                <a:solidFill>
                  <a:schemeClr val="dk1"/>
                </a:solidFill>
                <a:latin typeface="Proxima Nova"/>
                <a:ea typeface="Proxima Nova"/>
                <a:cs typeface="Proxima Nova"/>
                <a:sym typeface="Proxima Nova"/>
              </a:defRPr>
            </a:lvl4pPr>
            <a:lvl5pPr marR="0" lvl="4" algn="l" rtl="0">
              <a:lnSpc>
                <a:spcPct val="100000"/>
              </a:lnSpc>
              <a:spcBef>
                <a:spcPts val="0"/>
              </a:spcBef>
              <a:spcAft>
                <a:spcPts val="0"/>
              </a:spcAft>
              <a:buClr>
                <a:schemeClr val="dk1"/>
              </a:buClr>
              <a:buSzPts val="2800"/>
              <a:buFont typeface="Proxima Nova"/>
              <a:buNone/>
              <a:defRPr sz="2800" b="0" i="0" u="none" strike="noStrike" cap="none" spc="0">
                <a:solidFill>
                  <a:schemeClr val="dk1"/>
                </a:solidFill>
                <a:latin typeface="Proxima Nova"/>
                <a:ea typeface="Proxima Nova"/>
                <a:cs typeface="Proxima Nova"/>
                <a:sym typeface="Proxima Nova"/>
              </a:defRPr>
            </a:lvl5pPr>
            <a:lvl6pPr marR="0" lvl="5" algn="l" rtl="0">
              <a:lnSpc>
                <a:spcPct val="100000"/>
              </a:lnSpc>
              <a:spcBef>
                <a:spcPts val="0"/>
              </a:spcBef>
              <a:spcAft>
                <a:spcPts val="0"/>
              </a:spcAft>
              <a:buClr>
                <a:schemeClr val="dk1"/>
              </a:buClr>
              <a:buSzPts val="2800"/>
              <a:buFont typeface="Proxima Nova"/>
              <a:buNone/>
              <a:defRPr sz="2800" b="0" i="0" u="none" strike="noStrike" cap="none" spc="0">
                <a:solidFill>
                  <a:schemeClr val="dk1"/>
                </a:solidFill>
                <a:latin typeface="Proxima Nova"/>
                <a:ea typeface="Proxima Nova"/>
                <a:cs typeface="Proxima Nova"/>
                <a:sym typeface="Proxima Nova"/>
              </a:defRPr>
            </a:lvl6pPr>
            <a:lvl7pPr marR="0" lvl="6" algn="l" rtl="0">
              <a:lnSpc>
                <a:spcPct val="100000"/>
              </a:lnSpc>
              <a:spcBef>
                <a:spcPts val="0"/>
              </a:spcBef>
              <a:spcAft>
                <a:spcPts val="0"/>
              </a:spcAft>
              <a:buClr>
                <a:schemeClr val="dk1"/>
              </a:buClr>
              <a:buSzPts val="2800"/>
              <a:buFont typeface="Proxima Nova"/>
              <a:buNone/>
              <a:defRPr sz="2800" b="0" i="0" u="none" strike="noStrike" cap="none" spc="0">
                <a:solidFill>
                  <a:schemeClr val="dk1"/>
                </a:solidFill>
                <a:latin typeface="Proxima Nova"/>
                <a:ea typeface="Proxima Nova"/>
                <a:cs typeface="Proxima Nova"/>
                <a:sym typeface="Proxima Nova"/>
              </a:defRPr>
            </a:lvl7pPr>
            <a:lvl8pPr marR="0" lvl="7" algn="l" rtl="0">
              <a:lnSpc>
                <a:spcPct val="100000"/>
              </a:lnSpc>
              <a:spcBef>
                <a:spcPts val="0"/>
              </a:spcBef>
              <a:spcAft>
                <a:spcPts val="0"/>
              </a:spcAft>
              <a:buClr>
                <a:schemeClr val="dk1"/>
              </a:buClr>
              <a:buSzPts val="2800"/>
              <a:buFont typeface="Proxima Nova"/>
              <a:buNone/>
              <a:defRPr sz="2800" b="0" i="0" u="none" strike="noStrike" cap="none" spc="0">
                <a:solidFill>
                  <a:schemeClr val="dk1"/>
                </a:solidFill>
                <a:latin typeface="Proxima Nova"/>
                <a:ea typeface="Proxima Nova"/>
                <a:cs typeface="Proxima Nova"/>
                <a:sym typeface="Proxima Nova"/>
              </a:defRPr>
            </a:lvl8pPr>
            <a:lvl9pPr marR="0" lvl="8" algn="l" rtl="0">
              <a:lnSpc>
                <a:spcPct val="100000"/>
              </a:lnSpc>
              <a:spcBef>
                <a:spcPts val="0"/>
              </a:spcBef>
              <a:spcAft>
                <a:spcPts val="0"/>
              </a:spcAft>
              <a:buClr>
                <a:schemeClr val="dk1"/>
              </a:buClr>
              <a:buSzPts val="2800"/>
              <a:buFont typeface="Proxima Nova"/>
              <a:buNone/>
              <a:defRPr sz="2800" b="0" i="0" u="none" strike="noStrike" cap="none" spc="0">
                <a:solidFill>
                  <a:schemeClr val="dk1"/>
                </a:solidFill>
                <a:latin typeface="Proxima Nova"/>
                <a:ea typeface="Proxima Nova"/>
                <a:cs typeface="Proxima Nova"/>
                <a:sym typeface="Proxima Nova"/>
              </a:defRPr>
            </a:lvl9pPr>
          </a:lstStyle>
          <a:p>
            <a:r>
              <a:rPr lang="pt-BR" sz="1800" b="1" dirty="0"/>
              <a:t>RNA-</a:t>
            </a:r>
            <a:r>
              <a:rPr lang="pt-BR" sz="1800" b="1" dirty="0" err="1"/>
              <a:t>seq</a:t>
            </a:r>
            <a:r>
              <a:rPr lang="pt-BR" sz="1800" b="1" dirty="0"/>
              <a:t> espacial</a:t>
            </a:r>
          </a:p>
          <a:p>
            <a:r>
              <a:rPr lang="pt-BR" sz="1800" dirty="0"/>
              <a:t>Tecnologias – Transcriptômica espacial baseada em imagem</a:t>
            </a:r>
          </a:p>
        </p:txBody>
      </p:sp>
    </p:spTree>
    <p:extLst>
      <p:ext uri="{BB962C8B-B14F-4D97-AF65-F5344CB8AC3E}">
        <p14:creationId xmlns:p14="http://schemas.microsoft.com/office/powerpoint/2010/main" val="24526328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1C364-76F4-8924-35BB-BC37983BF281}"/>
            </a:ext>
          </a:extLst>
        </p:cNvPr>
        <p:cNvGrpSpPr/>
        <p:nvPr/>
      </p:nvGrpSpPr>
      <p:grpSpPr>
        <a:xfrm>
          <a:off x="0" y="0"/>
          <a:ext cx="0" cy="0"/>
          <a:chOff x="0" y="0"/>
          <a:chExt cx="0" cy="0"/>
        </a:xfrm>
      </p:grpSpPr>
      <p:sp>
        <p:nvSpPr>
          <p:cNvPr id="4" name="Google Shape;499;p33">
            <a:extLst>
              <a:ext uri="{FF2B5EF4-FFF2-40B4-BE49-F238E27FC236}">
                <a16:creationId xmlns:a16="http://schemas.microsoft.com/office/drawing/2014/main" id="{67426B59-9506-7311-4960-D4BA84463AFC}"/>
              </a:ext>
            </a:extLst>
          </p:cNvPr>
          <p:cNvSpPr txBox="1">
            <a:spLocks/>
          </p:cNvSpPr>
          <p:nvPr/>
        </p:nvSpPr>
        <p:spPr>
          <a:xfrm>
            <a:off x="311700" y="445025"/>
            <a:ext cx="6578338" cy="707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Proxima Nova"/>
              <a:buNone/>
              <a:defRPr sz="2800" b="0" i="0" u="none" strike="noStrike" cap="none" spc="0">
                <a:solidFill>
                  <a:schemeClr val="dk1"/>
                </a:solidFill>
                <a:latin typeface="Proxima Nova"/>
                <a:ea typeface="Proxima Nova"/>
                <a:cs typeface="Proxima Nova"/>
                <a:sym typeface="Proxima Nova"/>
              </a:defRPr>
            </a:lvl1pPr>
            <a:lvl2pPr marR="0" lvl="1" algn="l" rtl="0">
              <a:lnSpc>
                <a:spcPct val="100000"/>
              </a:lnSpc>
              <a:spcBef>
                <a:spcPts val="0"/>
              </a:spcBef>
              <a:spcAft>
                <a:spcPts val="0"/>
              </a:spcAft>
              <a:buClr>
                <a:schemeClr val="dk1"/>
              </a:buClr>
              <a:buSzPts val="2800"/>
              <a:buFont typeface="Proxima Nova"/>
              <a:buNone/>
              <a:defRPr sz="2800" b="0" i="0" u="none" strike="noStrike" cap="none" spc="0">
                <a:solidFill>
                  <a:schemeClr val="dk1"/>
                </a:solidFill>
                <a:latin typeface="Proxima Nova"/>
                <a:ea typeface="Proxima Nova"/>
                <a:cs typeface="Proxima Nova"/>
                <a:sym typeface="Proxima Nova"/>
              </a:defRPr>
            </a:lvl2pPr>
            <a:lvl3pPr marR="0" lvl="2" algn="l" rtl="0">
              <a:lnSpc>
                <a:spcPct val="100000"/>
              </a:lnSpc>
              <a:spcBef>
                <a:spcPts val="0"/>
              </a:spcBef>
              <a:spcAft>
                <a:spcPts val="0"/>
              </a:spcAft>
              <a:buClr>
                <a:schemeClr val="dk1"/>
              </a:buClr>
              <a:buSzPts val="2800"/>
              <a:buFont typeface="Proxima Nova"/>
              <a:buNone/>
              <a:defRPr sz="2800" b="0" i="0" u="none" strike="noStrike" cap="none" spc="0">
                <a:solidFill>
                  <a:schemeClr val="dk1"/>
                </a:solidFill>
                <a:latin typeface="Proxima Nova"/>
                <a:ea typeface="Proxima Nova"/>
                <a:cs typeface="Proxima Nova"/>
                <a:sym typeface="Proxima Nova"/>
              </a:defRPr>
            </a:lvl3pPr>
            <a:lvl4pPr marR="0" lvl="3" algn="l" rtl="0">
              <a:lnSpc>
                <a:spcPct val="100000"/>
              </a:lnSpc>
              <a:spcBef>
                <a:spcPts val="0"/>
              </a:spcBef>
              <a:spcAft>
                <a:spcPts val="0"/>
              </a:spcAft>
              <a:buClr>
                <a:schemeClr val="dk1"/>
              </a:buClr>
              <a:buSzPts val="2800"/>
              <a:buFont typeface="Proxima Nova"/>
              <a:buNone/>
              <a:defRPr sz="2800" b="0" i="0" u="none" strike="noStrike" cap="none" spc="0">
                <a:solidFill>
                  <a:schemeClr val="dk1"/>
                </a:solidFill>
                <a:latin typeface="Proxima Nova"/>
                <a:ea typeface="Proxima Nova"/>
                <a:cs typeface="Proxima Nova"/>
                <a:sym typeface="Proxima Nova"/>
              </a:defRPr>
            </a:lvl4pPr>
            <a:lvl5pPr marR="0" lvl="4" algn="l" rtl="0">
              <a:lnSpc>
                <a:spcPct val="100000"/>
              </a:lnSpc>
              <a:spcBef>
                <a:spcPts val="0"/>
              </a:spcBef>
              <a:spcAft>
                <a:spcPts val="0"/>
              </a:spcAft>
              <a:buClr>
                <a:schemeClr val="dk1"/>
              </a:buClr>
              <a:buSzPts val="2800"/>
              <a:buFont typeface="Proxima Nova"/>
              <a:buNone/>
              <a:defRPr sz="2800" b="0" i="0" u="none" strike="noStrike" cap="none" spc="0">
                <a:solidFill>
                  <a:schemeClr val="dk1"/>
                </a:solidFill>
                <a:latin typeface="Proxima Nova"/>
                <a:ea typeface="Proxima Nova"/>
                <a:cs typeface="Proxima Nova"/>
                <a:sym typeface="Proxima Nova"/>
              </a:defRPr>
            </a:lvl5pPr>
            <a:lvl6pPr marR="0" lvl="5" algn="l" rtl="0">
              <a:lnSpc>
                <a:spcPct val="100000"/>
              </a:lnSpc>
              <a:spcBef>
                <a:spcPts val="0"/>
              </a:spcBef>
              <a:spcAft>
                <a:spcPts val="0"/>
              </a:spcAft>
              <a:buClr>
                <a:schemeClr val="dk1"/>
              </a:buClr>
              <a:buSzPts val="2800"/>
              <a:buFont typeface="Proxima Nova"/>
              <a:buNone/>
              <a:defRPr sz="2800" b="0" i="0" u="none" strike="noStrike" cap="none" spc="0">
                <a:solidFill>
                  <a:schemeClr val="dk1"/>
                </a:solidFill>
                <a:latin typeface="Proxima Nova"/>
                <a:ea typeface="Proxima Nova"/>
                <a:cs typeface="Proxima Nova"/>
                <a:sym typeface="Proxima Nova"/>
              </a:defRPr>
            </a:lvl6pPr>
            <a:lvl7pPr marR="0" lvl="6" algn="l" rtl="0">
              <a:lnSpc>
                <a:spcPct val="100000"/>
              </a:lnSpc>
              <a:spcBef>
                <a:spcPts val="0"/>
              </a:spcBef>
              <a:spcAft>
                <a:spcPts val="0"/>
              </a:spcAft>
              <a:buClr>
                <a:schemeClr val="dk1"/>
              </a:buClr>
              <a:buSzPts val="2800"/>
              <a:buFont typeface="Proxima Nova"/>
              <a:buNone/>
              <a:defRPr sz="2800" b="0" i="0" u="none" strike="noStrike" cap="none" spc="0">
                <a:solidFill>
                  <a:schemeClr val="dk1"/>
                </a:solidFill>
                <a:latin typeface="Proxima Nova"/>
                <a:ea typeface="Proxima Nova"/>
                <a:cs typeface="Proxima Nova"/>
                <a:sym typeface="Proxima Nova"/>
              </a:defRPr>
            </a:lvl7pPr>
            <a:lvl8pPr marR="0" lvl="7" algn="l" rtl="0">
              <a:lnSpc>
                <a:spcPct val="100000"/>
              </a:lnSpc>
              <a:spcBef>
                <a:spcPts val="0"/>
              </a:spcBef>
              <a:spcAft>
                <a:spcPts val="0"/>
              </a:spcAft>
              <a:buClr>
                <a:schemeClr val="dk1"/>
              </a:buClr>
              <a:buSzPts val="2800"/>
              <a:buFont typeface="Proxima Nova"/>
              <a:buNone/>
              <a:defRPr sz="2800" b="0" i="0" u="none" strike="noStrike" cap="none" spc="0">
                <a:solidFill>
                  <a:schemeClr val="dk1"/>
                </a:solidFill>
                <a:latin typeface="Proxima Nova"/>
                <a:ea typeface="Proxima Nova"/>
                <a:cs typeface="Proxima Nova"/>
                <a:sym typeface="Proxima Nova"/>
              </a:defRPr>
            </a:lvl8pPr>
            <a:lvl9pPr marR="0" lvl="8" algn="l" rtl="0">
              <a:lnSpc>
                <a:spcPct val="100000"/>
              </a:lnSpc>
              <a:spcBef>
                <a:spcPts val="0"/>
              </a:spcBef>
              <a:spcAft>
                <a:spcPts val="0"/>
              </a:spcAft>
              <a:buClr>
                <a:schemeClr val="dk1"/>
              </a:buClr>
              <a:buSzPts val="2800"/>
              <a:buFont typeface="Proxima Nova"/>
              <a:buNone/>
              <a:defRPr sz="2800" b="0" i="0" u="none" strike="noStrike" cap="none" spc="0">
                <a:solidFill>
                  <a:schemeClr val="dk1"/>
                </a:solidFill>
                <a:latin typeface="Proxima Nova"/>
                <a:ea typeface="Proxima Nova"/>
                <a:cs typeface="Proxima Nova"/>
                <a:sym typeface="Proxima Nova"/>
              </a:defRPr>
            </a:lvl9pPr>
          </a:lstStyle>
          <a:p>
            <a:r>
              <a:rPr lang="pt-BR" sz="1800" b="1" dirty="0"/>
              <a:t>RNA-</a:t>
            </a:r>
            <a:r>
              <a:rPr lang="pt-BR" sz="1800" b="1" dirty="0" err="1"/>
              <a:t>seq</a:t>
            </a:r>
            <a:r>
              <a:rPr lang="pt-BR" sz="1800" b="1" dirty="0"/>
              <a:t> espacial</a:t>
            </a:r>
          </a:p>
          <a:p>
            <a:r>
              <a:rPr lang="pt-BR" sz="1800" dirty="0"/>
              <a:t>Tecnologias – Transcriptômica espacial baseada em imagem</a:t>
            </a:r>
          </a:p>
        </p:txBody>
      </p:sp>
      <p:pic>
        <p:nvPicPr>
          <p:cNvPr id="9" name="Imagem 8">
            <a:extLst>
              <a:ext uri="{FF2B5EF4-FFF2-40B4-BE49-F238E27FC236}">
                <a16:creationId xmlns:a16="http://schemas.microsoft.com/office/drawing/2014/main" id="{882D0361-2FB4-01BE-C535-21B9E8030C51}"/>
              </a:ext>
            </a:extLst>
          </p:cNvPr>
          <p:cNvPicPr>
            <a:picLocks noChangeAspect="1"/>
          </p:cNvPicPr>
          <p:nvPr/>
        </p:nvPicPr>
        <p:blipFill>
          <a:blip r:embed="rId3"/>
          <a:srcRect l="32648" t="11523" r="36863" b="62735"/>
          <a:stretch>
            <a:fillRect/>
          </a:stretch>
        </p:blipFill>
        <p:spPr>
          <a:xfrm>
            <a:off x="1096895" y="1286391"/>
            <a:ext cx="3683830" cy="3271170"/>
          </a:xfrm>
          <a:prstGeom prst="rect">
            <a:avLst/>
          </a:prstGeom>
        </p:spPr>
      </p:pic>
      <p:pic>
        <p:nvPicPr>
          <p:cNvPr id="11" name="Imagem 10">
            <a:extLst>
              <a:ext uri="{FF2B5EF4-FFF2-40B4-BE49-F238E27FC236}">
                <a16:creationId xmlns:a16="http://schemas.microsoft.com/office/drawing/2014/main" id="{5DFE4606-B2FF-DC92-E18C-743B4A72636A}"/>
              </a:ext>
            </a:extLst>
          </p:cNvPr>
          <p:cNvPicPr>
            <a:picLocks noChangeAspect="1"/>
          </p:cNvPicPr>
          <p:nvPr/>
        </p:nvPicPr>
        <p:blipFill>
          <a:blip r:embed="rId3"/>
          <a:srcRect l="32648" t="37523" r="36863" b="26956"/>
          <a:stretch>
            <a:fillRect/>
          </a:stretch>
        </p:blipFill>
        <p:spPr>
          <a:xfrm>
            <a:off x="4989446" y="1152425"/>
            <a:ext cx="3081131" cy="3775379"/>
          </a:xfrm>
          <a:prstGeom prst="rect">
            <a:avLst/>
          </a:prstGeom>
        </p:spPr>
      </p:pic>
    </p:spTree>
    <p:extLst>
      <p:ext uri="{BB962C8B-B14F-4D97-AF65-F5344CB8AC3E}">
        <p14:creationId xmlns:p14="http://schemas.microsoft.com/office/powerpoint/2010/main" val="10024703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31"/>
          <p:cNvSpPr txBox="1">
            <a:spLocks noGrp="1"/>
          </p:cNvSpPr>
          <p:nvPr>
            <p:ph type="title"/>
          </p:nvPr>
        </p:nvSpPr>
        <p:spPr>
          <a:xfrm>
            <a:off x="311700" y="445025"/>
            <a:ext cx="5615400" cy="707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sz="1800" b="1" dirty="0"/>
              <a:t>RNA-</a:t>
            </a:r>
            <a:r>
              <a:rPr lang="pt-BR" sz="1800" b="1" dirty="0" err="1"/>
              <a:t>seq</a:t>
            </a:r>
            <a:r>
              <a:rPr lang="pt-BR" sz="1800" b="1" dirty="0"/>
              <a:t> espacial</a:t>
            </a:r>
            <a:endParaRPr sz="1800" b="1" dirty="0"/>
          </a:p>
          <a:p>
            <a:pPr marL="0" lvl="0" indent="0" algn="l" rtl="0">
              <a:lnSpc>
                <a:spcPct val="100000"/>
              </a:lnSpc>
              <a:spcBef>
                <a:spcPts val="0"/>
              </a:spcBef>
              <a:spcAft>
                <a:spcPts val="0"/>
              </a:spcAft>
              <a:buSzPts val="2800"/>
              <a:buNone/>
            </a:pPr>
            <a:r>
              <a:rPr lang="pt-BR" sz="1800" dirty="0"/>
              <a:t>Tecnologias - Princípios</a:t>
            </a:r>
            <a:endParaRPr sz="1800" dirty="0"/>
          </a:p>
        </p:txBody>
      </p:sp>
      <p:pic>
        <p:nvPicPr>
          <p:cNvPr id="456" name="Google Shape;456;p31" descr="Exploring tissue architecture using spatial transcriptomics | Nature"/>
          <p:cNvPicPr preferRelativeResize="0"/>
          <p:nvPr/>
        </p:nvPicPr>
        <p:blipFill rotWithShape="1">
          <a:blip r:embed="rId3">
            <a:alphaModFix/>
          </a:blip>
          <a:srcRect/>
          <a:stretch/>
        </p:blipFill>
        <p:spPr>
          <a:xfrm>
            <a:off x="1613865" y="1442711"/>
            <a:ext cx="6014319" cy="2581328"/>
          </a:xfrm>
          <a:prstGeom prst="rect">
            <a:avLst/>
          </a:prstGeom>
          <a:noFill/>
          <a:ln>
            <a:noFill/>
          </a:ln>
        </p:spPr>
      </p:pic>
      <p:sp>
        <p:nvSpPr>
          <p:cNvPr id="457" name="Google Shape;457;p31"/>
          <p:cNvSpPr txBox="1"/>
          <p:nvPr/>
        </p:nvSpPr>
        <p:spPr>
          <a:xfrm>
            <a:off x="6872748" y="1020400"/>
            <a:ext cx="1273500" cy="1043100"/>
          </a:xfrm>
          <a:prstGeom prst="rect">
            <a:avLst/>
          </a:prstGeom>
          <a:noFill/>
          <a:ln>
            <a:noFill/>
          </a:ln>
        </p:spPr>
        <p:txBody>
          <a:bodyPr spcFirstLastPara="1" wrap="square" lIns="60475" tIns="30225" rIns="60475" bIns="30225" anchor="t" anchorCtr="0">
            <a:normAutofit fontScale="92500" lnSpcReduction="20000"/>
          </a:bodyPr>
          <a:lstStyle/>
          <a:p>
            <a:pPr marL="0" marR="0" lvl="0" indent="0" algn="l" rtl="0">
              <a:lnSpc>
                <a:spcPct val="100000"/>
              </a:lnSpc>
              <a:spcBef>
                <a:spcPts val="0"/>
              </a:spcBef>
              <a:spcAft>
                <a:spcPts val="0"/>
              </a:spcAft>
              <a:buClr>
                <a:srgbClr val="93A299"/>
              </a:buClr>
              <a:buSzPct val="85000"/>
              <a:buFont typeface="Arial"/>
              <a:buNone/>
            </a:pPr>
            <a:r>
              <a:rPr lang="pt-BR" sz="1852" b="0" i="0" u="none" strike="noStrike" cap="none">
                <a:solidFill>
                  <a:srgbClr val="292934"/>
                </a:solidFill>
                <a:latin typeface="EB Garamond"/>
                <a:ea typeface="EB Garamond"/>
                <a:cs typeface="EB Garamond"/>
                <a:sym typeface="EB Garamond"/>
              </a:rPr>
              <a:t>10x Visium</a:t>
            </a:r>
            <a:endParaRPr sz="1852" b="0" i="0" u="none" strike="noStrike" cap="none">
              <a:solidFill>
                <a:srgbClr val="292934"/>
              </a:solidFill>
              <a:latin typeface="EB Garamond"/>
              <a:ea typeface="EB Garamond"/>
              <a:cs typeface="EB Garamond"/>
              <a:sym typeface="EB Garamond"/>
            </a:endParaRPr>
          </a:p>
          <a:p>
            <a:pPr marL="0" marR="0" lvl="0" indent="0" algn="l" rtl="0">
              <a:lnSpc>
                <a:spcPct val="100000"/>
              </a:lnSpc>
              <a:spcBef>
                <a:spcPts val="259"/>
              </a:spcBef>
              <a:spcAft>
                <a:spcPts val="0"/>
              </a:spcAft>
              <a:buClr>
                <a:srgbClr val="93A299"/>
              </a:buClr>
              <a:buSzPct val="85000"/>
              <a:buFont typeface="Arial"/>
              <a:buNone/>
            </a:pPr>
            <a:r>
              <a:rPr lang="pt-BR" sz="1852" b="0" i="0" u="none" strike="noStrike" cap="none">
                <a:solidFill>
                  <a:srgbClr val="292934"/>
                </a:solidFill>
                <a:latin typeface="EB Garamond"/>
                <a:ea typeface="EB Garamond"/>
                <a:cs typeface="EB Garamond"/>
                <a:sym typeface="EB Garamond"/>
              </a:rPr>
              <a:t>GeoMX</a:t>
            </a:r>
            <a:endParaRPr sz="1852" b="0" i="0" u="none" strike="noStrike" cap="none">
              <a:solidFill>
                <a:srgbClr val="292934"/>
              </a:solidFill>
              <a:latin typeface="EB Garamond"/>
              <a:ea typeface="EB Garamond"/>
              <a:cs typeface="EB Garamond"/>
              <a:sym typeface="EB Garamond"/>
            </a:endParaRPr>
          </a:p>
          <a:p>
            <a:pPr marL="0" marR="0" lvl="0" indent="0" algn="l" rtl="0">
              <a:lnSpc>
                <a:spcPct val="100000"/>
              </a:lnSpc>
              <a:spcBef>
                <a:spcPts val="259"/>
              </a:spcBef>
              <a:spcAft>
                <a:spcPts val="0"/>
              </a:spcAft>
              <a:buClr>
                <a:srgbClr val="93A299"/>
              </a:buClr>
              <a:buSzPct val="85000"/>
              <a:buFont typeface="Arial"/>
              <a:buNone/>
            </a:pPr>
            <a:r>
              <a:rPr lang="pt-BR" sz="1852" b="0" i="0" u="none" strike="noStrike" cap="none">
                <a:solidFill>
                  <a:srgbClr val="292934"/>
                </a:solidFill>
                <a:latin typeface="EB Garamond"/>
                <a:ea typeface="EB Garamond"/>
                <a:cs typeface="EB Garamond"/>
                <a:sym typeface="EB Garamond"/>
              </a:rPr>
              <a:t>BMKMANU</a:t>
            </a:r>
            <a:endParaRPr sz="926" b="0" i="0" u="none" strike="noStrike" cap="none">
              <a:solidFill>
                <a:srgbClr val="000000"/>
              </a:solidFill>
              <a:latin typeface="Arial"/>
              <a:ea typeface="Arial"/>
              <a:cs typeface="Arial"/>
              <a:sym typeface="Arial"/>
            </a:endParaRPr>
          </a:p>
          <a:p>
            <a:pPr marL="0" marR="0" lvl="0" indent="0" algn="l" rtl="0">
              <a:lnSpc>
                <a:spcPct val="100000"/>
              </a:lnSpc>
              <a:spcBef>
                <a:spcPts val="259"/>
              </a:spcBef>
              <a:spcAft>
                <a:spcPts val="0"/>
              </a:spcAft>
              <a:buClr>
                <a:srgbClr val="93A299"/>
              </a:buClr>
              <a:buSzPct val="85000"/>
              <a:buFont typeface="Arial"/>
              <a:buNone/>
            </a:pPr>
            <a:r>
              <a:rPr lang="pt-BR" sz="1852" b="0" i="0" u="none" strike="noStrike" cap="none">
                <a:solidFill>
                  <a:srgbClr val="292934"/>
                </a:solidFill>
                <a:latin typeface="EB Garamond"/>
                <a:ea typeface="EB Garamond"/>
                <a:cs typeface="EB Garamond"/>
                <a:sym typeface="EB Garamond"/>
              </a:rPr>
              <a:t>Stereo-Seq</a:t>
            </a:r>
            <a:endParaRPr sz="926" b="0" i="0" u="none" strike="noStrike" cap="none">
              <a:solidFill>
                <a:srgbClr val="000000"/>
              </a:solidFill>
              <a:latin typeface="Arial"/>
              <a:ea typeface="Arial"/>
              <a:cs typeface="Arial"/>
              <a:sym typeface="Arial"/>
            </a:endParaRPr>
          </a:p>
        </p:txBody>
      </p:sp>
      <p:sp>
        <p:nvSpPr>
          <p:cNvPr id="458" name="Google Shape;458;p31"/>
          <p:cNvSpPr txBox="1"/>
          <p:nvPr/>
        </p:nvSpPr>
        <p:spPr>
          <a:xfrm>
            <a:off x="821864" y="3191734"/>
            <a:ext cx="1057800" cy="1043100"/>
          </a:xfrm>
          <a:prstGeom prst="rect">
            <a:avLst/>
          </a:prstGeom>
          <a:noFill/>
          <a:ln>
            <a:noFill/>
          </a:ln>
        </p:spPr>
        <p:txBody>
          <a:bodyPr spcFirstLastPara="1" wrap="square" lIns="60475" tIns="30225" rIns="60475" bIns="30225" anchor="t" anchorCtr="0">
            <a:normAutofit/>
          </a:bodyPr>
          <a:lstStyle/>
          <a:p>
            <a:pPr marL="0" marR="0" lvl="0" indent="0" algn="l" rtl="0">
              <a:lnSpc>
                <a:spcPct val="100000"/>
              </a:lnSpc>
              <a:spcBef>
                <a:spcPts val="0"/>
              </a:spcBef>
              <a:spcAft>
                <a:spcPts val="0"/>
              </a:spcAft>
              <a:buClr>
                <a:srgbClr val="93A299"/>
              </a:buClr>
              <a:buSzPts val="1124"/>
              <a:buFont typeface="Arial"/>
              <a:buNone/>
            </a:pPr>
            <a:r>
              <a:rPr lang="pt-BR" sz="1323" b="0" i="0" u="none" strike="noStrike" cap="none">
                <a:solidFill>
                  <a:srgbClr val="292934"/>
                </a:solidFill>
                <a:latin typeface="EB Garamond"/>
                <a:ea typeface="EB Garamond"/>
                <a:cs typeface="EB Garamond"/>
                <a:sym typeface="EB Garamond"/>
              </a:rPr>
              <a:t>10x Xenium</a:t>
            </a:r>
            <a:endParaRPr sz="926" b="0" i="0" u="none" strike="noStrike" cap="none">
              <a:solidFill>
                <a:srgbClr val="000000"/>
              </a:solidFill>
              <a:latin typeface="Arial"/>
              <a:ea typeface="Arial"/>
              <a:cs typeface="Arial"/>
              <a:sym typeface="Arial"/>
            </a:endParaRPr>
          </a:p>
          <a:p>
            <a:pPr marL="0" marR="0" lvl="0" indent="0" algn="l" rtl="0">
              <a:lnSpc>
                <a:spcPct val="100000"/>
              </a:lnSpc>
              <a:spcBef>
                <a:spcPts val="265"/>
              </a:spcBef>
              <a:spcAft>
                <a:spcPts val="0"/>
              </a:spcAft>
              <a:buClr>
                <a:srgbClr val="93A299"/>
              </a:buClr>
              <a:buSzPts val="1124"/>
              <a:buFont typeface="Arial"/>
              <a:buNone/>
            </a:pPr>
            <a:r>
              <a:rPr lang="pt-BR" sz="1323" b="0" i="0" u="none" strike="noStrike" cap="none">
                <a:solidFill>
                  <a:srgbClr val="292934"/>
                </a:solidFill>
                <a:latin typeface="EB Garamond"/>
                <a:ea typeface="EB Garamond"/>
                <a:cs typeface="EB Garamond"/>
                <a:sym typeface="EB Garamond"/>
              </a:rPr>
              <a:t>CosMX</a:t>
            </a:r>
            <a:endParaRPr sz="1323" b="0" i="0" u="none" strike="noStrike" cap="none">
              <a:solidFill>
                <a:srgbClr val="292934"/>
              </a:solidFill>
              <a:latin typeface="EB Garamond"/>
              <a:ea typeface="EB Garamond"/>
              <a:cs typeface="EB Garamond"/>
              <a:sym typeface="EB Garamond"/>
            </a:endParaRPr>
          </a:p>
        </p:txBody>
      </p:sp>
      <p:sp>
        <p:nvSpPr>
          <p:cNvPr id="459" name="Google Shape;459;p31"/>
          <p:cNvSpPr txBox="1"/>
          <p:nvPr/>
        </p:nvSpPr>
        <p:spPr>
          <a:xfrm>
            <a:off x="2740442" y="3989099"/>
            <a:ext cx="1637100" cy="906300"/>
          </a:xfrm>
          <a:prstGeom prst="rect">
            <a:avLst/>
          </a:prstGeom>
          <a:noFill/>
          <a:ln>
            <a:noFill/>
          </a:ln>
        </p:spPr>
        <p:txBody>
          <a:bodyPr spcFirstLastPara="1" wrap="square" lIns="60475" tIns="30225" rIns="60475" bIns="30225" anchor="t" anchorCtr="0">
            <a:normAutofit/>
          </a:bodyPr>
          <a:lstStyle/>
          <a:p>
            <a:pPr marL="0" marR="0" lvl="0" indent="0" algn="l" rtl="0">
              <a:lnSpc>
                <a:spcPct val="100000"/>
              </a:lnSpc>
              <a:spcBef>
                <a:spcPts val="0"/>
              </a:spcBef>
              <a:spcAft>
                <a:spcPts val="0"/>
              </a:spcAft>
              <a:buClr>
                <a:srgbClr val="93A299"/>
              </a:buClr>
              <a:buSzPts val="1124"/>
              <a:buFont typeface="Arial"/>
              <a:buNone/>
            </a:pPr>
            <a:r>
              <a:rPr lang="pt-BR" sz="1323" b="0" i="0" u="none" strike="noStrike" cap="none">
                <a:solidFill>
                  <a:srgbClr val="292934"/>
                </a:solidFill>
                <a:latin typeface="EB Garamond"/>
                <a:ea typeface="EB Garamond"/>
                <a:cs typeface="EB Garamond"/>
                <a:sym typeface="EB Garamond"/>
              </a:rPr>
              <a:t>Molecular Cartography</a:t>
            </a:r>
            <a:endParaRPr sz="926" b="0" i="0" u="none" strike="noStrike" cap="none">
              <a:solidFill>
                <a:srgbClr val="000000"/>
              </a:solidFill>
              <a:latin typeface="Arial"/>
              <a:ea typeface="Arial"/>
              <a:cs typeface="Arial"/>
              <a:sym typeface="Arial"/>
            </a:endParaRPr>
          </a:p>
          <a:p>
            <a:pPr marL="0" marR="0" lvl="0" indent="0" algn="l" rtl="0">
              <a:lnSpc>
                <a:spcPct val="100000"/>
              </a:lnSpc>
              <a:spcBef>
                <a:spcPts val="265"/>
              </a:spcBef>
              <a:spcAft>
                <a:spcPts val="0"/>
              </a:spcAft>
              <a:buClr>
                <a:srgbClr val="93A299"/>
              </a:buClr>
              <a:buSzPts val="1124"/>
              <a:buFont typeface="Arial"/>
              <a:buNone/>
            </a:pPr>
            <a:r>
              <a:rPr lang="pt-BR" sz="1323" b="0" i="0" u="none" strike="noStrike" cap="none">
                <a:solidFill>
                  <a:srgbClr val="292934"/>
                </a:solidFill>
                <a:latin typeface="EB Garamond"/>
                <a:ea typeface="EB Garamond"/>
                <a:cs typeface="EB Garamond"/>
                <a:sym typeface="EB Garamond"/>
              </a:rPr>
              <a:t>MERSCOPE</a:t>
            </a:r>
            <a:endParaRPr sz="926" b="0" i="0" u="none" strike="noStrike" cap="none">
              <a:solidFill>
                <a:srgbClr val="000000"/>
              </a:solidFill>
              <a:latin typeface="Arial"/>
              <a:ea typeface="Arial"/>
              <a:cs typeface="Arial"/>
              <a:sym typeface="Arial"/>
            </a:endParaRPr>
          </a:p>
        </p:txBody>
      </p:sp>
      <p:sp>
        <p:nvSpPr>
          <p:cNvPr id="460" name="Google Shape;460;p31"/>
          <p:cNvSpPr/>
          <p:nvPr/>
        </p:nvSpPr>
        <p:spPr>
          <a:xfrm>
            <a:off x="638975" y="1340156"/>
            <a:ext cx="7964100" cy="3431400"/>
          </a:xfrm>
          <a:prstGeom prst="rect">
            <a:avLst/>
          </a:prstGeom>
          <a:solidFill>
            <a:srgbClr val="FFFFFF">
              <a:alpha val="85882"/>
            </a:srgbClr>
          </a:solidFill>
          <a:ln>
            <a:noFill/>
          </a:ln>
        </p:spPr>
        <p:txBody>
          <a:bodyPr spcFirstLastPara="1" wrap="square" lIns="60475" tIns="30225" rIns="60475" bIns="30225" anchor="ctr" anchorCtr="0">
            <a:noAutofit/>
          </a:bodyPr>
          <a:lstStyle/>
          <a:p>
            <a:pPr marL="0" marR="0" lvl="0" indent="0" algn="ctr" rtl="0">
              <a:lnSpc>
                <a:spcPct val="100000"/>
              </a:lnSpc>
              <a:spcBef>
                <a:spcPts val="0"/>
              </a:spcBef>
              <a:spcAft>
                <a:spcPts val="0"/>
              </a:spcAft>
              <a:buClr>
                <a:srgbClr val="000000"/>
              </a:buClr>
              <a:buSzPts val="1190"/>
              <a:buFont typeface="Arial"/>
              <a:buNone/>
            </a:pPr>
            <a:endParaRPr sz="1190" b="0" i="0" u="none" strike="noStrike" cap="none">
              <a:solidFill>
                <a:srgbClr val="FFFFFF"/>
              </a:solidFill>
              <a:latin typeface="Arial"/>
              <a:ea typeface="Arial"/>
              <a:cs typeface="Arial"/>
              <a:sym typeface="Arial"/>
            </a:endParaRPr>
          </a:p>
        </p:txBody>
      </p:sp>
      <p:grpSp>
        <p:nvGrpSpPr>
          <p:cNvPr id="461" name="Google Shape;461;p31"/>
          <p:cNvGrpSpPr/>
          <p:nvPr/>
        </p:nvGrpSpPr>
        <p:grpSpPr>
          <a:xfrm>
            <a:off x="2533519" y="2225088"/>
            <a:ext cx="3958004" cy="253475"/>
            <a:chOff x="3139319" y="3262704"/>
            <a:chExt cx="5773893" cy="382200"/>
          </a:xfrm>
        </p:grpSpPr>
        <p:sp>
          <p:nvSpPr>
            <p:cNvPr id="462" name="Google Shape;462;p31"/>
            <p:cNvSpPr/>
            <p:nvPr/>
          </p:nvSpPr>
          <p:spPr>
            <a:xfrm>
              <a:off x="3139319" y="3262704"/>
              <a:ext cx="5282400" cy="382200"/>
            </a:xfrm>
            <a:prstGeom prst="rtTriangle">
              <a:avLst/>
            </a:prstGeom>
            <a:solidFill>
              <a:srgbClr val="D2533C">
                <a:alpha val="80000"/>
              </a:srgbClr>
            </a:solidFill>
            <a:ln>
              <a:noFill/>
            </a:ln>
          </p:spPr>
          <p:txBody>
            <a:bodyPr spcFirstLastPara="1" wrap="square" lIns="60475" tIns="30225" rIns="60475" bIns="30225" anchor="ctr" anchorCtr="0">
              <a:noAutofit/>
            </a:bodyPr>
            <a:lstStyle/>
            <a:p>
              <a:pPr marL="0" marR="0" lvl="0" indent="0" algn="ctr" rtl="0">
                <a:lnSpc>
                  <a:spcPct val="100000"/>
                </a:lnSpc>
                <a:spcBef>
                  <a:spcPts val="0"/>
                </a:spcBef>
                <a:spcAft>
                  <a:spcPts val="0"/>
                </a:spcAft>
                <a:buClr>
                  <a:srgbClr val="000000"/>
                </a:buClr>
                <a:buSzPts val="1190"/>
                <a:buFont typeface="Arial"/>
                <a:buNone/>
              </a:pPr>
              <a:endParaRPr sz="1190" b="0" i="0" u="none" strike="noStrike" cap="none">
                <a:solidFill>
                  <a:srgbClr val="FFFFFF"/>
                </a:solidFill>
                <a:latin typeface="Arial"/>
                <a:ea typeface="Arial"/>
                <a:cs typeface="Arial"/>
                <a:sym typeface="Arial"/>
              </a:endParaRPr>
            </a:p>
          </p:txBody>
        </p:sp>
        <p:sp>
          <p:nvSpPr>
            <p:cNvPr id="463" name="Google Shape;463;p31"/>
            <p:cNvSpPr/>
            <p:nvPr/>
          </p:nvSpPr>
          <p:spPr>
            <a:xfrm flipH="1">
              <a:off x="3630812" y="3262704"/>
              <a:ext cx="5282400" cy="382200"/>
            </a:xfrm>
            <a:prstGeom prst="rtTriangle">
              <a:avLst/>
            </a:prstGeom>
            <a:solidFill>
              <a:srgbClr val="0070C0">
                <a:alpha val="80000"/>
              </a:srgbClr>
            </a:solidFill>
            <a:ln>
              <a:noFill/>
            </a:ln>
          </p:spPr>
          <p:txBody>
            <a:bodyPr spcFirstLastPara="1" wrap="square" lIns="60475" tIns="30225" rIns="60475" bIns="30225" anchor="ctr" anchorCtr="0">
              <a:noAutofit/>
            </a:bodyPr>
            <a:lstStyle/>
            <a:p>
              <a:pPr marL="0" marR="0" lvl="0" indent="0" algn="ctr" rtl="0">
                <a:lnSpc>
                  <a:spcPct val="100000"/>
                </a:lnSpc>
                <a:spcBef>
                  <a:spcPts val="0"/>
                </a:spcBef>
                <a:spcAft>
                  <a:spcPts val="0"/>
                </a:spcAft>
                <a:buClr>
                  <a:srgbClr val="000000"/>
                </a:buClr>
                <a:buSzPts val="1190"/>
                <a:buFont typeface="Arial"/>
                <a:buNone/>
              </a:pPr>
              <a:endParaRPr sz="1190" b="0" i="0" u="none" strike="noStrike" cap="none">
                <a:solidFill>
                  <a:srgbClr val="FFFFFF"/>
                </a:solidFill>
                <a:latin typeface="Arial"/>
                <a:ea typeface="Arial"/>
                <a:cs typeface="Arial"/>
                <a:sym typeface="Arial"/>
              </a:endParaRPr>
            </a:p>
          </p:txBody>
        </p:sp>
      </p:grpSp>
      <p:sp>
        <p:nvSpPr>
          <p:cNvPr id="464" name="Google Shape;464;p31"/>
          <p:cNvSpPr txBox="1"/>
          <p:nvPr/>
        </p:nvSpPr>
        <p:spPr>
          <a:xfrm>
            <a:off x="1260017" y="2124636"/>
            <a:ext cx="1273500" cy="454500"/>
          </a:xfrm>
          <a:prstGeom prst="rect">
            <a:avLst/>
          </a:prstGeom>
          <a:noFill/>
          <a:ln>
            <a:noFill/>
          </a:ln>
        </p:spPr>
        <p:txBody>
          <a:bodyPr spcFirstLastPara="1" wrap="square" lIns="60475" tIns="30225" rIns="60475" bIns="30225" anchor="t" anchorCtr="0">
            <a:normAutofit/>
          </a:bodyPr>
          <a:lstStyle/>
          <a:p>
            <a:pPr marL="0" marR="0" lvl="0" indent="0" algn="ctr" rtl="0">
              <a:lnSpc>
                <a:spcPct val="100000"/>
              </a:lnSpc>
              <a:spcBef>
                <a:spcPts val="0"/>
              </a:spcBef>
              <a:spcAft>
                <a:spcPts val="0"/>
              </a:spcAft>
              <a:buClr>
                <a:srgbClr val="93A299"/>
              </a:buClr>
              <a:buSzPts val="1574"/>
              <a:buFont typeface="Arial"/>
              <a:buNone/>
            </a:pPr>
            <a:r>
              <a:rPr lang="pt-BR" sz="1852" b="1" i="0" u="none" strike="noStrike" cap="none">
                <a:solidFill>
                  <a:srgbClr val="292934"/>
                </a:solidFill>
                <a:latin typeface="EB Garamond"/>
                <a:ea typeface="EB Garamond"/>
                <a:cs typeface="EB Garamond"/>
                <a:sym typeface="EB Garamond"/>
              </a:rPr>
              <a:t>Resolução</a:t>
            </a:r>
            <a:endParaRPr sz="1852" b="1" i="0" u="none" strike="noStrike" cap="none">
              <a:solidFill>
                <a:srgbClr val="292934"/>
              </a:solidFill>
              <a:latin typeface="EB Garamond"/>
              <a:ea typeface="EB Garamond"/>
              <a:cs typeface="EB Garamond"/>
              <a:sym typeface="EB Garamond"/>
            </a:endParaRPr>
          </a:p>
        </p:txBody>
      </p:sp>
      <p:sp>
        <p:nvSpPr>
          <p:cNvPr id="465" name="Google Shape;465;p31"/>
          <p:cNvSpPr txBox="1"/>
          <p:nvPr/>
        </p:nvSpPr>
        <p:spPr>
          <a:xfrm>
            <a:off x="6376595" y="2124636"/>
            <a:ext cx="1663500" cy="454500"/>
          </a:xfrm>
          <a:prstGeom prst="rect">
            <a:avLst/>
          </a:prstGeom>
          <a:noFill/>
          <a:ln>
            <a:noFill/>
          </a:ln>
        </p:spPr>
        <p:txBody>
          <a:bodyPr spcFirstLastPara="1" wrap="square" lIns="60475" tIns="30225" rIns="60475" bIns="30225" anchor="t" anchorCtr="0">
            <a:normAutofit/>
          </a:bodyPr>
          <a:lstStyle/>
          <a:p>
            <a:pPr marL="0" marR="0" lvl="0" indent="0" algn="ctr" rtl="0">
              <a:lnSpc>
                <a:spcPct val="100000"/>
              </a:lnSpc>
              <a:spcBef>
                <a:spcPts val="0"/>
              </a:spcBef>
              <a:spcAft>
                <a:spcPts val="0"/>
              </a:spcAft>
              <a:buClr>
                <a:srgbClr val="93A299"/>
              </a:buClr>
              <a:buSzPts val="1574"/>
              <a:buFont typeface="Arial"/>
              <a:buNone/>
            </a:pPr>
            <a:r>
              <a:rPr lang="pt-BR" sz="1852" b="1" i="0" u="none" strike="noStrike" cap="none">
                <a:solidFill>
                  <a:srgbClr val="292934"/>
                </a:solidFill>
                <a:latin typeface="EB Garamond"/>
                <a:ea typeface="EB Garamond"/>
                <a:cs typeface="EB Garamond"/>
                <a:sym typeface="EB Garamond"/>
              </a:rPr>
              <a:t>Desempenho</a:t>
            </a:r>
            <a:endParaRPr sz="1852" b="1" i="0" u="none" strike="noStrike" cap="none">
              <a:solidFill>
                <a:srgbClr val="292934"/>
              </a:solidFill>
              <a:latin typeface="EB Garamond"/>
              <a:ea typeface="EB Garamond"/>
              <a:cs typeface="EB Garamond"/>
              <a:sym typeface="EB Garamond"/>
            </a:endParaRPr>
          </a:p>
        </p:txBody>
      </p:sp>
      <p:pic>
        <p:nvPicPr>
          <p:cNvPr id="466" name="Google Shape;466;p31"/>
          <p:cNvPicPr preferRelativeResize="0"/>
          <p:nvPr/>
        </p:nvPicPr>
        <p:blipFill rotWithShape="1">
          <a:blip r:embed="rId4">
            <a:alphaModFix/>
          </a:blip>
          <a:srcRect/>
          <a:stretch/>
        </p:blipFill>
        <p:spPr>
          <a:xfrm>
            <a:off x="1091563" y="2458762"/>
            <a:ext cx="6960873" cy="1795338"/>
          </a:xfrm>
          <a:prstGeom prst="rect">
            <a:avLst/>
          </a:prstGeom>
          <a:noFill/>
          <a:ln>
            <a:noFill/>
          </a:ln>
        </p:spPr>
      </p:pic>
      <p:sp>
        <p:nvSpPr>
          <p:cNvPr id="467" name="Google Shape;467;p31"/>
          <p:cNvSpPr txBox="1"/>
          <p:nvPr/>
        </p:nvSpPr>
        <p:spPr>
          <a:xfrm>
            <a:off x="5868025" y="4254089"/>
            <a:ext cx="2182500" cy="253500"/>
          </a:xfrm>
          <a:prstGeom prst="rect">
            <a:avLst/>
          </a:prstGeom>
          <a:noFill/>
          <a:ln>
            <a:noFill/>
          </a:ln>
        </p:spPr>
        <p:txBody>
          <a:bodyPr spcFirstLastPara="1" wrap="square" lIns="60475" tIns="30225" rIns="60475" bIns="30225" anchor="t" anchorCtr="0">
            <a:normAutofit/>
          </a:bodyPr>
          <a:lstStyle/>
          <a:p>
            <a:pPr marL="0" marR="0" lvl="0" indent="0" algn="l" rtl="0">
              <a:lnSpc>
                <a:spcPct val="100000"/>
              </a:lnSpc>
              <a:spcBef>
                <a:spcPts val="0"/>
              </a:spcBef>
              <a:spcAft>
                <a:spcPts val="0"/>
              </a:spcAft>
              <a:buClr>
                <a:srgbClr val="93A299"/>
              </a:buClr>
              <a:buSzPts val="899"/>
              <a:buFont typeface="Arial"/>
              <a:buNone/>
            </a:pPr>
            <a:r>
              <a:rPr lang="pt-BR" sz="1058" b="0" i="0" u="none" strike="noStrike" cap="none">
                <a:solidFill>
                  <a:srgbClr val="292934"/>
                </a:solidFill>
                <a:latin typeface="Proxima Nova"/>
                <a:ea typeface="Proxima Nova"/>
                <a:cs typeface="Proxima Nova"/>
                <a:sym typeface="Proxima Nova"/>
              </a:rPr>
              <a:t>(Wang, Y. </a:t>
            </a:r>
            <a:r>
              <a:rPr lang="pt-BR" sz="1058" b="0" i="1" u="none" strike="noStrike" cap="none">
                <a:solidFill>
                  <a:srgbClr val="292934"/>
                </a:solidFill>
                <a:latin typeface="Proxima Nova"/>
                <a:ea typeface="Proxima Nova"/>
                <a:cs typeface="Proxima Nova"/>
                <a:sym typeface="Proxima Nova"/>
              </a:rPr>
              <a:t>et al., </a:t>
            </a:r>
            <a:r>
              <a:rPr lang="pt-BR" sz="1058" b="0" i="0" u="none" strike="noStrike" cap="none">
                <a:solidFill>
                  <a:srgbClr val="292934"/>
                </a:solidFill>
                <a:latin typeface="Proxima Nova"/>
                <a:ea typeface="Proxima Nova"/>
                <a:cs typeface="Proxima Nova"/>
                <a:sym typeface="Proxima Nova"/>
              </a:rPr>
              <a:t>Genomics 2023)</a:t>
            </a:r>
            <a:endParaRPr sz="926" b="0" i="0" u="none" strike="noStrike" cap="none">
              <a:solidFill>
                <a:srgbClr val="000000"/>
              </a:solidFill>
              <a:latin typeface="Proxima Nova"/>
              <a:ea typeface="Proxima Nova"/>
              <a:cs typeface="Proxima Nova"/>
              <a:sym typeface="Proxima Nov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5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5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6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6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6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6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6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p34"/>
          <p:cNvSpPr txBox="1">
            <a:spLocks noGrp="1"/>
          </p:cNvSpPr>
          <p:nvPr>
            <p:ph type="title"/>
          </p:nvPr>
        </p:nvSpPr>
        <p:spPr>
          <a:xfrm>
            <a:off x="311700" y="445025"/>
            <a:ext cx="5615400" cy="707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sz="1800" b="1"/>
              <a:t>RNA-seq espacial</a:t>
            </a:r>
            <a:endParaRPr sz="1800" b="1"/>
          </a:p>
          <a:p>
            <a:pPr marL="0" lvl="0" indent="0" algn="l" rtl="0">
              <a:lnSpc>
                <a:spcPct val="100000"/>
              </a:lnSpc>
              <a:spcBef>
                <a:spcPts val="0"/>
              </a:spcBef>
              <a:spcAft>
                <a:spcPts val="0"/>
              </a:spcAft>
              <a:buSzPts val="2800"/>
              <a:buNone/>
            </a:pPr>
            <a:r>
              <a:rPr lang="pt-BR" sz="1800"/>
              <a:t>Princípios - Tecnologia Visium</a:t>
            </a:r>
            <a:endParaRPr sz="1800"/>
          </a:p>
        </p:txBody>
      </p:sp>
      <p:sp>
        <p:nvSpPr>
          <p:cNvPr id="512" name="Google Shape;512;p34"/>
          <p:cNvSpPr txBox="1">
            <a:spLocks noGrp="1"/>
          </p:cNvSpPr>
          <p:nvPr>
            <p:ph type="body" idx="1"/>
          </p:nvPr>
        </p:nvSpPr>
        <p:spPr>
          <a:xfrm>
            <a:off x="733200" y="1324600"/>
            <a:ext cx="3431100" cy="339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pt-BR" sz="1500">
                <a:solidFill>
                  <a:schemeClr val="dk1"/>
                </a:solidFill>
              </a:rPr>
              <a:t>Visium Spatial Gene Expression</a:t>
            </a:r>
            <a:endParaRPr sz="1500">
              <a:solidFill>
                <a:schemeClr val="dk1"/>
              </a:solidFill>
            </a:endParaRPr>
          </a:p>
          <a:p>
            <a:pPr marL="914400" lvl="0" indent="0" algn="l" rtl="0">
              <a:lnSpc>
                <a:spcPct val="115000"/>
              </a:lnSpc>
              <a:spcBef>
                <a:spcPts val="1600"/>
              </a:spcBef>
              <a:spcAft>
                <a:spcPts val="1600"/>
              </a:spcAft>
              <a:buSzPts val="1800"/>
              <a:buNone/>
            </a:pPr>
            <a:endParaRPr sz="1500">
              <a:solidFill>
                <a:schemeClr val="dk1"/>
              </a:solidFill>
            </a:endParaRPr>
          </a:p>
        </p:txBody>
      </p:sp>
      <p:pic>
        <p:nvPicPr>
          <p:cNvPr id="513" name="Google Shape;513;p34"/>
          <p:cNvPicPr preferRelativeResize="0"/>
          <p:nvPr/>
        </p:nvPicPr>
        <p:blipFill rotWithShape="1">
          <a:blip r:embed="rId3">
            <a:alphaModFix/>
          </a:blip>
          <a:srcRect/>
          <a:stretch/>
        </p:blipFill>
        <p:spPr>
          <a:xfrm>
            <a:off x="729188" y="1793150"/>
            <a:ext cx="7685624" cy="2927150"/>
          </a:xfrm>
          <a:prstGeom prst="rect">
            <a:avLst/>
          </a:prstGeom>
          <a:noFill/>
          <a:ln>
            <a:noFill/>
          </a:ln>
        </p:spPr>
      </p:pic>
      <p:sp>
        <p:nvSpPr>
          <p:cNvPr id="514" name="Google Shape;514;p34"/>
          <p:cNvSpPr txBox="1"/>
          <p:nvPr/>
        </p:nvSpPr>
        <p:spPr>
          <a:xfrm>
            <a:off x="6531425" y="4303825"/>
            <a:ext cx="2412300" cy="483300"/>
          </a:xfrm>
          <a:prstGeom prst="rect">
            <a:avLst/>
          </a:prstGeom>
          <a:noFill/>
          <a:ln>
            <a:noFill/>
          </a:ln>
        </p:spPr>
        <p:txBody>
          <a:bodyPr spcFirstLastPara="1" wrap="square" lIns="68275" tIns="34125" rIns="68275" bIns="34125" anchor="t" anchorCtr="0">
            <a:spAutoFit/>
          </a:bodyPr>
          <a:lstStyle/>
          <a:p>
            <a:pPr marL="0" marR="0" lvl="0" indent="0" algn="ctr" rtl="0">
              <a:lnSpc>
                <a:spcPct val="100000"/>
              </a:lnSpc>
              <a:spcBef>
                <a:spcPts val="0"/>
              </a:spcBef>
              <a:spcAft>
                <a:spcPts val="0"/>
              </a:spcAft>
              <a:buClr>
                <a:srgbClr val="000000"/>
              </a:buClr>
              <a:buSzPts val="2493"/>
              <a:buFont typeface="Arial"/>
              <a:buNone/>
            </a:pPr>
            <a:r>
              <a:rPr lang="pt-BR" sz="2493" b="1" i="0" u="none" strike="noStrike" cap="none">
                <a:solidFill>
                  <a:srgbClr val="292934"/>
                </a:solidFill>
                <a:highlight>
                  <a:srgbClr val="D2533C"/>
                </a:highlight>
                <a:latin typeface="Proxima Nova"/>
                <a:ea typeface="Proxima Nova"/>
                <a:cs typeface="Proxima Nova"/>
                <a:sym typeface="Proxima Nova"/>
              </a:rPr>
              <a:t>Visium v1 &amp;</a:t>
            </a:r>
            <a:r>
              <a:rPr lang="pt-BR" sz="2693" b="1" i="0" u="none" strike="noStrike" cap="none">
                <a:solidFill>
                  <a:srgbClr val="292934"/>
                </a:solidFill>
                <a:highlight>
                  <a:srgbClr val="D2533C"/>
                </a:highlight>
                <a:latin typeface="Proxima Nova"/>
                <a:ea typeface="Proxima Nova"/>
                <a:cs typeface="Proxima Nova"/>
                <a:sym typeface="Proxima Nova"/>
              </a:rPr>
              <a:t> </a:t>
            </a:r>
            <a:r>
              <a:rPr lang="pt-BR" sz="2493" b="1" i="0" u="none" strike="noStrike" cap="none">
                <a:solidFill>
                  <a:srgbClr val="292934"/>
                </a:solidFill>
                <a:highlight>
                  <a:srgbClr val="D2533C"/>
                </a:highlight>
                <a:latin typeface="Proxima Nova"/>
                <a:ea typeface="Proxima Nova"/>
                <a:cs typeface="Proxima Nova"/>
                <a:sym typeface="Proxima Nova"/>
              </a:rPr>
              <a:t>v2</a:t>
            </a:r>
            <a:endParaRPr sz="2493" b="1" i="0" u="none" strike="noStrike" cap="none">
              <a:solidFill>
                <a:srgbClr val="292934"/>
              </a:solidFill>
              <a:highlight>
                <a:srgbClr val="D2533C"/>
              </a:highlight>
              <a:latin typeface="Proxima Nova"/>
              <a:ea typeface="Proxima Nova"/>
              <a:cs typeface="Proxima Nova"/>
              <a:sym typeface="Proxima Nov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35"/>
          <p:cNvSpPr txBox="1">
            <a:spLocks noGrp="1"/>
          </p:cNvSpPr>
          <p:nvPr>
            <p:ph type="title"/>
          </p:nvPr>
        </p:nvSpPr>
        <p:spPr>
          <a:xfrm>
            <a:off x="311700" y="445025"/>
            <a:ext cx="5615400" cy="707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sz="1800" b="1"/>
              <a:t>RNA-seq espacial</a:t>
            </a:r>
            <a:endParaRPr sz="1800" b="1"/>
          </a:p>
          <a:p>
            <a:pPr marL="0" lvl="0" indent="0" algn="l" rtl="0">
              <a:lnSpc>
                <a:spcPct val="100000"/>
              </a:lnSpc>
              <a:spcBef>
                <a:spcPts val="0"/>
              </a:spcBef>
              <a:spcAft>
                <a:spcPts val="0"/>
              </a:spcAft>
              <a:buSzPts val="2800"/>
              <a:buNone/>
            </a:pPr>
            <a:r>
              <a:rPr lang="pt-BR" sz="1800"/>
              <a:t>Princípios - Tecnologia Visium</a:t>
            </a:r>
            <a:endParaRPr sz="1800"/>
          </a:p>
        </p:txBody>
      </p:sp>
      <p:sp>
        <p:nvSpPr>
          <p:cNvPr id="520" name="Google Shape;520;p35"/>
          <p:cNvSpPr txBox="1"/>
          <p:nvPr/>
        </p:nvSpPr>
        <p:spPr>
          <a:xfrm>
            <a:off x="1306275" y="1596000"/>
            <a:ext cx="1524000" cy="376800"/>
          </a:xfrm>
          <a:prstGeom prst="rect">
            <a:avLst/>
          </a:prstGeom>
          <a:noFill/>
          <a:ln>
            <a:noFill/>
          </a:ln>
        </p:spPr>
        <p:txBody>
          <a:bodyPr spcFirstLastPara="1" wrap="square" lIns="68275" tIns="34125" rIns="68275" bIns="34125" anchor="t" anchorCtr="0">
            <a:spAutoFit/>
          </a:bodyPr>
          <a:lstStyle/>
          <a:p>
            <a:pPr marL="0" marR="0" lvl="0" indent="0" algn="r" rtl="0">
              <a:lnSpc>
                <a:spcPct val="100000"/>
              </a:lnSpc>
              <a:spcBef>
                <a:spcPts val="0"/>
              </a:spcBef>
              <a:spcAft>
                <a:spcPts val="0"/>
              </a:spcAft>
              <a:buClr>
                <a:srgbClr val="000000"/>
              </a:buClr>
              <a:buSzPts val="2000"/>
              <a:buFont typeface="Arial"/>
              <a:buNone/>
            </a:pPr>
            <a:r>
              <a:rPr lang="pt-BR" sz="2000" b="1" i="0" u="none" strike="noStrike" cap="none">
                <a:solidFill>
                  <a:srgbClr val="292934"/>
                </a:solidFill>
                <a:latin typeface="Proxima Nova"/>
                <a:ea typeface="Proxima Nova"/>
                <a:cs typeface="Proxima Nova"/>
                <a:sym typeface="Proxima Nova"/>
              </a:rPr>
              <a:t>Visium: </a:t>
            </a:r>
            <a:endParaRPr sz="2000" b="1" i="0" u="none" strike="noStrike" cap="none">
              <a:solidFill>
                <a:srgbClr val="292934"/>
              </a:solidFill>
              <a:latin typeface="Proxima Nova"/>
              <a:ea typeface="Proxima Nova"/>
              <a:cs typeface="Proxima Nova"/>
              <a:sym typeface="Proxima Nova"/>
            </a:endParaRPr>
          </a:p>
        </p:txBody>
      </p:sp>
      <p:sp>
        <p:nvSpPr>
          <p:cNvPr id="521" name="Google Shape;521;p35"/>
          <p:cNvSpPr txBox="1"/>
          <p:nvPr/>
        </p:nvSpPr>
        <p:spPr>
          <a:xfrm>
            <a:off x="3615420" y="1596000"/>
            <a:ext cx="1524000" cy="376800"/>
          </a:xfrm>
          <a:prstGeom prst="rect">
            <a:avLst/>
          </a:prstGeom>
          <a:noFill/>
          <a:ln>
            <a:noFill/>
          </a:ln>
        </p:spPr>
        <p:txBody>
          <a:bodyPr spcFirstLastPara="1" wrap="square" lIns="68275" tIns="34125" rIns="68275" bIns="341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pt-BR" sz="2000" b="1" i="0" u="none" strike="noStrike" cap="none">
                <a:solidFill>
                  <a:srgbClr val="292934"/>
                </a:solidFill>
                <a:latin typeface="Proxima Nova"/>
                <a:ea typeface="Proxima Nova"/>
                <a:cs typeface="Proxima Nova"/>
                <a:sym typeface="Proxima Nova"/>
              </a:rPr>
              <a:t>v1 &amp;v2 </a:t>
            </a:r>
            <a:endParaRPr sz="2000" b="1" i="0" u="none" strike="noStrike" cap="none">
              <a:solidFill>
                <a:srgbClr val="292934"/>
              </a:solidFill>
              <a:latin typeface="Proxima Nova"/>
              <a:ea typeface="Proxima Nova"/>
              <a:cs typeface="Proxima Nova"/>
              <a:sym typeface="Proxima Nova"/>
            </a:endParaRPr>
          </a:p>
        </p:txBody>
      </p:sp>
      <p:sp>
        <p:nvSpPr>
          <p:cNvPr id="522" name="Google Shape;522;p35"/>
          <p:cNvSpPr txBox="1"/>
          <p:nvPr/>
        </p:nvSpPr>
        <p:spPr>
          <a:xfrm>
            <a:off x="405675" y="2279075"/>
            <a:ext cx="2424600" cy="376800"/>
          </a:xfrm>
          <a:prstGeom prst="rect">
            <a:avLst/>
          </a:prstGeom>
          <a:noFill/>
          <a:ln>
            <a:noFill/>
          </a:ln>
        </p:spPr>
        <p:txBody>
          <a:bodyPr spcFirstLastPara="1" wrap="square" lIns="68275" tIns="34125" rIns="68275" bIns="34125" anchor="t" anchorCtr="0">
            <a:spAutoFit/>
          </a:bodyPr>
          <a:lstStyle/>
          <a:p>
            <a:pPr marL="0" marR="0" lvl="0" indent="0" algn="r" rtl="0">
              <a:lnSpc>
                <a:spcPct val="100000"/>
              </a:lnSpc>
              <a:spcBef>
                <a:spcPts val="0"/>
              </a:spcBef>
              <a:spcAft>
                <a:spcPts val="0"/>
              </a:spcAft>
              <a:buClr>
                <a:srgbClr val="000000"/>
              </a:buClr>
              <a:buSzPts val="2000"/>
              <a:buFont typeface="Arial"/>
              <a:buNone/>
            </a:pPr>
            <a:r>
              <a:rPr lang="pt-BR" sz="2000" b="1" i="0" u="none" strike="noStrike" cap="none">
                <a:solidFill>
                  <a:srgbClr val="292934"/>
                </a:solidFill>
                <a:latin typeface="Proxima Nova"/>
                <a:ea typeface="Proxima Nova"/>
                <a:cs typeface="Proxima Nova"/>
                <a:sym typeface="Proxima Nova"/>
              </a:rPr>
              <a:t>Diâmetro do Spot:</a:t>
            </a:r>
            <a:endParaRPr sz="2000" b="1" i="0" u="none" strike="noStrike" cap="none">
              <a:solidFill>
                <a:srgbClr val="292934"/>
              </a:solidFill>
              <a:latin typeface="Proxima Nova"/>
              <a:ea typeface="Proxima Nova"/>
              <a:cs typeface="Proxima Nova"/>
              <a:sym typeface="Proxima Nova"/>
            </a:endParaRPr>
          </a:p>
        </p:txBody>
      </p:sp>
      <p:sp>
        <p:nvSpPr>
          <p:cNvPr id="523" name="Google Shape;523;p35"/>
          <p:cNvSpPr txBox="1"/>
          <p:nvPr/>
        </p:nvSpPr>
        <p:spPr>
          <a:xfrm>
            <a:off x="5806173" y="1596000"/>
            <a:ext cx="1524000" cy="376800"/>
          </a:xfrm>
          <a:prstGeom prst="rect">
            <a:avLst/>
          </a:prstGeom>
          <a:noFill/>
          <a:ln>
            <a:noFill/>
          </a:ln>
        </p:spPr>
        <p:txBody>
          <a:bodyPr spcFirstLastPara="1" wrap="square" lIns="68275" tIns="34125" rIns="68275" bIns="341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pt-BR" sz="2000" b="1" i="0" u="none" strike="noStrike" cap="none">
                <a:solidFill>
                  <a:srgbClr val="292934"/>
                </a:solidFill>
                <a:latin typeface="Proxima Nova"/>
                <a:ea typeface="Proxima Nova"/>
                <a:cs typeface="Proxima Nova"/>
                <a:sym typeface="Proxima Nova"/>
              </a:rPr>
              <a:t>HD</a:t>
            </a:r>
            <a:endParaRPr sz="2000" b="1" i="0" u="none" strike="noStrike" cap="none">
              <a:solidFill>
                <a:srgbClr val="292934"/>
              </a:solidFill>
              <a:latin typeface="Proxima Nova"/>
              <a:ea typeface="Proxima Nova"/>
              <a:cs typeface="Proxima Nova"/>
              <a:sym typeface="Proxima Nova"/>
            </a:endParaRPr>
          </a:p>
        </p:txBody>
      </p:sp>
      <p:sp>
        <p:nvSpPr>
          <p:cNvPr id="524" name="Google Shape;524;p35"/>
          <p:cNvSpPr txBox="1"/>
          <p:nvPr/>
        </p:nvSpPr>
        <p:spPr>
          <a:xfrm>
            <a:off x="405675" y="3234300"/>
            <a:ext cx="2424600" cy="376800"/>
          </a:xfrm>
          <a:prstGeom prst="rect">
            <a:avLst/>
          </a:prstGeom>
          <a:noFill/>
          <a:ln>
            <a:noFill/>
          </a:ln>
        </p:spPr>
        <p:txBody>
          <a:bodyPr spcFirstLastPara="1" wrap="square" lIns="68275" tIns="34125" rIns="68275" bIns="34125" anchor="t" anchorCtr="0">
            <a:spAutoFit/>
          </a:bodyPr>
          <a:lstStyle/>
          <a:p>
            <a:pPr marL="0" marR="0" lvl="0" indent="0" algn="r" rtl="0">
              <a:lnSpc>
                <a:spcPct val="100000"/>
              </a:lnSpc>
              <a:spcBef>
                <a:spcPts val="0"/>
              </a:spcBef>
              <a:spcAft>
                <a:spcPts val="0"/>
              </a:spcAft>
              <a:buClr>
                <a:srgbClr val="000000"/>
              </a:buClr>
              <a:buSzPts val="2000"/>
              <a:buFont typeface="Arial"/>
              <a:buNone/>
            </a:pPr>
            <a:r>
              <a:rPr lang="pt-BR" sz="2000" b="1" i="0" u="none" strike="noStrike" cap="none">
                <a:solidFill>
                  <a:srgbClr val="292934"/>
                </a:solidFill>
                <a:latin typeface="Proxima Nova"/>
                <a:ea typeface="Proxima Nova"/>
                <a:cs typeface="Proxima Nova"/>
                <a:sym typeface="Proxima Nova"/>
              </a:rPr>
              <a:t>~Células por Spot:</a:t>
            </a:r>
            <a:endParaRPr sz="2000" b="1" i="0" u="none" strike="noStrike" cap="none">
              <a:solidFill>
                <a:srgbClr val="292934"/>
              </a:solidFill>
              <a:latin typeface="Proxima Nova"/>
              <a:ea typeface="Proxima Nova"/>
              <a:cs typeface="Proxima Nova"/>
              <a:sym typeface="Proxima Nova"/>
            </a:endParaRPr>
          </a:p>
        </p:txBody>
      </p:sp>
      <p:sp>
        <p:nvSpPr>
          <p:cNvPr id="525" name="Google Shape;525;p35"/>
          <p:cNvSpPr txBox="1"/>
          <p:nvPr/>
        </p:nvSpPr>
        <p:spPr>
          <a:xfrm>
            <a:off x="3615420" y="2279075"/>
            <a:ext cx="1524000" cy="376800"/>
          </a:xfrm>
          <a:prstGeom prst="rect">
            <a:avLst/>
          </a:prstGeom>
          <a:noFill/>
          <a:ln>
            <a:noFill/>
          </a:ln>
        </p:spPr>
        <p:txBody>
          <a:bodyPr spcFirstLastPara="1" wrap="square" lIns="68275" tIns="34125" rIns="68275" bIns="341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pt-BR" sz="2000" b="0" i="0" u="none" strike="noStrike" cap="none">
                <a:solidFill>
                  <a:srgbClr val="292934"/>
                </a:solidFill>
                <a:latin typeface="Proxima Nova"/>
                <a:ea typeface="Proxima Nova"/>
                <a:cs typeface="Proxima Nova"/>
                <a:sym typeface="Proxima Nova"/>
              </a:rPr>
              <a:t>55</a:t>
            </a:r>
            <a:r>
              <a:rPr lang="pt-BR" sz="2000" b="0" i="0" u="none" strike="noStrike" cap="none">
                <a:solidFill>
                  <a:schemeClr val="dk1"/>
                </a:solidFill>
                <a:highlight>
                  <a:srgbClr val="FFFFFF"/>
                </a:highlight>
                <a:latin typeface="Proxima Nova"/>
                <a:ea typeface="Proxima Nova"/>
                <a:cs typeface="Proxima Nova"/>
                <a:sym typeface="Proxima Nova"/>
              </a:rPr>
              <a:t>µ</a:t>
            </a:r>
            <a:r>
              <a:rPr lang="pt-BR" sz="2000" b="0" i="0" u="none" strike="noStrike" cap="none">
                <a:solidFill>
                  <a:srgbClr val="292934"/>
                </a:solidFill>
                <a:latin typeface="Proxima Nova"/>
                <a:ea typeface="Proxima Nova"/>
                <a:cs typeface="Proxima Nova"/>
                <a:sym typeface="Proxima Nova"/>
              </a:rPr>
              <a:t>m</a:t>
            </a:r>
            <a:endParaRPr sz="2000" b="0" i="0" u="none" strike="noStrike" cap="none">
              <a:solidFill>
                <a:srgbClr val="292934"/>
              </a:solidFill>
              <a:latin typeface="Proxima Nova"/>
              <a:ea typeface="Proxima Nova"/>
              <a:cs typeface="Proxima Nova"/>
              <a:sym typeface="Proxima Nova"/>
            </a:endParaRPr>
          </a:p>
        </p:txBody>
      </p:sp>
      <p:sp>
        <p:nvSpPr>
          <p:cNvPr id="526" name="Google Shape;526;p35"/>
          <p:cNvSpPr txBox="1"/>
          <p:nvPr/>
        </p:nvSpPr>
        <p:spPr>
          <a:xfrm>
            <a:off x="5806173" y="2279075"/>
            <a:ext cx="1524000" cy="376800"/>
          </a:xfrm>
          <a:prstGeom prst="rect">
            <a:avLst/>
          </a:prstGeom>
          <a:noFill/>
          <a:ln>
            <a:noFill/>
          </a:ln>
        </p:spPr>
        <p:txBody>
          <a:bodyPr spcFirstLastPara="1" wrap="square" lIns="68275" tIns="34125" rIns="68275" bIns="341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pt-BR" sz="2000" b="0" i="0" u="none" strike="noStrike" cap="none">
                <a:solidFill>
                  <a:srgbClr val="292934"/>
                </a:solidFill>
                <a:latin typeface="Proxima Nova"/>
                <a:ea typeface="Proxima Nova"/>
                <a:cs typeface="Proxima Nova"/>
                <a:sym typeface="Proxima Nova"/>
              </a:rPr>
              <a:t>2</a:t>
            </a:r>
            <a:r>
              <a:rPr lang="pt-BR" sz="2000" b="0" i="0" u="none" strike="noStrike" cap="none">
                <a:solidFill>
                  <a:schemeClr val="dk1"/>
                </a:solidFill>
                <a:highlight>
                  <a:srgbClr val="FFFFFF"/>
                </a:highlight>
                <a:latin typeface="Proxima Nova"/>
                <a:ea typeface="Proxima Nova"/>
                <a:cs typeface="Proxima Nova"/>
                <a:sym typeface="Proxima Nova"/>
              </a:rPr>
              <a:t>µ</a:t>
            </a:r>
            <a:r>
              <a:rPr lang="pt-BR" sz="2000" b="0" i="0" u="none" strike="noStrike" cap="none">
                <a:solidFill>
                  <a:srgbClr val="292934"/>
                </a:solidFill>
                <a:latin typeface="Proxima Nova"/>
                <a:ea typeface="Proxima Nova"/>
                <a:cs typeface="Proxima Nova"/>
                <a:sym typeface="Proxima Nova"/>
              </a:rPr>
              <a:t>m</a:t>
            </a:r>
            <a:endParaRPr sz="2000" b="0" i="0" u="none" strike="noStrike" cap="none">
              <a:solidFill>
                <a:srgbClr val="292934"/>
              </a:solidFill>
              <a:latin typeface="Proxima Nova"/>
              <a:ea typeface="Proxima Nova"/>
              <a:cs typeface="Proxima Nova"/>
              <a:sym typeface="Proxima Nova"/>
            </a:endParaRPr>
          </a:p>
        </p:txBody>
      </p:sp>
      <p:pic>
        <p:nvPicPr>
          <p:cNvPr id="527" name="Google Shape;527;p35"/>
          <p:cNvPicPr preferRelativeResize="0"/>
          <p:nvPr/>
        </p:nvPicPr>
        <p:blipFill rotWithShape="1">
          <a:blip r:embed="rId3">
            <a:alphaModFix/>
          </a:blip>
          <a:srcRect l="20528" r="19782"/>
          <a:stretch/>
        </p:blipFill>
        <p:spPr>
          <a:xfrm>
            <a:off x="3571880" y="3861857"/>
            <a:ext cx="754068" cy="707400"/>
          </a:xfrm>
          <a:prstGeom prst="rect">
            <a:avLst/>
          </a:prstGeom>
          <a:noFill/>
          <a:ln>
            <a:noFill/>
          </a:ln>
        </p:spPr>
      </p:pic>
      <p:sp>
        <p:nvSpPr>
          <p:cNvPr id="528" name="Google Shape;528;p35"/>
          <p:cNvSpPr txBox="1"/>
          <p:nvPr/>
        </p:nvSpPr>
        <p:spPr>
          <a:xfrm>
            <a:off x="3615420" y="3302332"/>
            <a:ext cx="1524000" cy="376800"/>
          </a:xfrm>
          <a:prstGeom prst="rect">
            <a:avLst/>
          </a:prstGeom>
          <a:noFill/>
          <a:ln>
            <a:noFill/>
          </a:ln>
        </p:spPr>
        <p:txBody>
          <a:bodyPr spcFirstLastPara="1" wrap="square" lIns="68275" tIns="34125" rIns="68275" bIns="341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pt-BR" sz="2000" b="0" i="0" u="none" strike="noStrike" cap="none">
                <a:solidFill>
                  <a:srgbClr val="292934"/>
                </a:solidFill>
                <a:latin typeface="Proxima Nova"/>
                <a:ea typeface="Proxima Nova"/>
                <a:cs typeface="Proxima Nova"/>
                <a:sym typeface="Proxima Nova"/>
              </a:rPr>
              <a:t>1 a 10</a:t>
            </a:r>
            <a:endParaRPr sz="2000" b="0" i="0" u="none" strike="noStrike" cap="none">
              <a:solidFill>
                <a:srgbClr val="292934"/>
              </a:solidFill>
              <a:latin typeface="Proxima Nova"/>
              <a:ea typeface="Proxima Nova"/>
              <a:cs typeface="Proxima Nova"/>
              <a:sym typeface="Proxima Nova"/>
            </a:endParaRPr>
          </a:p>
        </p:txBody>
      </p:sp>
      <p:sp>
        <p:nvSpPr>
          <p:cNvPr id="529" name="Google Shape;529;p35"/>
          <p:cNvSpPr txBox="1"/>
          <p:nvPr/>
        </p:nvSpPr>
        <p:spPr>
          <a:xfrm>
            <a:off x="5806173" y="3302332"/>
            <a:ext cx="1524000" cy="684600"/>
          </a:xfrm>
          <a:prstGeom prst="rect">
            <a:avLst/>
          </a:prstGeom>
          <a:noFill/>
          <a:ln>
            <a:noFill/>
          </a:ln>
        </p:spPr>
        <p:txBody>
          <a:bodyPr spcFirstLastPara="1" wrap="square" lIns="68275" tIns="34125" rIns="68275" bIns="341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pt-BR" sz="2000" b="0" i="0" u="none" strike="noStrike" cap="none">
                <a:solidFill>
                  <a:srgbClr val="292934"/>
                </a:solidFill>
                <a:latin typeface="Proxima Nova"/>
                <a:ea typeface="Proxima Nova"/>
                <a:cs typeface="Proxima Nova"/>
                <a:sym typeface="Proxima Nova"/>
              </a:rPr>
              <a:t>até 1 </a:t>
            </a:r>
            <a:endParaRPr sz="2000" b="0" i="0" u="none" strike="noStrike" cap="none">
              <a:solidFill>
                <a:srgbClr val="292934"/>
              </a:solidFill>
              <a:latin typeface="Proxima Nova"/>
              <a:ea typeface="Proxima Nova"/>
              <a:cs typeface="Proxima Nova"/>
              <a:sym typeface="Proxima Nova"/>
            </a:endParaRPr>
          </a:p>
          <a:p>
            <a:pPr marL="0" marR="0" lvl="0" indent="0" algn="ctr" rtl="0">
              <a:lnSpc>
                <a:spcPct val="100000"/>
              </a:lnSpc>
              <a:spcBef>
                <a:spcPts val="0"/>
              </a:spcBef>
              <a:spcAft>
                <a:spcPts val="0"/>
              </a:spcAft>
              <a:buClr>
                <a:srgbClr val="000000"/>
              </a:buClr>
              <a:buSzPts val="2000"/>
              <a:buFont typeface="Arial"/>
              <a:buNone/>
            </a:pPr>
            <a:r>
              <a:rPr lang="pt-BR" sz="2000" b="0" i="0" u="none" strike="noStrike" cap="none">
                <a:solidFill>
                  <a:srgbClr val="292934"/>
                </a:solidFill>
                <a:latin typeface="Proxima Nova"/>
                <a:ea typeface="Proxima Nova"/>
                <a:cs typeface="Proxima Nova"/>
                <a:sym typeface="Proxima Nova"/>
              </a:rPr>
              <a:t>(subcelular)</a:t>
            </a:r>
            <a:endParaRPr sz="2000" b="0" i="0" u="none" strike="noStrike" cap="none">
              <a:solidFill>
                <a:srgbClr val="292934"/>
              </a:solidFill>
              <a:latin typeface="Proxima Nova"/>
              <a:ea typeface="Proxima Nova"/>
              <a:cs typeface="Proxima Nova"/>
              <a:sym typeface="Proxima Nova"/>
            </a:endParaRPr>
          </a:p>
        </p:txBody>
      </p:sp>
      <p:pic>
        <p:nvPicPr>
          <p:cNvPr id="530" name="Google Shape;530;p35"/>
          <p:cNvPicPr preferRelativeResize="0"/>
          <p:nvPr/>
        </p:nvPicPr>
        <p:blipFill rotWithShape="1">
          <a:blip r:embed="rId3">
            <a:alphaModFix/>
          </a:blip>
          <a:srcRect l="20528" r="19782"/>
          <a:stretch/>
        </p:blipFill>
        <p:spPr>
          <a:xfrm>
            <a:off x="6191139" y="3919000"/>
            <a:ext cx="754068" cy="707400"/>
          </a:xfrm>
          <a:prstGeom prst="rect">
            <a:avLst/>
          </a:prstGeom>
          <a:noFill/>
          <a:ln>
            <a:noFill/>
          </a:ln>
        </p:spPr>
      </p:pic>
      <p:pic>
        <p:nvPicPr>
          <p:cNvPr id="531" name="Google Shape;531;p35"/>
          <p:cNvPicPr preferRelativeResize="0"/>
          <p:nvPr/>
        </p:nvPicPr>
        <p:blipFill rotWithShape="1">
          <a:blip r:embed="rId3">
            <a:alphaModFix/>
          </a:blip>
          <a:srcRect l="20528" r="19782"/>
          <a:stretch/>
        </p:blipFill>
        <p:spPr>
          <a:xfrm>
            <a:off x="3724280" y="4014257"/>
            <a:ext cx="754068" cy="707400"/>
          </a:xfrm>
          <a:prstGeom prst="rect">
            <a:avLst/>
          </a:prstGeom>
          <a:noFill/>
          <a:ln>
            <a:noFill/>
          </a:ln>
        </p:spPr>
      </p:pic>
      <p:pic>
        <p:nvPicPr>
          <p:cNvPr id="532" name="Google Shape;532;p35"/>
          <p:cNvPicPr preferRelativeResize="0"/>
          <p:nvPr/>
        </p:nvPicPr>
        <p:blipFill rotWithShape="1">
          <a:blip r:embed="rId3">
            <a:alphaModFix/>
          </a:blip>
          <a:srcRect l="20528" r="19782"/>
          <a:stretch/>
        </p:blipFill>
        <p:spPr>
          <a:xfrm>
            <a:off x="3876680" y="4166657"/>
            <a:ext cx="754068" cy="707400"/>
          </a:xfrm>
          <a:prstGeom prst="rect">
            <a:avLst/>
          </a:prstGeom>
          <a:noFill/>
          <a:ln>
            <a:noFill/>
          </a:ln>
        </p:spPr>
      </p:pic>
      <p:pic>
        <p:nvPicPr>
          <p:cNvPr id="533" name="Google Shape;533;p35"/>
          <p:cNvPicPr preferRelativeResize="0"/>
          <p:nvPr/>
        </p:nvPicPr>
        <p:blipFill rotWithShape="1">
          <a:blip r:embed="rId3">
            <a:alphaModFix/>
          </a:blip>
          <a:srcRect l="20528" r="19782"/>
          <a:stretch/>
        </p:blipFill>
        <p:spPr>
          <a:xfrm>
            <a:off x="4029080" y="4319057"/>
            <a:ext cx="754068" cy="707400"/>
          </a:xfrm>
          <a:prstGeom prst="rect">
            <a:avLst/>
          </a:prstGeom>
          <a:noFill/>
          <a:ln>
            <a:noFill/>
          </a:ln>
        </p:spPr>
      </p:pic>
      <p:pic>
        <p:nvPicPr>
          <p:cNvPr id="534" name="Google Shape;534;p35"/>
          <p:cNvPicPr preferRelativeResize="0"/>
          <p:nvPr/>
        </p:nvPicPr>
        <p:blipFill rotWithShape="1">
          <a:blip r:embed="rId3">
            <a:alphaModFix/>
          </a:blip>
          <a:srcRect l="20528" r="19782"/>
          <a:stretch/>
        </p:blipFill>
        <p:spPr>
          <a:xfrm>
            <a:off x="4241351" y="3742114"/>
            <a:ext cx="754068" cy="707400"/>
          </a:xfrm>
          <a:prstGeom prst="rect">
            <a:avLst/>
          </a:prstGeom>
          <a:noFill/>
          <a:ln>
            <a:noFill/>
          </a:ln>
        </p:spPr>
      </p:pic>
      <p:pic>
        <p:nvPicPr>
          <p:cNvPr id="535" name="Google Shape;535;p35"/>
          <p:cNvPicPr preferRelativeResize="0"/>
          <p:nvPr/>
        </p:nvPicPr>
        <p:blipFill rotWithShape="1">
          <a:blip r:embed="rId3">
            <a:alphaModFix/>
          </a:blip>
          <a:srcRect l="20528" r="19782"/>
          <a:stretch/>
        </p:blipFill>
        <p:spPr>
          <a:xfrm>
            <a:off x="4393751" y="3894514"/>
            <a:ext cx="754068" cy="707400"/>
          </a:xfrm>
          <a:prstGeom prst="rect">
            <a:avLst/>
          </a:prstGeom>
          <a:noFill/>
          <a:ln>
            <a:noFill/>
          </a:ln>
        </p:spPr>
      </p:pic>
      <p:pic>
        <p:nvPicPr>
          <p:cNvPr id="536" name="Google Shape;536;p35"/>
          <p:cNvPicPr preferRelativeResize="0"/>
          <p:nvPr/>
        </p:nvPicPr>
        <p:blipFill rotWithShape="1">
          <a:blip r:embed="rId3">
            <a:alphaModFix/>
          </a:blip>
          <a:srcRect l="20528" r="19782"/>
          <a:stretch/>
        </p:blipFill>
        <p:spPr>
          <a:xfrm>
            <a:off x="4546151" y="4046914"/>
            <a:ext cx="754068" cy="707400"/>
          </a:xfrm>
          <a:prstGeom prst="rect">
            <a:avLst/>
          </a:prstGeom>
          <a:noFill/>
          <a:ln>
            <a:noFill/>
          </a:ln>
        </p:spPr>
      </p:pic>
      <p:pic>
        <p:nvPicPr>
          <p:cNvPr id="537" name="Google Shape;537;p35"/>
          <p:cNvPicPr preferRelativeResize="0"/>
          <p:nvPr/>
        </p:nvPicPr>
        <p:blipFill rotWithShape="1">
          <a:blip r:embed="rId3">
            <a:alphaModFix/>
          </a:blip>
          <a:srcRect l="20528" r="19782"/>
          <a:stretch/>
        </p:blipFill>
        <p:spPr>
          <a:xfrm>
            <a:off x="4698551" y="4199314"/>
            <a:ext cx="754068" cy="7074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2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2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2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2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2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2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2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2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3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3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3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3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3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3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3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sp>
        <p:nvSpPr>
          <p:cNvPr id="542" name="Google Shape;542;g3fa37cb035d_0_0"/>
          <p:cNvSpPr txBox="1">
            <a:spLocks noGrp="1"/>
          </p:cNvSpPr>
          <p:nvPr>
            <p:ph type="title"/>
          </p:nvPr>
        </p:nvSpPr>
        <p:spPr>
          <a:xfrm>
            <a:off x="311700" y="445025"/>
            <a:ext cx="5615400" cy="707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sz="1800" b="1"/>
              <a:t>RNA-seq espacial</a:t>
            </a:r>
            <a:endParaRPr sz="1800" b="1"/>
          </a:p>
          <a:p>
            <a:pPr marL="0" lvl="0" indent="0" algn="l" rtl="0">
              <a:lnSpc>
                <a:spcPct val="100000"/>
              </a:lnSpc>
              <a:spcBef>
                <a:spcPts val="0"/>
              </a:spcBef>
              <a:spcAft>
                <a:spcPts val="0"/>
              </a:spcAft>
              <a:buSzPts val="2800"/>
              <a:buNone/>
            </a:pPr>
            <a:r>
              <a:rPr lang="pt-BR" sz="1800"/>
              <a:t>Princípios - Tecnologia Visium</a:t>
            </a:r>
            <a:endParaRPr sz="1800"/>
          </a:p>
        </p:txBody>
      </p:sp>
      <p:sp>
        <p:nvSpPr>
          <p:cNvPr id="543" name="Google Shape;543;g3fa37cb035d_0_0"/>
          <p:cNvSpPr txBox="1"/>
          <p:nvPr/>
        </p:nvSpPr>
        <p:spPr>
          <a:xfrm>
            <a:off x="311700" y="4390375"/>
            <a:ext cx="4433400" cy="345000"/>
          </a:xfrm>
          <a:prstGeom prst="rect">
            <a:avLst/>
          </a:prstGeom>
          <a:noFill/>
          <a:ln>
            <a:noFill/>
          </a:ln>
        </p:spPr>
        <p:txBody>
          <a:bodyPr spcFirstLastPara="1" wrap="square" lIns="68275" tIns="34125" rIns="68275" bIns="34125" anchor="t" anchorCtr="0">
            <a:spAutoFit/>
          </a:bodyPr>
          <a:lstStyle/>
          <a:p>
            <a:pPr marL="0" marR="0" lvl="0" indent="0" algn="r" rtl="0">
              <a:lnSpc>
                <a:spcPct val="100000"/>
              </a:lnSpc>
              <a:spcBef>
                <a:spcPts val="0"/>
              </a:spcBef>
              <a:spcAft>
                <a:spcPts val="0"/>
              </a:spcAft>
              <a:buClr>
                <a:srgbClr val="000000"/>
              </a:buClr>
              <a:buSzPts val="1793"/>
              <a:buFont typeface="Arial"/>
              <a:buNone/>
            </a:pPr>
            <a:r>
              <a:rPr lang="pt-BR" sz="1793" b="1" i="0" u="sng" strike="noStrike" cap="none">
                <a:solidFill>
                  <a:srgbClr val="3C78D8"/>
                </a:solidFill>
                <a:latin typeface="Proxima Nova"/>
                <a:ea typeface="Proxima Nova"/>
                <a:cs typeface="Proxima Nova"/>
                <a:sym typeface="Proxima Nova"/>
                <a:hlinkClick r:id="rId3">
                  <a:extLst>
                    <a:ext uri="{A12FA001-AC4F-418D-AE19-62706E023703}">
                      <ahyp:hlinkClr xmlns:ahyp="http://schemas.microsoft.com/office/drawing/2018/hyperlinkcolor" val="tx"/>
                    </a:ext>
                  </a:extLst>
                </a:hlinkClick>
              </a:rPr>
              <a:t>Visium HD paper</a:t>
            </a:r>
            <a:r>
              <a:rPr lang="pt-BR" sz="1793" b="1">
                <a:solidFill>
                  <a:schemeClr val="dk1"/>
                </a:solidFill>
                <a:latin typeface="Proxima Nova"/>
                <a:ea typeface="Proxima Nova"/>
                <a:cs typeface="Proxima Nova"/>
                <a:sym typeface="Proxima Nova"/>
              </a:rPr>
              <a:t>: Oliveira </a:t>
            </a:r>
            <a:r>
              <a:rPr lang="pt-BR" sz="1793" b="1" i="1">
                <a:solidFill>
                  <a:schemeClr val="dk1"/>
                </a:solidFill>
                <a:latin typeface="Proxima Nova"/>
                <a:ea typeface="Proxima Nova"/>
                <a:cs typeface="Proxima Nova"/>
                <a:sym typeface="Proxima Nova"/>
              </a:rPr>
              <a:t>et al.</a:t>
            </a:r>
            <a:r>
              <a:rPr lang="pt-BR" sz="1793" b="1" i="0" u="none" strike="noStrike" cap="none">
                <a:solidFill>
                  <a:schemeClr val="dk1"/>
                </a:solidFill>
                <a:latin typeface="Proxima Nova"/>
                <a:ea typeface="Proxima Nova"/>
                <a:cs typeface="Proxima Nova"/>
                <a:sym typeface="Proxima Nova"/>
              </a:rPr>
              <a:t> (2025)</a:t>
            </a:r>
            <a:endParaRPr sz="1793" b="1" i="0" u="none" strike="noStrike" cap="none">
              <a:solidFill>
                <a:schemeClr val="dk1"/>
              </a:solidFill>
              <a:latin typeface="Proxima Nova"/>
              <a:ea typeface="Proxima Nova"/>
              <a:cs typeface="Proxima Nova"/>
              <a:sym typeface="Proxima Nova"/>
            </a:endParaRPr>
          </a:p>
        </p:txBody>
      </p:sp>
      <p:sp>
        <p:nvSpPr>
          <p:cNvPr id="544" name="Google Shape;544;g3fa37cb035d_0_0"/>
          <p:cNvSpPr txBox="1"/>
          <p:nvPr/>
        </p:nvSpPr>
        <p:spPr>
          <a:xfrm>
            <a:off x="7089320" y="3183463"/>
            <a:ext cx="1524000" cy="376800"/>
          </a:xfrm>
          <a:prstGeom prst="rect">
            <a:avLst/>
          </a:prstGeom>
          <a:noFill/>
          <a:ln>
            <a:noFill/>
          </a:ln>
        </p:spPr>
        <p:txBody>
          <a:bodyPr spcFirstLastPara="1" wrap="square" lIns="68275" tIns="34125" rIns="68275" bIns="341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pt-BR" sz="2000" b="1">
                <a:latin typeface="Proxima Nova"/>
                <a:ea typeface="Proxima Nova"/>
                <a:cs typeface="Proxima Nova"/>
                <a:sym typeface="Proxima Nova"/>
              </a:rPr>
              <a:t>Visium </a:t>
            </a:r>
            <a:r>
              <a:rPr lang="pt-BR" sz="2000" b="1" i="0" u="none" strike="noStrike" cap="none">
                <a:latin typeface="Proxima Nova"/>
                <a:ea typeface="Proxima Nova"/>
                <a:cs typeface="Proxima Nova"/>
                <a:sym typeface="Proxima Nova"/>
              </a:rPr>
              <a:t>v2 </a:t>
            </a:r>
            <a:endParaRPr sz="2000" b="1" i="0" u="none" strike="noStrike" cap="none">
              <a:latin typeface="Proxima Nova"/>
              <a:ea typeface="Proxima Nova"/>
              <a:cs typeface="Proxima Nova"/>
              <a:sym typeface="Proxima Nova"/>
            </a:endParaRPr>
          </a:p>
        </p:txBody>
      </p:sp>
      <p:sp>
        <p:nvSpPr>
          <p:cNvPr id="545" name="Google Shape;545;g3fa37cb035d_0_0"/>
          <p:cNvSpPr txBox="1"/>
          <p:nvPr/>
        </p:nvSpPr>
        <p:spPr>
          <a:xfrm>
            <a:off x="7089323" y="1976575"/>
            <a:ext cx="1524000" cy="376800"/>
          </a:xfrm>
          <a:prstGeom prst="rect">
            <a:avLst/>
          </a:prstGeom>
          <a:noFill/>
          <a:ln>
            <a:noFill/>
          </a:ln>
        </p:spPr>
        <p:txBody>
          <a:bodyPr spcFirstLastPara="1" wrap="square" lIns="68275" tIns="34125" rIns="68275" bIns="341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pt-BR" sz="2000" b="1">
                <a:latin typeface="Proxima Nova"/>
                <a:ea typeface="Proxima Nova"/>
                <a:cs typeface="Proxima Nova"/>
                <a:sym typeface="Proxima Nova"/>
              </a:rPr>
              <a:t>Visium </a:t>
            </a:r>
            <a:r>
              <a:rPr lang="pt-BR" sz="2000" b="1" i="0" u="none" strike="noStrike" cap="none">
                <a:latin typeface="Proxima Nova"/>
                <a:ea typeface="Proxima Nova"/>
                <a:cs typeface="Proxima Nova"/>
                <a:sym typeface="Proxima Nova"/>
              </a:rPr>
              <a:t>HD</a:t>
            </a:r>
            <a:endParaRPr sz="2000" b="1" i="0" u="none" strike="noStrike" cap="none">
              <a:latin typeface="Proxima Nova"/>
              <a:ea typeface="Proxima Nova"/>
              <a:cs typeface="Proxima Nova"/>
              <a:sym typeface="Proxima Nova"/>
            </a:endParaRPr>
          </a:p>
        </p:txBody>
      </p:sp>
      <p:cxnSp>
        <p:nvCxnSpPr>
          <p:cNvPr id="546" name="Google Shape;546;g3fa37cb035d_0_0"/>
          <p:cNvCxnSpPr>
            <a:endCxn id="545" idx="1"/>
          </p:cNvCxnSpPr>
          <p:nvPr/>
        </p:nvCxnSpPr>
        <p:spPr>
          <a:xfrm rot="10800000" flipH="1">
            <a:off x="6080723" y="2164975"/>
            <a:ext cx="1008600" cy="3300"/>
          </a:xfrm>
          <a:prstGeom prst="straightConnector1">
            <a:avLst/>
          </a:prstGeom>
          <a:noFill/>
          <a:ln w="38100" cap="flat" cmpd="sng">
            <a:solidFill>
              <a:srgbClr val="FF0000"/>
            </a:solidFill>
            <a:prstDash val="solid"/>
            <a:round/>
            <a:headEnd type="none" w="med" len="med"/>
            <a:tailEnd type="stealth" w="med" len="med"/>
          </a:ln>
        </p:spPr>
      </p:cxnSp>
      <p:cxnSp>
        <p:nvCxnSpPr>
          <p:cNvPr id="547" name="Google Shape;547;g3fa37cb035d_0_0"/>
          <p:cNvCxnSpPr>
            <a:endCxn id="544" idx="1"/>
          </p:cNvCxnSpPr>
          <p:nvPr/>
        </p:nvCxnSpPr>
        <p:spPr>
          <a:xfrm>
            <a:off x="6069920" y="3364363"/>
            <a:ext cx="1019400" cy="7500"/>
          </a:xfrm>
          <a:prstGeom prst="straightConnector1">
            <a:avLst/>
          </a:prstGeom>
          <a:noFill/>
          <a:ln w="38100" cap="flat" cmpd="sng">
            <a:solidFill>
              <a:srgbClr val="FF0000"/>
            </a:solidFill>
            <a:prstDash val="solid"/>
            <a:round/>
            <a:headEnd type="none" w="med" len="med"/>
            <a:tailEnd type="stealth" w="med" len="med"/>
          </a:ln>
        </p:spPr>
      </p:cxnSp>
      <p:pic>
        <p:nvPicPr>
          <p:cNvPr id="548" name="Google Shape;548;g3fa37cb035d_0_0"/>
          <p:cNvPicPr preferRelativeResize="0"/>
          <p:nvPr/>
        </p:nvPicPr>
        <p:blipFill>
          <a:blip r:embed="rId4">
            <a:alphaModFix/>
          </a:blip>
          <a:stretch>
            <a:fillRect/>
          </a:stretch>
        </p:blipFill>
        <p:spPr>
          <a:xfrm>
            <a:off x="6559327" y="3622025"/>
            <a:ext cx="2182625" cy="1352576"/>
          </a:xfrm>
          <a:prstGeom prst="rect">
            <a:avLst/>
          </a:prstGeom>
          <a:noFill/>
          <a:ln>
            <a:noFill/>
          </a:ln>
        </p:spPr>
      </p:pic>
      <p:sp>
        <p:nvSpPr>
          <p:cNvPr id="549" name="Google Shape;549;g3fa37cb035d_0_0"/>
          <p:cNvSpPr txBox="1"/>
          <p:nvPr/>
        </p:nvSpPr>
        <p:spPr>
          <a:xfrm>
            <a:off x="7532873" y="4673118"/>
            <a:ext cx="1241700" cy="345000"/>
          </a:xfrm>
          <a:prstGeom prst="rect">
            <a:avLst/>
          </a:prstGeom>
          <a:noFill/>
          <a:ln>
            <a:noFill/>
          </a:ln>
        </p:spPr>
        <p:txBody>
          <a:bodyPr spcFirstLastPara="1" wrap="square" lIns="68275" tIns="34125" rIns="68275" bIns="34125" anchor="t" anchorCtr="0">
            <a:spAutoFit/>
          </a:bodyPr>
          <a:lstStyle/>
          <a:p>
            <a:pPr marL="0" marR="0" lvl="0" indent="0" algn="r" rtl="0">
              <a:lnSpc>
                <a:spcPct val="100000"/>
              </a:lnSpc>
              <a:spcBef>
                <a:spcPts val="0"/>
              </a:spcBef>
              <a:spcAft>
                <a:spcPts val="0"/>
              </a:spcAft>
              <a:buClr>
                <a:srgbClr val="000000"/>
              </a:buClr>
              <a:buSzPts val="1793"/>
              <a:buFont typeface="Arial"/>
              <a:buNone/>
            </a:pPr>
            <a:r>
              <a:rPr lang="pt-BR" sz="1793" b="1">
                <a:solidFill>
                  <a:srgbClr val="FF0000"/>
                </a:solidFill>
                <a:latin typeface="Proxima Nova"/>
                <a:ea typeface="Proxima Nova"/>
                <a:cs typeface="Proxima Nova"/>
                <a:sym typeface="Proxima Nova"/>
              </a:rPr>
              <a:t>É do BR!!!</a:t>
            </a:r>
            <a:endParaRPr sz="1793" b="1" i="0" u="none" strike="noStrike" cap="none">
              <a:solidFill>
                <a:srgbClr val="FF0000"/>
              </a:solidFill>
              <a:latin typeface="Proxima Nova"/>
              <a:ea typeface="Proxima Nova"/>
              <a:cs typeface="Proxima Nova"/>
              <a:sym typeface="Proxima Nova"/>
            </a:endParaRPr>
          </a:p>
        </p:txBody>
      </p:sp>
      <p:pic>
        <p:nvPicPr>
          <p:cNvPr id="550" name="Google Shape;550;g3fa37cb035d_0_0"/>
          <p:cNvPicPr preferRelativeResize="0"/>
          <p:nvPr/>
        </p:nvPicPr>
        <p:blipFill>
          <a:blip r:embed="rId5">
            <a:alphaModFix/>
          </a:blip>
          <a:stretch>
            <a:fillRect/>
          </a:stretch>
        </p:blipFill>
        <p:spPr>
          <a:xfrm>
            <a:off x="311700" y="1152424"/>
            <a:ext cx="5884931" cy="30374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4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4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4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4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4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4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54"/>
        <p:cNvGrpSpPr/>
        <p:nvPr/>
      </p:nvGrpSpPr>
      <p:grpSpPr>
        <a:xfrm>
          <a:off x="0" y="0"/>
          <a:ext cx="0" cy="0"/>
          <a:chOff x="0" y="0"/>
          <a:chExt cx="0" cy="0"/>
        </a:xfrm>
      </p:grpSpPr>
      <p:sp>
        <p:nvSpPr>
          <p:cNvPr id="555" name="Google Shape;555;p36"/>
          <p:cNvSpPr txBox="1">
            <a:spLocks noGrp="1"/>
          </p:cNvSpPr>
          <p:nvPr>
            <p:ph type="body" idx="1"/>
          </p:nvPr>
        </p:nvSpPr>
        <p:spPr>
          <a:xfrm>
            <a:off x="733200" y="1324600"/>
            <a:ext cx="3431100" cy="339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pt-BR" sz="1500">
                <a:solidFill>
                  <a:schemeClr val="dk1"/>
                </a:solidFill>
              </a:rPr>
              <a:t>Visium Spatial Gene Expression</a:t>
            </a:r>
            <a:endParaRPr sz="1500">
              <a:solidFill>
                <a:schemeClr val="dk1"/>
              </a:solidFill>
            </a:endParaRPr>
          </a:p>
          <a:p>
            <a:pPr marL="914400" lvl="0" indent="0" algn="l" rtl="0">
              <a:lnSpc>
                <a:spcPct val="115000"/>
              </a:lnSpc>
              <a:spcBef>
                <a:spcPts val="1600"/>
              </a:spcBef>
              <a:spcAft>
                <a:spcPts val="1600"/>
              </a:spcAft>
              <a:buSzPts val="1800"/>
              <a:buNone/>
            </a:pPr>
            <a:endParaRPr sz="1500">
              <a:solidFill>
                <a:schemeClr val="dk1"/>
              </a:solidFill>
            </a:endParaRPr>
          </a:p>
        </p:txBody>
      </p:sp>
      <p:pic>
        <p:nvPicPr>
          <p:cNvPr id="556" name="Google Shape;556;p36"/>
          <p:cNvPicPr preferRelativeResize="0"/>
          <p:nvPr/>
        </p:nvPicPr>
        <p:blipFill rotWithShape="1">
          <a:blip r:embed="rId3">
            <a:alphaModFix/>
          </a:blip>
          <a:srcRect/>
          <a:stretch/>
        </p:blipFill>
        <p:spPr>
          <a:xfrm>
            <a:off x="968038" y="1823875"/>
            <a:ext cx="7207924" cy="2770175"/>
          </a:xfrm>
          <a:prstGeom prst="rect">
            <a:avLst/>
          </a:prstGeom>
          <a:noFill/>
          <a:ln>
            <a:noFill/>
          </a:ln>
        </p:spPr>
      </p:pic>
      <p:sp>
        <p:nvSpPr>
          <p:cNvPr id="557" name="Google Shape;557;p36"/>
          <p:cNvSpPr txBox="1">
            <a:spLocks noGrp="1"/>
          </p:cNvSpPr>
          <p:nvPr>
            <p:ph type="title"/>
          </p:nvPr>
        </p:nvSpPr>
        <p:spPr>
          <a:xfrm>
            <a:off x="311700" y="445025"/>
            <a:ext cx="5615400" cy="707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sz="1800" b="1"/>
              <a:t>RNA-seq espacial</a:t>
            </a:r>
            <a:endParaRPr sz="1800" b="1"/>
          </a:p>
          <a:p>
            <a:pPr marL="0" lvl="0" indent="0" algn="l" rtl="0">
              <a:lnSpc>
                <a:spcPct val="100000"/>
              </a:lnSpc>
              <a:spcBef>
                <a:spcPts val="0"/>
              </a:spcBef>
              <a:spcAft>
                <a:spcPts val="0"/>
              </a:spcAft>
              <a:buSzPts val="2800"/>
              <a:buNone/>
            </a:pPr>
            <a:r>
              <a:rPr lang="pt-BR" sz="1800"/>
              <a:t>Princípios - Tecnologia Visium</a:t>
            </a:r>
            <a:endParaRPr sz="1800"/>
          </a:p>
        </p:txBody>
      </p:sp>
      <p:sp>
        <p:nvSpPr>
          <p:cNvPr id="558" name="Google Shape;558;p36"/>
          <p:cNvSpPr/>
          <p:nvPr/>
        </p:nvSpPr>
        <p:spPr>
          <a:xfrm rot="6209055">
            <a:off x="5766239" y="3602263"/>
            <a:ext cx="417559" cy="404899"/>
          </a:xfrm>
          <a:custGeom>
            <a:avLst/>
            <a:gdLst/>
            <a:ahLst/>
            <a:cxnLst/>
            <a:rect l="l" t="t" r="r" b="b"/>
            <a:pathLst>
              <a:path w="31897" h="34999" extrusionOk="0">
                <a:moveTo>
                  <a:pt x="31897" y="0"/>
                </a:moveTo>
                <a:cubicBezTo>
                  <a:pt x="23294" y="0"/>
                  <a:pt x="20667" y="13053"/>
                  <a:pt x="15505" y="19936"/>
                </a:cubicBezTo>
                <a:cubicBezTo>
                  <a:pt x="11182" y="25701"/>
                  <a:pt x="6445" y="31777"/>
                  <a:pt x="0" y="34999"/>
                </a:cubicBezTo>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6"/>
          <p:cNvSpPr txBox="1"/>
          <p:nvPr/>
        </p:nvSpPr>
        <p:spPr>
          <a:xfrm>
            <a:off x="5578925" y="4054950"/>
            <a:ext cx="1292700" cy="559200"/>
          </a:xfrm>
          <a:prstGeom prst="rect">
            <a:avLst/>
          </a:prstGeom>
          <a:noFill/>
          <a:ln>
            <a:noFill/>
          </a:ln>
        </p:spPr>
        <p:txBody>
          <a:bodyPr spcFirstLastPara="1" wrap="square" lIns="68275" tIns="34125" rIns="68275" bIns="34125" anchor="t" anchorCtr="0">
            <a:spAutoFit/>
          </a:bodyPr>
          <a:lstStyle/>
          <a:p>
            <a:pPr marL="0" marR="0" lvl="0" indent="0" algn="ctr" rtl="0">
              <a:lnSpc>
                <a:spcPct val="100000"/>
              </a:lnSpc>
              <a:spcBef>
                <a:spcPts val="0"/>
              </a:spcBef>
              <a:spcAft>
                <a:spcPts val="0"/>
              </a:spcAft>
              <a:buClr>
                <a:srgbClr val="000000"/>
              </a:buClr>
              <a:buSzPts val="1593"/>
              <a:buFont typeface="Arial"/>
              <a:buNone/>
            </a:pPr>
            <a:r>
              <a:rPr lang="pt-BR" sz="1593" b="1" i="0" u="none" strike="noStrike" cap="none">
                <a:solidFill>
                  <a:srgbClr val="292934"/>
                </a:solidFill>
                <a:highlight>
                  <a:srgbClr val="D2533C"/>
                </a:highlight>
                <a:latin typeface="Proxima Nova"/>
                <a:ea typeface="Proxima Nova"/>
                <a:cs typeface="Proxima Nova"/>
                <a:sym typeface="Proxima Nova"/>
              </a:rPr>
              <a:t>Barcode com info XY</a:t>
            </a:r>
            <a:endParaRPr sz="1593" b="1" i="0" u="none" strike="noStrike" cap="none">
              <a:solidFill>
                <a:srgbClr val="292934"/>
              </a:solidFill>
              <a:highlight>
                <a:srgbClr val="D2533C"/>
              </a:highlight>
              <a:latin typeface="Proxima Nova"/>
              <a:ea typeface="Proxima Nova"/>
              <a:cs typeface="Proxima Nova"/>
              <a:sym typeface="Proxima Nov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5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4" name="Google Shape;564;p3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a:t>Conteúdos extras</a:t>
            </a:r>
            <a:endParaRPr/>
          </a:p>
        </p:txBody>
      </p:sp>
      <p:sp>
        <p:nvSpPr>
          <p:cNvPr id="565" name="Google Shape;565;p37"/>
          <p:cNvSpPr txBox="1">
            <a:spLocks noGrp="1"/>
          </p:cNvSpPr>
          <p:nvPr>
            <p:ph type="body" idx="1"/>
          </p:nvPr>
        </p:nvSpPr>
        <p:spPr>
          <a:xfrm>
            <a:off x="360625" y="1324600"/>
            <a:ext cx="6716400" cy="572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SzPts val="1800"/>
              <a:buNone/>
            </a:pPr>
            <a:r>
              <a:rPr lang="pt-BR" sz="1500">
                <a:solidFill>
                  <a:schemeClr val="dk1"/>
                </a:solidFill>
              </a:rPr>
              <a:t>Métodos de geração de bibliotecas de RNA-seq espacial</a:t>
            </a:r>
            <a:endParaRPr sz="1500">
              <a:solidFill>
                <a:schemeClr val="dk1"/>
              </a:solidFill>
            </a:endParaRPr>
          </a:p>
        </p:txBody>
      </p:sp>
      <p:pic>
        <p:nvPicPr>
          <p:cNvPr id="566" name="Google Shape;566;p37"/>
          <p:cNvPicPr preferRelativeResize="0"/>
          <p:nvPr/>
        </p:nvPicPr>
        <p:blipFill rotWithShape="1">
          <a:blip r:embed="rId3">
            <a:alphaModFix/>
          </a:blip>
          <a:srcRect/>
          <a:stretch/>
        </p:blipFill>
        <p:spPr>
          <a:xfrm>
            <a:off x="722575" y="2022300"/>
            <a:ext cx="681025" cy="654500"/>
          </a:xfrm>
          <a:prstGeom prst="rect">
            <a:avLst/>
          </a:prstGeom>
          <a:noFill/>
          <a:ln>
            <a:noFill/>
          </a:ln>
        </p:spPr>
      </p:pic>
      <p:sp>
        <p:nvSpPr>
          <p:cNvPr id="567" name="Google Shape;567;p37"/>
          <p:cNvSpPr txBox="1"/>
          <p:nvPr/>
        </p:nvSpPr>
        <p:spPr>
          <a:xfrm>
            <a:off x="1403600" y="1946050"/>
            <a:ext cx="3921000" cy="692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pt-BR" sz="1100" b="1" i="0" u="none" strike="noStrike" cap="none">
                <a:solidFill>
                  <a:srgbClr val="000000"/>
                </a:solidFill>
                <a:latin typeface="Proxima Nova"/>
                <a:ea typeface="Proxima Nova"/>
                <a:cs typeface="Proxima Nova"/>
                <a:sym typeface="Proxima Nova"/>
              </a:rPr>
              <a:t>Moffitt et al, 2022. DOI 10.1038/s41576-022-00515-3</a:t>
            </a:r>
            <a:endParaRPr sz="1100" b="1" i="0" u="none" strike="noStrike" cap="none">
              <a:solidFill>
                <a:srgbClr val="000000"/>
              </a:solidFill>
              <a:latin typeface="Proxima Nova"/>
              <a:ea typeface="Proxima Nova"/>
              <a:cs typeface="Proxima Nova"/>
              <a:sym typeface="Proxima Nova"/>
            </a:endParaRPr>
          </a:p>
          <a:p>
            <a:pPr marL="0" marR="0" lvl="0" indent="0" algn="l" rtl="0">
              <a:lnSpc>
                <a:spcPct val="100000"/>
              </a:lnSpc>
              <a:spcBef>
                <a:spcPts val="0"/>
              </a:spcBef>
              <a:spcAft>
                <a:spcPts val="0"/>
              </a:spcAft>
              <a:buClr>
                <a:srgbClr val="000000"/>
              </a:buClr>
              <a:buSzPts val="1100"/>
              <a:buFont typeface="Arial"/>
              <a:buNone/>
            </a:pPr>
            <a:r>
              <a:rPr lang="pt-BR" sz="1100" b="0" i="0" u="none" strike="noStrike" cap="none">
                <a:solidFill>
                  <a:srgbClr val="000000"/>
                </a:solidFill>
                <a:latin typeface="Proxima Nova"/>
                <a:ea typeface="Proxima Nova"/>
                <a:cs typeface="Proxima Nova"/>
                <a:sym typeface="Proxima Nova"/>
              </a:rPr>
              <a:t>The emerging landscape of spatial profiling technologies.</a:t>
            </a:r>
            <a:endParaRPr sz="1100" b="0" i="0" u="none" strike="noStrike" cap="none">
              <a:solidFill>
                <a:srgbClr val="000000"/>
              </a:solidFill>
              <a:latin typeface="Proxima Nova"/>
              <a:ea typeface="Proxima Nova"/>
              <a:cs typeface="Proxima Nova"/>
              <a:sym typeface="Proxima Nova"/>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Proxima Nova"/>
              <a:ea typeface="Proxima Nova"/>
              <a:cs typeface="Proxima Nova"/>
              <a:sym typeface="Proxima Nova"/>
            </a:endParaRPr>
          </a:p>
        </p:txBody>
      </p:sp>
      <p:pic>
        <p:nvPicPr>
          <p:cNvPr id="568" name="Google Shape;568;p37"/>
          <p:cNvPicPr preferRelativeResize="0"/>
          <p:nvPr/>
        </p:nvPicPr>
        <p:blipFill rotWithShape="1">
          <a:blip r:embed="rId3">
            <a:alphaModFix/>
          </a:blip>
          <a:srcRect/>
          <a:stretch/>
        </p:blipFill>
        <p:spPr>
          <a:xfrm>
            <a:off x="722575" y="3070500"/>
            <a:ext cx="681025" cy="654500"/>
          </a:xfrm>
          <a:prstGeom prst="rect">
            <a:avLst/>
          </a:prstGeom>
          <a:noFill/>
          <a:ln>
            <a:noFill/>
          </a:ln>
        </p:spPr>
      </p:pic>
      <p:sp>
        <p:nvSpPr>
          <p:cNvPr id="569" name="Google Shape;569;p37"/>
          <p:cNvSpPr txBox="1"/>
          <p:nvPr/>
        </p:nvSpPr>
        <p:spPr>
          <a:xfrm>
            <a:off x="1403600" y="2994250"/>
            <a:ext cx="3921000" cy="1031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pt-BR" sz="1100" b="1" i="0" u="none" strike="noStrike" cap="none">
                <a:solidFill>
                  <a:srgbClr val="000000"/>
                </a:solidFill>
                <a:latin typeface="Proxima Nova"/>
                <a:ea typeface="Proxima Nova"/>
                <a:cs typeface="Proxima Nova"/>
                <a:sym typeface="Proxima Nova"/>
              </a:rPr>
              <a:t>Vídeo</a:t>
            </a:r>
            <a:endParaRPr sz="1100" b="1" i="0" u="none" strike="noStrike" cap="none">
              <a:solidFill>
                <a:srgbClr val="000000"/>
              </a:solidFill>
              <a:latin typeface="Proxima Nova"/>
              <a:ea typeface="Proxima Nova"/>
              <a:cs typeface="Proxima Nova"/>
              <a:sym typeface="Proxima Nova"/>
            </a:endParaRPr>
          </a:p>
          <a:p>
            <a:pPr marL="0" marR="0" lvl="0" indent="0" algn="l" rtl="0">
              <a:lnSpc>
                <a:spcPct val="100000"/>
              </a:lnSpc>
              <a:spcBef>
                <a:spcPts val="0"/>
              </a:spcBef>
              <a:spcAft>
                <a:spcPts val="0"/>
              </a:spcAft>
              <a:buClr>
                <a:srgbClr val="000000"/>
              </a:buClr>
              <a:buSzPts val="1100"/>
              <a:buFont typeface="Arial"/>
              <a:buNone/>
            </a:pPr>
            <a:r>
              <a:rPr lang="pt-BR" sz="1100" b="1" i="0" u="none" strike="noStrike" cap="none">
                <a:solidFill>
                  <a:srgbClr val="000000"/>
                </a:solidFill>
                <a:latin typeface="Proxima Nova"/>
                <a:ea typeface="Proxima Nova"/>
                <a:cs typeface="Proxima Nova"/>
                <a:sym typeface="Proxima Nova"/>
              </a:rPr>
              <a:t>Série Visium Spatial Gene Expression Protocol</a:t>
            </a:r>
            <a:endParaRPr sz="1100" b="1" i="0" u="none" strike="noStrike" cap="none">
              <a:solidFill>
                <a:srgbClr val="000000"/>
              </a:solidFill>
              <a:latin typeface="Proxima Nova"/>
              <a:ea typeface="Proxima Nova"/>
              <a:cs typeface="Proxima Nova"/>
              <a:sym typeface="Proxima Nova"/>
            </a:endParaRPr>
          </a:p>
          <a:p>
            <a:pPr marL="0" marR="0" lvl="0" indent="0" algn="l" rtl="0">
              <a:lnSpc>
                <a:spcPct val="100000"/>
              </a:lnSpc>
              <a:spcBef>
                <a:spcPts val="0"/>
              </a:spcBef>
              <a:spcAft>
                <a:spcPts val="0"/>
              </a:spcAft>
              <a:buClr>
                <a:srgbClr val="000000"/>
              </a:buClr>
              <a:buSzPts val="1100"/>
              <a:buFont typeface="Arial"/>
              <a:buNone/>
            </a:pPr>
            <a:r>
              <a:rPr lang="pt-BR" sz="1100" b="0" i="0" u="none" strike="noStrike" cap="none">
                <a:solidFill>
                  <a:srgbClr val="000000"/>
                </a:solidFill>
                <a:latin typeface="Proxima Nova"/>
                <a:ea typeface="Proxima Nova"/>
                <a:cs typeface="Proxima Nova"/>
                <a:sym typeface="Proxima Nova"/>
              </a:rPr>
              <a:t>https://www.youtube.com/playlist?list=PLfaSRwcfHcq1acX1nuTFcUGClpNRPEyHH</a:t>
            </a:r>
            <a:endParaRPr sz="1100" b="0" i="0" u="none" strike="noStrike" cap="none">
              <a:solidFill>
                <a:srgbClr val="000000"/>
              </a:solidFill>
              <a:latin typeface="Proxima Nova"/>
              <a:ea typeface="Proxima Nova"/>
              <a:cs typeface="Proxima Nova"/>
              <a:sym typeface="Proxima Nova"/>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Proxima Nova"/>
              <a:ea typeface="Proxima Nova"/>
              <a:cs typeface="Proxima Nova"/>
              <a:sym typeface="Proxima Nova"/>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73"/>
        <p:cNvGrpSpPr/>
        <p:nvPr/>
      </p:nvGrpSpPr>
      <p:grpSpPr>
        <a:xfrm>
          <a:off x="0" y="0"/>
          <a:ext cx="0" cy="0"/>
          <a:chOff x="0" y="0"/>
          <a:chExt cx="0" cy="0"/>
        </a:xfrm>
      </p:grpSpPr>
      <p:sp>
        <p:nvSpPr>
          <p:cNvPr id="574" name="Google Shape;574;p38"/>
          <p:cNvSpPr txBox="1">
            <a:spLocks noGrp="1"/>
          </p:cNvSpPr>
          <p:nvPr>
            <p:ph type="title"/>
          </p:nvPr>
        </p:nvSpPr>
        <p:spPr>
          <a:xfrm>
            <a:off x="449225" y="526350"/>
            <a:ext cx="8265900" cy="4090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800"/>
              <a:buNone/>
            </a:pPr>
            <a:r>
              <a:rPr lang="pt-BR" sz="4500"/>
              <a:t>Análise de dados</a:t>
            </a:r>
            <a:endParaRPr sz="60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sp>
        <p:nvSpPr>
          <p:cNvPr id="579" name="Google Shape;579;p39"/>
          <p:cNvSpPr txBox="1">
            <a:spLocks noGrp="1"/>
          </p:cNvSpPr>
          <p:nvPr>
            <p:ph type="title"/>
          </p:nvPr>
        </p:nvSpPr>
        <p:spPr>
          <a:xfrm>
            <a:off x="311700" y="140225"/>
            <a:ext cx="84912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sz="2000"/>
              <a:t>Passos da </a:t>
            </a:r>
            <a:r>
              <a:rPr lang="pt-BR" sz="2000" b="1"/>
              <a:t>análise de dados</a:t>
            </a:r>
            <a:r>
              <a:rPr lang="pt-BR" sz="2000"/>
              <a:t> de transcriptômica de alta resolução</a:t>
            </a:r>
            <a:endParaRPr/>
          </a:p>
        </p:txBody>
      </p:sp>
      <p:grpSp>
        <p:nvGrpSpPr>
          <p:cNvPr id="580" name="Google Shape;580;p39"/>
          <p:cNvGrpSpPr/>
          <p:nvPr/>
        </p:nvGrpSpPr>
        <p:grpSpPr>
          <a:xfrm>
            <a:off x="105699" y="756925"/>
            <a:ext cx="5336026" cy="731700"/>
            <a:chOff x="710674" y="1323175"/>
            <a:chExt cx="5336026" cy="731700"/>
          </a:xfrm>
        </p:grpSpPr>
        <p:sp>
          <p:nvSpPr>
            <p:cNvPr id="581" name="Google Shape;581;p39"/>
            <p:cNvSpPr txBox="1"/>
            <p:nvPr/>
          </p:nvSpPr>
          <p:spPr>
            <a:xfrm>
              <a:off x="710674" y="1373350"/>
              <a:ext cx="2004300" cy="629700"/>
            </a:xfrm>
            <a:prstGeom prst="rect">
              <a:avLst/>
            </a:prstGeom>
            <a:noFill/>
            <a:ln>
              <a:noFill/>
            </a:ln>
          </p:spPr>
          <p:txBody>
            <a:bodyPr spcFirstLastPara="1" wrap="square" lIns="91425" tIns="45700" rIns="91425" bIns="45700" anchor="ctr" anchorCtr="0">
              <a:noAutofit/>
            </a:bodyPr>
            <a:lstStyle/>
            <a:p>
              <a:pPr marL="0" marR="0" lvl="0" indent="0" algn="r" rtl="0">
                <a:lnSpc>
                  <a:spcPct val="90000"/>
                </a:lnSpc>
                <a:spcBef>
                  <a:spcPts val="0"/>
                </a:spcBef>
                <a:spcAft>
                  <a:spcPts val="0"/>
                </a:spcAft>
                <a:buClr>
                  <a:srgbClr val="000000"/>
                </a:buClr>
                <a:buSzPts val="1600"/>
                <a:buFont typeface="Arial"/>
                <a:buNone/>
              </a:pPr>
              <a:r>
                <a:rPr lang="pt-BR" sz="1600" b="1" i="0" u="none" strike="noStrike" cap="none">
                  <a:solidFill>
                    <a:schemeClr val="dk1"/>
                  </a:solidFill>
                  <a:latin typeface="Proxima Nova"/>
                  <a:ea typeface="Proxima Nova"/>
                  <a:cs typeface="Proxima Nova"/>
                  <a:sym typeface="Proxima Nova"/>
                </a:rPr>
                <a:t>Preparo da matriz de </a:t>
              </a:r>
              <a:r>
                <a:rPr lang="pt-BR" sz="1600" b="1" i="1" u="none" strike="noStrike" cap="none">
                  <a:solidFill>
                    <a:schemeClr val="dk1"/>
                  </a:solidFill>
                  <a:latin typeface="Proxima Nova"/>
                  <a:ea typeface="Proxima Nova"/>
                  <a:cs typeface="Proxima Nova"/>
                  <a:sym typeface="Proxima Nova"/>
                </a:rPr>
                <a:t>counts</a:t>
              </a:r>
              <a:endParaRPr sz="1600" b="1" i="1" u="none" strike="noStrike" cap="none">
                <a:solidFill>
                  <a:schemeClr val="dk1"/>
                </a:solidFill>
                <a:latin typeface="Proxima Nova"/>
                <a:ea typeface="Proxima Nova"/>
                <a:cs typeface="Proxima Nova"/>
                <a:sym typeface="Proxima Nova"/>
              </a:endParaRPr>
            </a:p>
          </p:txBody>
        </p:sp>
        <p:sp>
          <p:nvSpPr>
            <p:cNvPr id="582" name="Google Shape;582;p39"/>
            <p:cNvSpPr/>
            <p:nvPr/>
          </p:nvSpPr>
          <p:spPr>
            <a:xfrm>
              <a:off x="2789775" y="1323175"/>
              <a:ext cx="3256800" cy="731700"/>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roxima Nova"/>
                <a:ea typeface="Proxima Nova"/>
                <a:cs typeface="Proxima Nova"/>
                <a:sym typeface="Proxima Nova"/>
              </a:endParaRPr>
            </a:p>
          </p:txBody>
        </p:sp>
        <p:sp>
          <p:nvSpPr>
            <p:cNvPr id="583" name="Google Shape;583;p39"/>
            <p:cNvSpPr txBox="1"/>
            <p:nvPr/>
          </p:nvSpPr>
          <p:spPr>
            <a:xfrm>
              <a:off x="2914400" y="1407450"/>
              <a:ext cx="3132300" cy="575400"/>
            </a:xfrm>
            <a:prstGeom prst="rect">
              <a:avLst/>
            </a:prstGeom>
            <a:no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Clr>
                  <a:srgbClr val="000000"/>
                </a:buClr>
                <a:buSzPts val="1400"/>
                <a:buFont typeface="Arial"/>
                <a:buNone/>
              </a:pPr>
              <a:r>
                <a:rPr lang="pt-BR" sz="1400" b="0" i="1" u="none" strike="noStrike" cap="none">
                  <a:solidFill>
                    <a:schemeClr val="dk1"/>
                  </a:solidFill>
                  <a:latin typeface="Proxima Nova"/>
                  <a:ea typeface="Proxima Nova"/>
                  <a:cs typeface="Proxima Nova"/>
                  <a:sym typeface="Proxima Nova"/>
                </a:rPr>
                <a:t>Trimming</a:t>
              </a:r>
              <a:r>
                <a:rPr lang="pt-BR" sz="1400" b="0" i="0" u="none" strike="noStrike" cap="none">
                  <a:solidFill>
                    <a:schemeClr val="dk1"/>
                  </a:solidFill>
                  <a:latin typeface="Proxima Nova"/>
                  <a:ea typeface="Proxima Nova"/>
                  <a:cs typeface="Proxima Nova"/>
                  <a:sym typeface="Proxima Nova"/>
                </a:rPr>
                <a:t>, controle de qualidade, alinhamento, contagem.</a:t>
              </a:r>
              <a:endParaRPr sz="1400" b="0" i="0" u="none" strike="noStrike" cap="none">
                <a:solidFill>
                  <a:schemeClr val="dk1"/>
                </a:solidFill>
                <a:latin typeface="Proxima Nova"/>
                <a:ea typeface="Proxima Nova"/>
                <a:cs typeface="Proxima Nova"/>
                <a:sym typeface="Proxima Nova"/>
              </a:endParaRPr>
            </a:p>
          </p:txBody>
        </p:sp>
      </p:grpSp>
      <p:grpSp>
        <p:nvGrpSpPr>
          <p:cNvPr id="584" name="Google Shape;584;p39"/>
          <p:cNvGrpSpPr/>
          <p:nvPr/>
        </p:nvGrpSpPr>
        <p:grpSpPr>
          <a:xfrm>
            <a:off x="-604943" y="1664750"/>
            <a:ext cx="6432768" cy="731700"/>
            <a:chOff x="7" y="2207525"/>
            <a:chExt cx="6432768" cy="731700"/>
          </a:xfrm>
        </p:grpSpPr>
        <p:sp>
          <p:nvSpPr>
            <p:cNvPr id="585" name="Google Shape;585;p39"/>
            <p:cNvSpPr txBox="1"/>
            <p:nvPr/>
          </p:nvSpPr>
          <p:spPr>
            <a:xfrm>
              <a:off x="7" y="2257725"/>
              <a:ext cx="2715300" cy="629700"/>
            </a:xfrm>
            <a:prstGeom prst="rect">
              <a:avLst/>
            </a:prstGeom>
            <a:noFill/>
            <a:ln>
              <a:noFill/>
            </a:ln>
          </p:spPr>
          <p:txBody>
            <a:bodyPr spcFirstLastPara="1" wrap="square" lIns="91425" tIns="45700" rIns="91425" bIns="45700" anchor="ctr" anchorCtr="0">
              <a:noAutofit/>
            </a:bodyPr>
            <a:lstStyle/>
            <a:p>
              <a:pPr marL="0" marR="0" lvl="0" indent="0" algn="r" rtl="0">
                <a:lnSpc>
                  <a:spcPct val="90000"/>
                </a:lnSpc>
                <a:spcBef>
                  <a:spcPts val="0"/>
                </a:spcBef>
                <a:spcAft>
                  <a:spcPts val="0"/>
                </a:spcAft>
                <a:buClr>
                  <a:srgbClr val="000000"/>
                </a:buClr>
                <a:buSzPts val="1600"/>
                <a:buFont typeface="Arial"/>
                <a:buNone/>
              </a:pPr>
              <a:r>
                <a:rPr lang="pt-BR" sz="1600" b="1" i="0" u="none" strike="noStrike" cap="none">
                  <a:solidFill>
                    <a:schemeClr val="dk1"/>
                  </a:solidFill>
                  <a:latin typeface="Proxima Nova"/>
                  <a:ea typeface="Proxima Nova"/>
                  <a:cs typeface="Proxima Nova"/>
                  <a:sym typeface="Proxima Nova"/>
                </a:rPr>
                <a:t>Pré-processamento</a:t>
              </a:r>
              <a:endParaRPr sz="1600" b="1" i="0" u="none" strike="noStrike" cap="none">
                <a:solidFill>
                  <a:schemeClr val="dk1"/>
                </a:solidFill>
                <a:latin typeface="Proxima Nova"/>
                <a:ea typeface="Proxima Nova"/>
                <a:cs typeface="Proxima Nova"/>
                <a:sym typeface="Proxima Nova"/>
              </a:endParaRPr>
            </a:p>
          </p:txBody>
        </p:sp>
        <p:sp>
          <p:nvSpPr>
            <p:cNvPr id="586" name="Google Shape;586;p39"/>
            <p:cNvSpPr/>
            <p:nvPr/>
          </p:nvSpPr>
          <p:spPr>
            <a:xfrm>
              <a:off x="2789775" y="2207525"/>
              <a:ext cx="3642900" cy="731700"/>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roxima Nova"/>
                <a:ea typeface="Proxima Nova"/>
                <a:cs typeface="Proxima Nova"/>
                <a:sym typeface="Proxima Nova"/>
              </a:endParaRPr>
            </a:p>
          </p:txBody>
        </p:sp>
        <p:sp>
          <p:nvSpPr>
            <p:cNvPr id="587" name="Google Shape;587;p39"/>
            <p:cNvSpPr txBox="1"/>
            <p:nvPr/>
          </p:nvSpPr>
          <p:spPr>
            <a:xfrm>
              <a:off x="2914375" y="2414100"/>
              <a:ext cx="3518400" cy="330600"/>
            </a:xfrm>
            <a:prstGeom prst="rect">
              <a:avLst/>
            </a:prstGeom>
            <a:no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Clr>
                  <a:srgbClr val="000000"/>
                </a:buClr>
                <a:buSzPts val="1400"/>
                <a:buFont typeface="Arial"/>
                <a:buNone/>
              </a:pPr>
              <a:r>
                <a:rPr lang="pt-BR" sz="1400" b="0" i="0" u="none" strike="noStrike" cap="none">
                  <a:solidFill>
                    <a:schemeClr val="dk1"/>
                  </a:solidFill>
                  <a:latin typeface="Proxima Nova"/>
                  <a:ea typeface="Proxima Nova"/>
                  <a:cs typeface="Proxima Nova"/>
                  <a:sym typeface="Proxima Nova"/>
                </a:rPr>
                <a:t>Controle de qualidade, normalização, redução de dimensionalidade</a:t>
              </a:r>
              <a:endParaRPr sz="1400" b="0" i="0" u="none" strike="noStrike" cap="none">
                <a:solidFill>
                  <a:schemeClr val="dk1"/>
                </a:solidFill>
                <a:latin typeface="Proxima Nova"/>
                <a:ea typeface="Proxima Nova"/>
                <a:cs typeface="Proxima Nova"/>
                <a:sym typeface="Proxima Nova"/>
              </a:endParaRPr>
            </a:p>
          </p:txBody>
        </p:sp>
      </p:grpSp>
      <p:grpSp>
        <p:nvGrpSpPr>
          <p:cNvPr id="588" name="Google Shape;588;p39"/>
          <p:cNvGrpSpPr/>
          <p:nvPr/>
        </p:nvGrpSpPr>
        <p:grpSpPr>
          <a:xfrm>
            <a:off x="150130" y="2546213"/>
            <a:ext cx="5677695" cy="629700"/>
            <a:chOff x="755105" y="3062625"/>
            <a:chExt cx="5677695" cy="629700"/>
          </a:xfrm>
        </p:grpSpPr>
        <p:sp>
          <p:nvSpPr>
            <p:cNvPr id="589" name="Google Shape;589;p39"/>
            <p:cNvSpPr txBox="1"/>
            <p:nvPr/>
          </p:nvSpPr>
          <p:spPr>
            <a:xfrm>
              <a:off x="755105" y="3062625"/>
              <a:ext cx="1959900" cy="629700"/>
            </a:xfrm>
            <a:prstGeom prst="rect">
              <a:avLst/>
            </a:prstGeom>
            <a:noFill/>
            <a:ln>
              <a:noFill/>
            </a:ln>
          </p:spPr>
          <p:txBody>
            <a:bodyPr spcFirstLastPara="1" wrap="square" lIns="91425" tIns="45700" rIns="91425" bIns="45700" anchor="ctr" anchorCtr="0">
              <a:noAutofit/>
            </a:bodyPr>
            <a:lstStyle/>
            <a:p>
              <a:pPr marL="0" marR="0" lvl="0" indent="0" algn="r" rtl="0">
                <a:lnSpc>
                  <a:spcPct val="90000"/>
                </a:lnSpc>
                <a:spcBef>
                  <a:spcPts val="0"/>
                </a:spcBef>
                <a:spcAft>
                  <a:spcPts val="0"/>
                </a:spcAft>
                <a:buClr>
                  <a:srgbClr val="000000"/>
                </a:buClr>
                <a:buSzPts val="1600"/>
                <a:buFont typeface="Arial"/>
                <a:buNone/>
              </a:pPr>
              <a:r>
                <a:rPr lang="pt-BR" sz="1600" b="1" i="0" u="none" strike="noStrike" cap="none">
                  <a:solidFill>
                    <a:schemeClr val="dk1"/>
                  </a:solidFill>
                  <a:latin typeface="Proxima Nova"/>
                  <a:ea typeface="Proxima Nova"/>
                  <a:cs typeface="Proxima Nova"/>
                  <a:sym typeface="Proxima Nova"/>
                </a:rPr>
                <a:t>Separação das populações</a:t>
              </a:r>
              <a:endParaRPr sz="1600" b="1" i="0" u="none" strike="noStrike" cap="none">
                <a:solidFill>
                  <a:schemeClr val="dk1"/>
                </a:solidFill>
                <a:latin typeface="Proxima Nova"/>
                <a:ea typeface="Proxima Nova"/>
                <a:cs typeface="Proxima Nova"/>
                <a:sym typeface="Proxima Nova"/>
              </a:endParaRPr>
            </a:p>
          </p:txBody>
        </p:sp>
        <p:sp>
          <p:nvSpPr>
            <p:cNvPr id="590" name="Google Shape;590;p39"/>
            <p:cNvSpPr/>
            <p:nvPr/>
          </p:nvSpPr>
          <p:spPr>
            <a:xfrm>
              <a:off x="2789775" y="3088625"/>
              <a:ext cx="3642900" cy="572700"/>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roxima Nova"/>
                <a:ea typeface="Proxima Nova"/>
                <a:cs typeface="Proxima Nova"/>
                <a:sym typeface="Proxima Nova"/>
              </a:endParaRPr>
            </a:p>
          </p:txBody>
        </p:sp>
        <p:sp>
          <p:nvSpPr>
            <p:cNvPr id="591" name="Google Shape;591;p39"/>
            <p:cNvSpPr txBox="1"/>
            <p:nvPr/>
          </p:nvSpPr>
          <p:spPr>
            <a:xfrm>
              <a:off x="2914400" y="3218975"/>
              <a:ext cx="3518400" cy="330600"/>
            </a:xfrm>
            <a:prstGeom prst="rect">
              <a:avLst/>
            </a:prstGeom>
            <a:no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Clr>
                  <a:srgbClr val="000000"/>
                </a:buClr>
                <a:buSzPts val="1400"/>
                <a:buFont typeface="Arial"/>
                <a:buNone/>
              </a:pPr>
              <a:r>
                <a:rPr lang="pt-BR" sz="1400" b="0" i="0" u="none" strike="noStrike" cap="none">
                  <a:solidFill>
                    <a:schemeClr val="dk1"/>
                  </a:solidFill>
                  <a:latin typeface="Proxima Nova"/>
                  <a:ea typeface="Proxima Nova"/>
                  <a:cs typeface="Proxima Nova"/>
                  <a:sym typeface="Proxima Nova"/>
                </a:rPr>
                <a:t>Clusterização</a:t>
              </a:r>
              <a:endParaRPr sz="1400" b="0" i="0" u="none" strike="noStrike" cap="none">
                <a:solidFill>
                  <a:schemeClr val="dk1"/>
                </a:solidFill>
                <a:latin typeface="Proxima Nova"/>
                <a:ea typeface="Proxima Nova"/>
                <a:cs typeface="Proxima Nova"/>
                <a:sym typeface="Proxima Nova"/>
              </a:endParaRPr>
            </a:p>
          </p:txBody>
        </p:sp>
      </p:grpSp>
      <p:pic>
        <p:nvPicPr>
          <p:cNvPr id="592" name="Google Shape;592;p39"/>
          <p:cNvPicPr preferRelativeResize="0"/>
          <p:nvPr/>
        </p:nvPicPr>
        <p:blipFill rotWithShape="1">
          <a:blip r:embed="rId3">
            <a:alphaModFix/>
          </a:blip>
          <a:srcRect/>
          <a:stretch/>
        </p:blipFill>
        <p:spPr>
          <a:xfrm>
            <a:off x="5548775" y="637700"/>
            <a:ext cx="1316575" cy="806925"/>
          </a:xfrm>
          <a:prstGeom prst="rect">
            <a:avLst/>
          </a:prstGeom>
          <a:noFill/>
          <a:ln>
            <a:noFill/>
          </a:ln>
        </p:spPr>
      </p:pic>
      <p:pic>
        <p:nvPicPr>
          <p:cNvPr id="593" name="Google Shape;593;p39"/>
          <p:cNvPicPr preferRelativeResize="0"/>
          <p:nvPr/>
        </p:nvPicPr>
        <p:blipFill rotWithShape="1">
          <a:blip r:embed="rId4">
            <a:alphaModFix/>
          </a:blip>
          <a:srcRect t="970"/>
          <a:stretch/>
        </p:blipFill>
        <p:spPr>
          <a:xfrm>
            <a:off x="6354325" y="2571750"/>
            <a:ext cx="1969025" cy="1472400"/>
          </a:xfrm>
          <a:prstGeom prst="rect">
            <a:avLst/>
          </a:prstGeom>
          <a:noFill/>
          <a:ln>
            <a:noFill/>
          </a:ln>
        </p:spPr>
      </p:pic>
      <p:pic>
        <p:nvPicPr>
          <p:cNvPr id="594" name="Google Shape;594;p39"/>
          <p:cNvPicPr preferRelativeResize="0"/>
          <p:nvPr/>
        </p:nvPicPr>
        <p:blipFill rotWithShape="1">
          <a:blip r:embed="rId5">
            <a:alphaModFix/>
          </a:blip>
          <a:srcRect/>
          <a:stretch/>
        </p:blipFill>
        <p:spPr>
          <a:xfrm>
            <a:off x="5891575" y="1444625"/>
            <a:ext cx="1234200" cy="1261800"/>
          </a:xfrm>
          <a:prstGeom prst="ellipse">
            <a:avLst/>
          </a:prstGeom>
          <a:noFill/>
          <a:ln>
            <a:noFill/>
          </a:ln>
        </p:spPr>
      </p:pic>
      <p:grpSp>
        <p:nvGrpSpPr>
          <p:cNvPr id="595" name="Google Shape;595;p39"/>
          <p:cNvGrpSpPr/>
          <p:nvPr/>
        </p:nvGrpSpPr>
        <p:grpSpPr>
          <a:xfrm>
            <a:off x="150130" y="3312500"/>
            <a:ext cx="6001095" cy="629700"/>
            <a:chOff x="755105" y="3062625"/>
            <a:chExt cx="6001095" cy="629700"/>
          </a:xfrm>
        </p:grpSpPr>
        <p:sp>
          <p:nvSpPr>
            <p:cNvPr id="596" name="Google Shape;596;p39"/>
            <p:cNvSpPr txBox="1"/>
            <p:nvPr/>
          </p:nvSpPr>
          <p:spPr>
            <a:xfrm>
              <a:off x="755105" y="3062625"/>
              <a:ext cx="1959900" cy="629700"/>
            </a:xfrm>
            <a:prstGeom prst="rect">
              <a:avLst/>
            </a:prstGeom>
            <a:noFill/>
            <a:ln>
              <a:noFill/>
            </a:ln>
          </p:spPr>
          <p:txBody>
            <a:bodyPr spcFirstLastPara="1" wrap="square" lIns="91425" tIns="45700" rIns="91425" bIns="45700" anchor="ctr" anchorCtr="0">
              <a:noAutofit/>
            </a:bodyPr>
            <a:lstStyle/>
            <a:p>
              <a:pPr marL="0" marR="0" lvl="0" indent="0" algn="r" rtl="0">
                <a:lnSpc>
                  <a:spcPct val="90000"/>
                </a:lnSpc>
                <a:spcBef>
                  <a:spcPts val="0"/>
                </a:spcBef>
                <a:spcAft>
                  <a:spcPts val="0"/>
                </a:spcAft>
                <a:buClr>
                  <a:srgbClr val="000000"/>
                </a:buClr>
                <a:buSzPts val="1600"/>
                <a:buFont typeface="Arial"/>
                <a:buNone/>
              </a:pPr>
              <a:r>
                <a:rPr lang="pt-BR" sz="1600" b="1" i="0" u="none" strike="noStrike" cap="none">
                  <a:solidFill>
                    <a:schemeClr val="dk1"/>
                  </a:solidFill>
                  <a:latin typeface="Proxima Nova"/>
                  <a:ea typeface="Proxima Nova"/>
                  <a:cs typeface="Proxima Nova"/>
                  <a:sym typeface="Proxima Nova"/>
                </a:rPr>
                <a:t>Anotação das populações</a:t>
              </a:r>
              <a:endParaRPr sz="1600" b="1" i="0" u="none" strike="noStrike" cap="none">
                <a:solidFill>
                  <a:schemeClr val="dk1"/>
                </a:solidFill>
                <a:latin typeface="Proxima Nova"/>
                <a:ea typeface="Proxima Nova"/>
                <a:cs typeface="Proxima Nova"/>
                <a:sym typeface="Proxima Nova"/>
              </a:endParaRPr>
            </a:p>
          </p:txBody>
        </p:sp>
        <p:sp>
          <p:nvSpPr>
            <p:cNvPr id="597" name="Google Shape;597;p39"/>
            <p:cNvSpPr/>
            <p:nvPr/>
          </p:nvSpPr>
          <p:spPr>
            <a:xfrm>
              <a:off x="2789775" y="3088625"/>
              <a:ext cx="3966300" cy="572700"/>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roxima Nova"/>
                <a:ea typeface="Proxima Nova"/>
                <a:cs typeface="Proxima Nova"/>
                <a:sym typeface="Proxima Nova"/>
              </a:endParaRPr>
            </a:p>
          </p:txBody>
        </p:sp>
        <p:sp>
          <p:nvSpPr>
            <p:cNvPr id="598" name="Google Shape;598;p39"/>
            <p:cNvSpPr txBox="1"/>
            <p:nvPr/>
          </p:nvSpPr>
          <p:spPr>
            <a:xfrm>
              <a:off x="2914400" y="3218975"/>
              <a:ext cx="3841800" cy="330600"/>
            </a:xfrm>
            <a:prstGeom prst="rect">
              <a:avLst/>
            </a:prstGeom>
            <a:no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Clr>
                  <a:srgbClr val="000000"/>
                </a:buClr>
                <a:buSzPts val="1400"/>
                <a:buFont typeface="Arial"/>
                <a:buNone/>
              </a:pPr>
              <a:r>
                <a:rPr lang="pt-BR" sz="1400" b="0" i="0" u="none" strike="noStrike" cap="none">
                  <a:solidFill>
                    <a:schemeClr val="dk1"/>
                  </a:solidFill>
                  <a:latin typeface="Proxima Nova"/>
                  <a:ea typeface="Proxima Nova"/>
                  <a:cs typeface="Proxima Nova"/>
                  <a:sym typeface="Proxima Nova"/>
                </a:rPr>
                <a:t>Automatizada ou não, assistida por </a:t>
              </a:r>
              <a:r>
                <a:rPr lang="pt-BR" sz="1400" b="0" i="1" u="none" strike="noStrike" cap="none">
                  <a:solidFill>
                    <a:schemeClr val="dk1"/>
                  </a:solidFill>
                  <a:latin typeface="Proxima Nova"/>
                  <a:ea typeface="Proxima Nova"/>
                  <a:cs typeface="Proxima Nova"/>
                  <a:sym typeface="Proxima Nova"/>
                </a:rPr>
                <a:t>scores</a:t>
              </a:r>
              <a:r>
                <a:rPr lang="pt-BR" sz="1400" b="0" i="0" u="none" strike="noStrike" cap="none">
                  <a:solidFill>
                    <a:schemeClr val="dk1"/>
                  </a:solidFill>
                  <a:latin typeface="Proxima Nova"/>
                  <a:ea typeface="Proxima Nova"/>
                  <a:cs typeface="Proxima Nova"/>
                  <a:sym typeface="Proxima Nova"/>
                </a:rPr>
                <a:t>.</a:t>
              </a:r>
              <a:endParaRPr sz="1400" b="0" i="0" u="none" strike="noStrike" cap="none">
                <a:solidFill>
                  <a:schemeClr val="dk1"/>
                </a:solidFill>
                <a:latin typeface="Proxima Nova"/>
                <a:ea typeface="Proxima Nova"/>
                <a:cs typeface="Proxima Nova"/>
                <a:sym typeface="Proxima Nova"/>
              </a:endParaRPr>
            </a:p>
          </p:txBody>
        </p:sp>
      </p:grpSp>
      <p:grpSp>
        <p:nvGrpSpPr>
          <p:cNvPr id="599" name="Google Shape;599;p39"/>
          <p:cNvGrpSpPr/>
          <p:nvPr/>
        </p:nvGrpSpPr>
        <p:grpSpPr>
          <a:xfrm>
            <a:off x="150130" y="4104775"/>
            <a:ext cx="6356595" cy="731700"/>
            <a:chOff x="755105" y="3088625"/>
            <a:chExt cx="6356595" cy="731700"/>
          </a:xfrm>
        </p:grpSpPr>
        <p:sp>
          <p:nvSpPr>
            <p:cNvPr id="600" name="Google Shape;600;p39"/>
            <p:cNvSpPr txBox="1"/>
            <p:nvPr/>
          </p:nvSpPr>
          <p:spPr>
            <a:xfrm>
              <a:off x="755105" y="3138825"/>
              <a:ext cx="1959900" cy="629700"/>
            </a:xfrm>
            <a:prstGeom prst="rect">
              <a:avLst/>
            </a:prstGeom>
            <a:noFill/>
            <a:ln>
              <a:noFill/>
            </a:ln>
          </p:spPr>
          <p:txBody>
            <a:bodyPr spcFirstLastPara="1" wrap="square" lIns="91425" tIns="45700" rIns="91425" bIns="45700" anchor="ctr" anchorCtr="0">
              <a:noAutofit/>
            </a:bodyPr>
            <a:lstStyle/>
            <a:p>
              <a:pPr marL="0" marR="0" lvl="0" indent="0" algn="r" rtl="0">
                <a:lnSpc>
                  <a:spcPct val="90000"/>
                </a:lnSpc>
                <a:spcBef>
                  <a:spcPts val="0"/>
                </a:spcBef>
                <a:spcAft>
                  <a:spcPts val="0"/>
                </a:spcAft>
                <a:buClr>
                  <a:srgbClr val="000000"/>
                </a:buClr>
                <a:buSzPts val="1600"/>
                <a:buFont typeface="Arial"/>
                <a:buNone/>
              </a:pPr>
              <a:r>
                <a:rPr lang="pt-BR" sz="1600" b="1" i="0" u="none" strike="noStrike" cap="none">
                  <a:solidFill>
                    <a:schemeClr val="dk1"/>
                  </a:solidFill>
                  <a:latin typeface="Proxima Nova"/>
                  <a:ea typeface="Proxima Nova"/>
                  <a:cs typeface="Proxima Nova"/>
                  <a:sym typeface="Proxima Nova"/>
                </a:rPr>
                <a:t>Análise em si</a:t>
              </a:r>
              <a:endParaRPr sz="1600" b="1" i="0" u="none" strike="noStrike" cap="none">
                <a:solidFill>
                  <a:schemeClr val="dk1"/>
                </a:solidFill>
                <a:latin typeface="Proxima Nova"/>
                <a:ea typeface="Proxima Nova"/>
                <a:cs typeface="Proxima Nova"/>
                <a:sym typeface="Proxima Nova"/>
              </a:endParaRPr>
            </a:p>
          </p:txBody>
        </p:sp>
        <p:sp>
          <p:nvSpPr>
            <p:cNvPr id="601" name="Google Shape;601;p39"/>
            <p:cNvSpPr/>
            <p:nvPr/>
          </p:nvSpPr>
          <p:spPr>
            <a:xfrm>
              <a:off x="2789775" y="3088625"/>
              <a:ext cx="4254300" cy="731700"/>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roxima Nova"/>
                <a:ea typeface="Proxima Nova"/>
                <a:cs typeface="Proxima Nova"/>
                <a:sym typeface="Proxima Nova"/>
              </a:endParaRPr>
            </a:p>
          </p:txBody>
        </p:sp>
        <p:sp>
          <p:nvSpPr>
            <p:cNvPr id="602" name="Google Shape;602;p39"/>
            <p:cNvSpPr txBox="1"/>
            <p:nvPr/>
          </p:nvSpPr>
          <p:spPr>
            <a:xfrm>
              <a:off x="2914400" y="3295175"/>
              <a:ext cx="4197300" cy="330600"/>
            </a:xfrm>
            <a:prstGeom prst="rect">
              <a:avLst/>
            </a:prstGeom>
            <a:no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Clr>
                  <a:srgbClr val="000000"/>
                </a:buClr>
                <a:buSzPts val="1400"/>
                <a:buFont typeface="Arial"/>
                <a:buNone/>
              </a:pPr>
              <a:r>
                <a:rPr lang="pt-BR" sz="1400" b="0" i="0" u="none" strike="noStrike" cap="none">
                  <a:solidFill>
                    <a:schemeClr val="dk1"/>
                  </a:solidFill>
                  <a:latin typeface="Proxima Nova"/>
                  <a:ea typeface="Proxima Nova"/>
                  <a:cs typeface="Proxima Nova"/>
                  <a:sym typeface="Proxima Nova"/>
                </a:rPr>
                <a:t>Expressão diferencial, pseudotime, predição de comunicação celular, enriquecimento funcional</a:t>
              </a:r>
              <a:endParaRPr sz="1400" b="0" i="0" u="none" strike="noStrike" cap="none">
                <a:solidFill>
                  <a:schemeClr val="dk1"/>
                </a:solidFill>
                <a:latin typeface="Proxima Nova"/>
                <a:ea typeface="Proxima Nova"/>
                <a:cs typeface="Proxima Nova"/>
                <a:sym typeface="Proxima Nova"/>
              </a:endParaRPr>
            </a:p>
          </p:txBody>
        </p:sp>
      </p:grpSp>
      <p:pic>
        <p:nvPicPr>
          <p:cNvPr id="603" name="Google Shape;603;p39"/>
          <p:cNvPicPr preferRelativeResize="0"/>
          <p:nvPr/>
        </p:nvPicPr>
        <p:blipFill rotWithShape="1">
          <a:blip r:embed="rId6">
            <a:alphaModFix/>
          </a:blip>
          <a:srcRect b="35342"/>
          <a:stretch/>
        </p:blipFill>
        <p:spPr>
          <a:xfrm>
            <a:off x="6669525" y="4104776"/>
            <a:ext cx="1496973" cy="1038725"/>
          </a:xfrm>
          <a:prstGeom prst="rect">
            <a:avLst/>
          </a:prstGeom>
          <a:noFill/>
          <a:ln>
            <a:noFill/>
          </a:ln>
        </p:spPr>
      </p:pic>
      <p:sp>
        <p:nvSpPr>
          <p:cNvPr id="604" name="Google Shape;604;p39"/>
          <p:cNvSpPr/>
          <p:nvPr/>
        </p:nvSpPr>
        <p:spPr>
          <a:xfrm>
            <a:off x="7053000" y="988332"/>
            <a:ext cx="490200" cy="636375"/>
          </a:xfrm>
          <a:custGeom>
            <a:avLst/>
            <a:gdLst/>
            <a:ahLst/>
            <a:cxnLst/>
            <a:rect l="l" t="t" r="r" b="b"/>
            <a:pathLst>
              <a:path w="19608" h="25455" extrusionOk="0">
                <a:moveTo>
                  <a:pt x="0" y="1615"/>
                </a:moveTo>
                <a:cubicBezTo>
                  <a:pt x="6244" y="-466"/>
                  <a:pt x="18343" y="-1345"/>
                  <a:pt x="19426" y="5147"/>
                </a:cubicBezTo>
                <a:cubicBezTo>
                  <a:pt x="20887" y="13901"/>
                  <a:pt x="6180" y="17519"/>
                  <a:pt x="2207" y="25456"/>
                </a:cubicBezTo>
              </a:path>
            </a:pathLst>
          </a:cu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9"/>
          <p:cNvSpPr/>
          <p:nvPr/>
        </p:nvSpPr>
        <p:spPr>
          <a:xfrm>
            <a:off x="7372025" y="2078749"/>
            <a:ext cx="530300" cy="527250"/>
          </a:xfrm>
          <a:custGeom>
            <a:avLst/>
            <a:gdLst/>
            <a:ahLst/>
            <a:cxnLst/>
            <a:rect l="l" t="t" r="r" b="b"/>
            <a:pathLst>
              <a:path w="21212" h="21090" extrusionOk="0">
                <a:moveTo>
                  <a:pt x="0" y="3872"/>
                </a:moveTo>
                <a:cubicBezTo>
                  <a:pt x="4841" y="3872"/>
                  <a:pt x="9016" y="7455"/>
                  <a:pt x="13686" y="8728"/>
                </a:cubicBezTo>
                <a:cubicBezTo>
                  <a:pt x="16899" y="9604"/>
                  <a:pt x="22599" y="4435"/>
                  <a:pt x="20751" y="1664"/>
                </a:cubicBezTo>
                <a:cubicBezTo>
                  <a:pt x="16109" y="-5297"/>
                  <a:pt x="4856" y="12723"/>
                  <a:pt x="4856" y="21090"/>
                </a:cubicBezTo>
              </a:path>
            </a:pathLst>
          </a:cu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9"/>
          <p:cNvSpPr/>
          <p:nvPr/>
        </p:nvSpPr>
        <p:spPr>
          <a:xfrm>
            <a:off x="8399575" y="3411750"/>
            <a:ext cx="419325" cy="993375"/>
          </a:xfrm>
          <a:custGeom>
            <a:avLst/>
            <a:gdLst/>
            <a:ahLst/>
            <a:cxnLst/>
            <a:rect l="l" t="t" r="r" b="b"/>
            <a:pathLst>
              <a:path w="16773" h="39735" extrusionOk="0">
                <a:moveTo>
                  <a:pt x="2208" y="0"/>
                </a:moveTo>
                <a:cubicBezTo>
                  <a:pt x="10560" y="1669"/>
                  <a:pt x="10155" y="15766"/>
                  <a:pt x="10155" y="24283"/>
                </a:cubicBezTo>
                <a:cubicBezTo>
                  <a:pt x="10155" y="28427"/>
                  <a:pt x="8548" y="33715"/>
                  <a:pt x="11479" y="36645"/>
                </a:cubicBezTo>
                <a:cubicBezTo>
                  <a:pt x="13173" y="38339"/>
                  <a:pt x="18030" y="33041"/>
                  <a:pt x="16336" y="31347"/>
                </a:cubicBezTo>
                <a:cubicBezTo>
                  <a:pt x="15394" y="30405"/>
                  <a:pt x="13554" y="31192"/>
                  <a:pt x="12362" y="31788"/>
                </a:cubicBezTo>
                <a:cubicBezTo>
                  <a:pt x="7980" y="33979"/>
                  <a:pt x="2193" y="35354"/>
                  <a:pt x="0" y="39735"/>
                </a:cubicBezTo>
              </a:path>
            </a:pathLst>
          </a:cu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9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8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9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0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8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9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9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0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9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0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10"/>
        <p:cNvGrpSpPr/>
        <p:nvPr/>
      </p:nvGrpSpPr>
      <p:grpSpPr>
        <a:xfrm>
          <a:off x="0" y="0"/>
          <a:ext cx="0" cy="0"/>
          <a:chOff x="0" y="0"/>
          <a:chExt cx="0" cy="0"/>
        </a:xfrm>
      </p:grpSpPr>
      <p:sp>
        <p:nvSpPr>
          <p:cNvPr id="611" name="Google Shape;611;p40"/>
          <p:cNvSpPr txBox="1">
            <a:spLocks noGrp="1"/>
          </p:cNvSpPr>
          <p:nvPr>
            <p:ph type="title"/>
          </p:nvPr>
        </p:nvSpPr>
        <p:spPr>
          <a:xfrm>
            <a:off x="311700" y="140225"/>
            <a:ext cx="84912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sz="2000"/>
              <a:t>Passos da </a:t>
            </a:r>
            <a:r>
              <a:rPr lang="pt-BR" sz="2000" b="1"/>
              <a:t>análise de dados</a:t>
            </a:r>
            <a:r>
              <a:rPr lang="pt-BR" sz="2000"/>
              <a:t> de transcriptômica de alta resolução</a:t>
            </a:r>
            <a:endParaRPr/>
          </a:p>
        </p:txBody>
      </p:sp>
      <p:grpSp>
        <p:nvGrpSpPr>
          <p:cNvPr id="612" name="Google Shape;612;p40"/>
          <p:cNvGrpSpPr/>
          <p:nvPr/>
        </p:nvGrpSpPr>
        <p:grpSpPr>
          <a:xfrm>
            <a:off x="105699" y="756925"/>
            <a:ext cx="5336026" cy="731700"/>
            <a:chOff x="710674" y="1323175"/>
            <a:chExt cx="5336026" cy="731700"/>
          </a:xfrm>
        </p:grpSpPr>
        <p:sp>
          <p:nvSpPr>
            <p:cNvPr id="613" name="Google Shape;613;p40"/>
            <p:cNvSpPr txBox="1"/>
            <p:nvPr/>
          </p:nvSpPr>
          <p:spPr>
            <a:xfrm>
              <a:off x="710674" y="1373350"/>
              <a:ext cx="2004300" cy="629700"/>
            </a:xfrm>
            <a:prstGeom prst="rect">
              <a:avLst/>
            </a:prstGeom>
            <a:noFill/>
            <a:ln>
              <a:noFill/>
            </a:ln>
          </p:spPr>
          <p:txBody>
            <a:bodyPr spcFirstLastPara="1" wrap="square" lIns="91425" tIns="45700" rIns="91425" bIns="45700" anchor="ctr" anchorCtr="0">
              <a:noAutofit/>
            </a:bodyPr>
            <a:lstStyle/>
            <a:p>
              <a:pPr marL="0" marR="0" lvl="0" indent="0" algn="r" rtl="0">
                <a:lnSpc>
                  <a:spcPct val="90000"/>
                </a:lnSpc>
                <a:spcBef>
                  <a:spcPts val="0"/>
                </a:spcBef>
                <a:spcAft>
                  <a:spcPts val="0"/>
                </a:spcAft>
                <a:buClr>
                  <a:srgbClr val="000000"/>
                </a:buClr>
                <a:buSzPts val="1600"/>
                <a:buFont typeface="Arial"/>
                <a:buNone/>
              </a:pPr>
              <a:r>
                <a:rPr lang="pt-BR" sz="1600" b="1" i="0" u="none" strike="noStrike" cap="none">
                  <a:solidFill>
                    <a:schemeClr val="dk1"/>
                  </a:solidFill>
                  <a:latin typeface="Proxima Nova"/>
                  <a:ea typeface="Proxima Nova"/>
                  <a:cs typeface="Proxima Nova"/>
                  <a:sym typeface="Proxima Nova"/>
                </a:rPr>
                <a:t>Preparo da matriz de </a:t>
              </a:r>
              <a:r>
                <a:rPr lang="pt-BR" sz="1600" b="1" i="1" u="none" strike="noStrike" cap="none">
                  <a:solidFill>
                    <a:schemeClr val="dk1"/>
                  </a:solidFill>
                  <a:latin typeface="Proxima Nova"/>
                  <a:ea typeface="Proxima Nova"/>
                  <a:cs typeface="Proxima Nova"/>
                  <a:sym typeface="Proxima Nova"/>
                </a:rPr>
                <a:t>counts</a:t>
              </a:r>
              <a:endParaRPr sz="1600" b="1" i="1" u="none" strike="noStrike" cap="none">
                <a:solidFill>
                  <a:schemeClr val="dk1"/>
                </a:solidFill>
                <a:latin typeface="Proxima Nova"/>
                <a:ea typeface="Proxima Nova"/>
                <a:cs typeface="Proxima Nova"/>
                <a:sym typeface="Proxima Nova"/>
              </a:endParaRPr>
            </a:p>
          </p:txBody>
        </p:sp>
        <p:sp>
          <p:nvSpPr>
            <p:cNvPr id="614" name="Google Shape;614;p40"/>
            <p:cNvSpPr/>
            <p:nvPr/>
          </p:nvSpPr>
          <p:spPr>
            <a:xfrm>
              <a:off x="2789775" y="1323175"/>
              <a:ext cx="3256800" cy="731700"/>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roxima Nova"/>
                <a:ea typeface="Proxima Nova"/>
                <a:cs typeface="Proxima Nova"/>
                <a:sym typeface="Proxima Nova"/>
              </a:endParaRPr>
            </a:p>
          </p:txBody>
        </p:sp>
        <p:sp>
          <p:nvSpPr>
            <p:cNvPr id="615" name="Google Shape;615;p40"/>
            <p:cNvSpPr txBox="1"/>
            <p:nvPr/>
          </p:nvSpPr>
          <p:spPr>
            <a:xfrm>
              <a:off x="2914400" y="1407450"/>
              <a:ext cx="3132300" cy="575400"/>
            </a:xfrm>
            <a:prstGeom prst="rect">
              <a:avLst/>
            </a:prstGeom>
            <a:no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Clr>
                  <a:srgbClr val="000000"/>
                </a:buClr>
                <a:buSzPts val="1400"/>
                <a:buFont typeface="Arial"/>
                <a:buNone/>
              </a:pPr>
              <a:r>
                <a:rPr lang="pt-BR" sz="1400" b="0" i="1" u="none" strike="noStrike" cap="none">
                  <a:solidFill>
                    <a:schemeClr val="dk1"/>
                  </a:solidFill>
                  <a:latin typeface="Proxima Nova"/>
                  <a:ea typeface="Proxima Nova"/>
                  <a:cs typeface="Proxima Nova"/>
                  <a:sym typeface="Proxima Nova"/>
                </a:rPr>
                <a:t>Trimming</a:t>
              </a:r>
              <a:r>
                <a:rPr lang="pt-BR" sz="1400" b="0" i="0" u="none" strike="noStrike" cap="none">
                  <a:solidFill>
                    <a:schemeClr val="dk1"/>
                  </a:solidFill>
                  <a:latin typeface="Proxima Nova"/>
                  <a:ea typeface="Proxima Nova"/>
                  <a:cs typeface="Proxima Nova"/>
                  <a:sym typeface="Proxima Nova"/>
                </a:rPr>
                <a:t>, controle de qualidade, alinhamento, contagem.</a:t>
              </a:r>
              <a:endParaRPr sz="1400" b="0" i="0" u="none" strike="noStrike" cap="none">
                <a:solidFill>
                  <a:schemeClr val="dk1"/>
                </a:solidFill>
                <a:latin typeface="Proxima Nova"/>
                <a:ea typeface="Proxima Nova"/>
                <a:cs typeface="Proxima Nova"/>
                <a:sym typeface="Proxima Nova"/>
              </a:endParaRPr>
            </a:p>
          </p:txBody>
        </p:sp>
      </p:grpSp>
      <p:pic>
        <p:nvPicPr>
          <p:cNvPr id="616" name="Google Shape;616;p40"/>
          <p:cNvPicPr preferRelativeResize="0"/>
          <p:nvPr/>
        </p:nvPicPr>
        <p:blipFill rotWithShape="1">
          <a:blip r:embed="rId3">
            <a:alphaModFix/>
          </a:blip>
          <a:srcRect/>
          <a:stretch/>
        </p:blipFill>
        <p:spPr>
          <a:xfrm>
            <a:off x="387900" y="1859150"/>
            <a:ext cx="2919191" cy="2783825"/>
          </a:xfrm>
          <a:prstGeom prst="rect">
            <a:avLst/>
          </a:prstGeom>
          <a:noFill/>
          <a:ln>
            <a:noFill/>
          </a:ln>
        </p:spPr>
      </p:pic>
      <p:pic>
        <p:nvPicPr>
          <p:cNvPr id="617" name="Google Shape;617;p40"/>
          <p:cNvPicPr preferRelativeResize="0"/>
          <p:nvPr/>
        </p:nvPicPr>
        <p:blipFill rotWithShape="1">
          <a:blip r:embed="rId4">
            <a:alphaModFix/>
          </a:blip>
          <a:srcRect b="794"/>
          <a:stretch/>
        </p:blipFill>
        <p:spPr>
          <a:xfrm>
            <a:off x="3394375" y="1577300"/>
            <a:ext cx="5538574" cy="3031149"/>
          </a:xfrm>
          <a:prstGeom prst="rect">
            <a:avLst/>
          </a:prstGeom>
          <a:noFill/>
          <a:ln>
            <a:noFill/>
          </a:ln>
        </p:spPr>
      </p:pic>
      <p:sp>
        <p:nvSpPr>
          <p:cNvPr id="618" name="Google Shape;618;p40"/>
          <p:cNvSpPr txBox="1">
            <a:spLocks noGrp="1"/>
          </p:cNvSpPr>
          <p:nvPr>
            <p:ph type="title"/>
          </p:nvPr>
        </p:nvSpPr>
        <p:spPr>
          <a:xfrm>
            <a:off x="733200" y="4721350"/>
            <a:ext cx="8410800" cy="3339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2800"/>
              <a:buNone/>
            </a:pPr>
            <a:r>
              <a:rPr lang="pt-BR" sz="600">
                <a:solidFill>
                  <a:schemeClr val="accent3"/>
                </a:solidFill>
              </a:rPr>
              <a:t>Malte D Luecken1 &amp; Fabian J Theis. Mol Syst Biol. (2019) 15: e8746, Current best practices in single-cell RNA-seq analysis: a tutorial  doi: 10.15252/msb.20188746</a:t>
            </a:r>
            <a:endParaRPr sz="600">
              <a:solidFill>
                <a:schemeClr val="accent3"/>
              </a:solidFill>
            </a:endParaRPr>
          </a:p>
          <a:p>
            <a:pPr marL="0" lvl="0" indent="0" algn="r" rtl="0">
              <a:lnSpc>
                <a:spcPct val="100000"/>
              </a:lnSpc>
              <a:spcBef>
                <a:spcPts val="0"/>
              </a:spcBef>
              <a:spcAft>
                <a:spcPts val="0"/>
              </a:spcAft>
              <a:buSzPts val="2800"/>
              <a:buNone/>
            </a:pPr>
            <a:r>
              <a:rPr lang="pt-BR" sz="600">
                <a:solidFill>
                  <a:schemeClr val="accent3"/>
                </a:solidFill>
              </a:rPr>
              <a:t>Jiang et al. BMC Genomics (2024) 25:631 A comprehensive workfow for optimizing RNA-seq data analysis. doi:  https://doi.org/10.1186/s12864-024-10414-y</a:t>
            </a:r>
            <a:endParaRPr sz="600">
              <a:solidFill>
                <a:schemeClr val="accent3"/>
              </a:solidFill>
            </a:endParaRPr>
          </a:p>
          <a:p>
            <a:pPr marL="0" lvl="0" indent="0" algn="r" rtl="0">
              <a:lnSpc>
                <a:spcPct val="100000"/>
              </a:lnSpc>
              <a:spcBef>
                <a:spcPts val="0"/>
              </a:spcBef>
              <a:spcAft>
                <a:spcPts val="0"/>
              </a:spcAft>
              <a:buSzPts val="2800"/>
              <a:buNone/>
            </a:pPr>
            <a:endParaRPr sz="600">
              <a:solidFill>
                <a:schemeClr val="accent3"/>
              </a:solidFill>
            </a:endParaRPr>
          </a:p>
          <a:p>
            <a:pPr marL="0" lvl="0" indent="0" algn="r" rtl="0">
              <a:lnSpc>
                <a:spcPct val="100000"/>
              </a:lnSpc>
              <a:spcBef>
                <a:spcPts val="0"/>
              </a:spcBef>
              <a:spcAft>
                <a:spcPts val="0"/>
              </a:spcAft>
              <a:buSzPts val="2800"/>
              <a:buNone/>
            </a:pPr>
            <a:endParaRPr sz="600">
              <a:solidFill>
                <a:schemeClr val="accent3"/>
              </a:solidFill>
            </a:endParaRPr>
          </a:p>
          <a:p>
            <a:pPr marL="0" lvl="0" indent="0" algn="l" rtl="0">
              <a:lnSpc>
                <a:spcPct val="100000"/>
              </a:lnSpc>
              <a:spcBef>
                <a:spcPts val="0"/>
              </a:spcBef>
              <a:spcAft>
                <a:spcPts val="0"/>
              </a:spcAft>
              <a:buSzPts val="2800"/>
              <a:buNone/>
            </a:pPr>
            <a:endParaRPr sz="600">
              <a:solidFill>
                <a:schemeClr val="accent3"/>
              </a:solidFill>
            </a:endParaRPr>
          </a:p>
        </p:txBody>
      </p:sp>
      <p:sp>
        <p:nvSpPr>
          <p:cNvPr id="619" name="Google Shape;619;p40"/>
          <p:cNvSpPr/>
          <p:nvPr/>
        </p:nvSpPr>
        <p:spPr>
          <a:xfrm>
            <a:off x="3171000" y="1577298"/>
            <a:ext cx="5761800" cy="3031200"/>
          </a:xfrm>
          <a:prstGeom prst="rect">
            <a:avLst/>
          </a:prstGeom>
          <a:solidFill>
            <a:srgbClr val="FFFFFF">
              <a:alpha val="85880"/>
            </a:srgbClr>
          </a:solidFill>
          <a:ln>
            <a:noFill/>
          </a:ln>
        </p:spPr>
        <p:txBody>
          <a:bodyPr spcFirstLastPara="1" wrap="square" lIns="68275" tIns="34125" rIns="68275" bIns="34125" anchor="ctr" anchorCtr="0">
            <a:noAutofit/>
          </a:bodyPr>
          <a:lstStyle/>
          <a:p>
            <a:pPr marL="0" marR="0" lvl="0" indent="0" algn="ctr" rtl="0">
              <a:lnSpc>
                <a:spcPct val="100000"/>
              </a:lnSpc>
              <a:spcBef>
                <a:spcPts val="0"/>
              </a:spcBef>
              <a:spcAft>
                <a:spcPts val="0"/>
              </a:spcAft>
              <a:buClr>
                <a:srgbClr val="000000"/>
              </a:buClr>
              <a:buSzPts val="1344"/>
              <a:buFont typeface="Arial"/>
              <a:buNone/>
            </a:pPr>
            <a:endParaRPr sz="1344" i="0" u="none" strike="noStrike" cap="none">
              <a:solidFill>
                <a:srgbClr val="FFFFFF"/>
              </a:solidFill>
              <a:latin typeface="Proxima Nova"/>
              <a:ea typeface="Proxima Nova"/>
              <a:cs typeface="Proxima Nova"/>
              <a:sym typeface="Proxima Nova"/>
            </a:endParaRPr>
          </a:p>
        </p:txBody>
      </p:sp>
      <p:sp>
        <p:nvSpPr>
          <p:cNvPr id="620" name="Google Shape;620;p40"/>
          <p:cNvSpPr txBox="1"/>
          <p:nvPr/>
        </p:nvSpPr>
        <p:spPr>
          <a:xfrm>
            <a:off x="3837698" y="1761375"/>
            <a:ext cx="4965300" cy="621000"/>
          </a:xfrm>
          <a:prstGeom prst="rect">
            <a:avLst/>
          </a:prstGeom>
          <a:noFill/>
          <a:ln>
            <a:noFill/>
          </a:ln>
        </p:spPr>
        <p:txBody>
          <a:bodyPr spcFirstLastPara="1" wrap="square" lIns="68275" tIns="34125" rIns="68275" bIns="34125" anchor="t" anchorCtr="0">
            <a:spAutoFit/>
          </a:bodyPr>
          <a:lstStyle/>
          <a:p>
            <a:pPr marL="0" marR="0" lvl="0" indent="0" algn="l" rtl="0">
              <a:lnSpc>
                <a:spcPct val="100000"/>
              </a:lnSpc>
              <a:spcBef>
                <a:spcPts val="0"/>
              </a:spcBef>
              <a:spcAft>
                <a:spcPts val="0"/>
              </a:spcAft>
              <a:buClr>
                <a:srgbClr val="000000"/>
              </a:buClr>
              <a:buSzPts val="1793"/>
              <a:buFont typeface="Arial"/>
              <a:buNone/>
            </a:pPr>
            <a:r>
              <a:rPr lang="pt-BR" sz="1793" b="1">
                <a:latin typeface="Proxima Nova"/>
                <a:ea typeface="Proxima Nova"/>
                <a:cs typeface="Proxima Nova"/>
                <a:sym typeface="Proxima Nova"/>
              </a:rPr>
              <a:t>No caso de tecnologias da 10x Genomics (Visium):</a:t>
            </a:r>
            <a:endParaRPr sz="1793" b="1" i="0" u="none" strike="noStrike" cap="none">
              <a:latin typeface="Proxima Nova"/>
              <a:ea typeface="Proxima Nova"/>
              <a:cs typeface="Proxima Nova"/>
              <a:sym typeface="Proxima Nova"/>
            </a:endParaRPr>
          </a:p>
        </p:txBody>
      </p:sp>
      <p:sp>
        <p:nvSpPr>
          <p:cNvPr id="621" name="Google Shape;621;p40"/>
          <p:cNvSpPr txBox="1"/>
          <p:nvPr/>
        </p:nvSpPr>
        <p:spPr>
          <a:xfrm>
            <a:off x="4287912" y="2518488"/>
            <a:ext cx="3751500" cy="1173000"/>
          </a:xfrm>
          <a:prstGeom prst="rect">
            <a:avLst/>
          </a:prstGeom>
          <a:noFill/>
          <a:ln>
            <a:noFill/>
          </a:ln>
        </p:spPr>
        <p:txBody>
          <a:bodyPr spcFirstLastPara="1" wrap="square" lIns="68275" tIns="34125" rIns="68275" bIns="34125" anchor="t" anchorCtr="0">
            <a:spAutoFit/>
          </a:bodyPr>
          <a:lstStyle/>
          <a:p>
            <a:pPr marL="0" marR="0" lvl="0" indent="0" algn="ctr" rtl="0">
              <a:lnSpc>
                <a:spcPct val="100000"/>
              </a:lnSpc>
              <a:spcBef>
                <a:spcPts val="0"/>
              </a:spcBef>
              <a:spcAft>
                <a:spcPts val="0"/>
              </a:spcAft>
              <a:buClr>
                <a:srgbClr val="000000"/>
              </a:buClr>
              <a:buSzPts val="1793"/>
              <a:buFont typeface="Arial"/>
              <a:buNone/>
            </a:pPr>
            <a:r>
              <a:rPr lang="pt-BR" sz="1793" b="1">
                <a:solidFill>
                  <a:srgbClr val="CC0000"/>
                </a:solidFill>
                <a:latin typeface="Proxima Nova"/>
                <a:ea typeface="Proxima Nova"/>
                <a:cs typeface="Proxima Nova"/>
                <a:sym typeface="Proxima Nova"/>
              </a:rPr>
              <a:t>Essas etapas são realizadas ferramentas internas:</a:t>
            </a:r>
            <a:br>
              <a:rPr lang="pt-BR" sz="1793" b="1">
                <a:solidFill>
                  <a:srgbClr val="CC0000"/>
                </a:solidFill>
                <a:latin typeface="Proxima Nova"/>
                <a:ea typeface="Proxima Nova"/>
                <a:cs typeface="Proxima Nova"/>
                <a:sym typeface="Proxima Nova"/>
              </a:rPr>
            </a:br>
            <a:r>
              <a:rPr lang="pt-BR" sz="1793" b="1">
                <a:solidFill>
                  <a:srgbClr val="CC0000"/>
                </a:solidFill>
                <a:latin typeface="Proxima Nova"/>
                <a:ea typeface="Proxima Nova"/>
                <a:cs typeface="Proxima Nova"/>
                <a:sym typeface="Proxima Nova"/>
              </a:rPr>
              <a:t>- Cell Ranger</a:t>
            </a:r>
            <a:br>
              <a:rPr lang="pt-BR" sz="1793" b="1">
                <a:solidFill>
                  <a:srgbClr val="CC0000"/>
                </a:solidFill>
                <a:latin typeface="Proxima Nova"/>
                <a:ea typeface="Proxima Nova"/>
                <a:cs typeface="Proxima Nova"/>
                <a:sym typeface="Proxima Nova"/>
              </a:rPr>
            </a:br>
            <a:r>
              <a:rPr lang="pt-BR" sz="1793" b="1">
                <a:solidFill>
                  <a:srgbClr val="CC0000"/>
                </a:solidFill>
                <a:latin typeface="Proxima Nova"/>
                <a:ea typeface="Proxima Nova"/>
                <a:cs typeface="Proxima Nova"/>
                <a:sym typeface="Proxima Nova"/>
              </a:rPr>
              <a:t>- </a:t>
            </a:r>
            <a:r>
              <a:rPr lang="pt-BR" sz="1793" b="1" u="sng">
                <a:solidFill>
                  <a:schemeClr val="hlink"/>
                </a:solidFill>
                <a:latin typeface="Proxima Nova"/>
                <a:ea typeface="Proxima Nova"/>
                <a:cs typeface="Proxima Nova"/>
                <a:sym typeface="Proxima Nova"/>
                <a:hlinkClick r:id="rId5"/>
              </a:rPr>
              <a:t>Space Ranger</a:t>
            </a:r>
            <a:endParaRPr sz="1793" b="1" i="0" u="none" strike="noStrike" cap="none">
              <a:solidFill>
                <a:srgbClr val="CC0000"/>
              </a:solidFill>
              <a:latin typeface="Proxima Nova"/>
              <a:ea typeface="Proxima Nova"/>
              <a:cs typeface="Proxima Nova"/>
              <a:sym typeface="Proxima Nov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2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625"/>
        <p:cNvGrpSpPr/>
        <p:nvPr/>
      </p:nvGrpSpPr>
      <p:grpSpPr>
        <a:xfrm>
          <a:off x="0" y="0"/>
          <a:ext cx="0" cy="0"/>
          <a:chOff x="0" y="0"/>
          <a:chExt cx="0" cy="0"/>
        </a:xfrm>
      </p:grpSpPr>
      <p:sp>
        <p:nvSpPr>
          <p:cNvPr id="626" name="Google Shape;626;p41"/>
          <p:cNvSpPr txBox="1">
            <a:spLocks noGrp="1"/>
          </p:cNvSpPr>
          <p:nvPr>
            <p:ph type="title"/>
          </p:nvPr>
        </p:nvSpPr>
        <p:spPr>
          <a:xfrm>
            <a:off x="311700" y="140225"/>
            <a:ext cx="84912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sz="2000"/>
              <a:t>Passos da </a:t>
            </a:r>
            <a:r>
              <a:rPr lang="pt-BR" sz="2000" b="1"/>
              <a:t>análise de dados</a:t>
            </a:r>
            <a:r>
              <a:rPr lang="pt-BR" sz="2000"/>
              <a:t> de transcriptômica de alta resolução</a:t>
            </a:r>
            <a:endParaRPr/>
          </a:p>
        </p:txBody>
      </p:sp>
      <p:grpSp>
        <p:nvGrpSpPr>
          <p:cNvPr id="627" name="Google Shape;627;p41"/>
          <p:cNvGrpSpPr/>
          <p:nvPr/>
        </p:nvGrpSpPr>
        <p:grpSpPr>
          <a:xfrm>
            <a:off x="105699" y="756925"/>
            <a:ext cx="5336026" cy="731700"/>
            <a:chOff x="710674" y="1323175"/>
            <a:chExt cx="5336026" cy="731700"/>
          </a:xfrm>
        </p:grpSpPr>
        <p:sp>
          <p:nvSpPr>
            <p:cNvPr id="628" name="Google Shape;628;p41"/>
            <p:cNvSpPr txBox="1"/>
            <p:nvPr/>
          </p:nvSpPr>
          <p:spPr>
            <a:xfrm>
              <a:off x="710674" y="1373350"/>
              <a:ext cx="2004300" cy="629700"/>
            </a:xfrm>
            <a:prstGeom prst="rect">
              <a:avLst/>
            </a:prstGeom>
            <a:noFill/>
            <a:ln>
              <a:noFill/>
            </a:ln>
          </p:spPr>
          <p:txBody>
            <a:bodyPr spcFirstLastPara="1" wrap="square" lIns="91425" tIns="45700" rIns="91425" bIns="45700" anchor="ctr" anchorCtr="0">
              <a:noAutofit/>
            </a:bodyPr>
            <a:lstStyle/>
            <a:p>
              <a:pPr marL="0" marR="0" lvl="0" indent="0" algn="r" rtl="0">
                <a:lnSpc>
                  <a:spcPct val="90000"/>
                </a:lnSpc>
                <a:spcBef>
                  <a:spcPts val="0"/>
                </a:spcBef>
                <a:spcAft>
                  <a:spcPts val="0"/>
                </a:spcAft>
                <a:buClr>
                  <a:srgbClr val="000000"/>
                </a:buClr>
                <a:buSzPts val="1600"/>
                <a:buFont typeface="Arial"/>
                <a:buNone/>
              </a:pPr>
              <a:r>
                <a:rPr lang="pt-BR" sz="1600" b="1" i="0" u="none" strike="noStrike" cap="none">
                  <a:solidFill>
                    <a:schemeClr val="dk1"/>
                  </a:solidFill>
                  <a:latin typeface="Proxima Nova"/>
                  <a:ea typeface="Proxima Nova"/>
                  <a:cs typeface="Proxima Nova"/>
                  <a:sym typeface="Proxima Nova"/>
                </a:rPr>
                <a:t>Preparo da matriz de </a:t>
              </a:r>
              <a:r>
                <a:rPr lang="pt-BR" sz="1600" b="1" i="1" u="none" strike="noStrike" cap="none">
                  <a:solidFill>
                    <a:schemeClr val="dk1"/>
                  </a:solidFill>
                  <a:latin typeface="Proxima Nova"/>
                  <a:ea typeface="Proxima Nova"/>
                  <a:cs typeface="Proxima Nova"/>
                  <a:sym typeface="Proxima Nova"/>
                </a:rPr>
                <a:t>counts</a:t>
              </a:r>
              <a:endParaRPr sz="1600" b="1" i="1" u="none" strike="noStrike" cap="none">
                <a:solidFill>
                  <a:schemeClr val="dk1"/>
                </a:solidFill>
                <a:latin typeface="Proxima Nova"/>
                <a:ea typeface="Proxima Nova"/>
                <a:cs typeface="Proxima Nova"/>
                <a:sym typeface="Proxima Nova"/>
              </a:endParaRPr>
            </a:p>
          </p:txBody>
        </p:sp>
        <p:sp>
          <p:nvSpPr>
            <p:cNvPr id="629" name="Google Shape;629;p41"/>
            <p:cNvSpPr/>
            <p:nvPr/>
          </p:nvSpPr>
          <p:spPr>
            <a:xfrm>
              <a:off x="2789775" y="1323175"/>
              <a:ext cx="3256800" cy="731700"/>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roxima Nova"/>
                <a:ea typeface="Proxima Nova"/>
                <a:cs typeface="Proxima Nova"/>
                <a:sym typeface="Proxima Nova"/>
              </a:endParaRPr>
            </a:p>
          </p:txBody>
        </p:sp>
        <p:sp>
          <p:nvSpPr>
            <p:cNvPr id="630" name="Google Shape;630;p41"/>
            <p:cNvSpPr txBox="1"/>
            <p:nvPr/>
          </p:nvSpPr>
          <p:spPr>
            <a:xfrm>
              <a:off x="2914400" y="1407450"/>
              <a:ext cx="3132300" cy="575400"/>
            </a:xfrm>
            <a:prstGeom prst="rect">
              <a:avLst/>
            </a:prstGeom>
            <a:no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Clr>
                  <a:srgbClr val="000000"/>
                </a:buClr>
                <a:buSzPts val="1400"/>
                <a:buFont typeface="Arial"/>
                <a:buNone/>
              </a:pPr>
              <a:r>
                <a:rPr lang="pt-BR" sz="1400" b="0" i="1" u="none" strike="noStrike" cap="none">
                  <a:solidFill>
                    <a:schemeClr val="dk1"/>
                  </a:solidFill>
                  <a:latin typeface="Proxima Nova"/>
                  <a:ea typeface="Proxima Nova"/>
                  <a:cs typeface="Proxima Nova"/>
                  <a:sym typeface="Proxima Nova"/>
                </a:rPr>
                <a:t>Trimming</a:t>
              </a:r>
              <a:r>
                <a:rPr lang="pt-BR" sz="1400" b="0" i="0" u="none" strike="noStrike" cap="none">
                  <a:solidFill>
                    <a:schemeClr val="dk1"/>
                  </a:solidFill>
                  <a:latin typeface="Proxima Nova"/>
                  <a:ea typeface="Proxima Nova"/>
                  <a:cs typeface="Proxima Nova"/>
                  <a:sym typeface="Proxima Nova"/>
                </a:rPr>
                <a:t>, controle de qualidade, alinhamento, contagem.</a:t>
              </a:r>
              <a:endParaRPr sz="1400" b="0" i="0" u="none" strike="noStrike" cap="none">
                <a:solidFill>
                  <a:schemeClr val="dk1"/>
                </a:solidFill>
                <a:latin typeface="Proxima Nova"/>
                <a:ea typeface="Proxima Nova"/>
                <a:cs typeface="Proxima Nova"/>
                <a:sym typeface="Proxima Nova"/>
              </a:endParaRPr>
            </a:p>
          </p:txBody>
        </p:sp>
      </p:grpSp>
      <p:sp>
        <p:nvSpPr>
          <p:cNvPr id="631" name="Google Shape;631;p41"/>
          <p:cNvSpPr txBox="1">
            <a:spLocks noGrp="1"/>
          </p:cNvSpPr>
          <p:nvPr>
            <p:ph type="body" idx="1"/>
          </p:nvPr>
        </p:nvSpPr>
        <p:spPr>
          <a:xfrm>
            <a:off x="733200" y="1520396"/>
            <a:ext cx="7498800" cy="3044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pt-BR" sz="1400" b="1">
                <a:solidFill>
                  <a:schemeClr val="dk1"/>
                </a:solidFill>
              </a:rPr>
              <a:t>Pré contagem</a:t>
            </a:r>
            <a:r>
              <a:rPr lang="pt-BR" sz="1400">
                <a:solidFill>
                  <a:schemeClr val="dk1"/>
                </a:solidFill>
              </a:rPr>
              <a:t>:</a:t>
            </a:r>
            <a:endParaRPr sz="1400">
              <a:solidFill>
                <a:schemeClr val="dk1"/>
              </a:solidFill>
            </a:endParaRPr>
          </a:p>
          <a:p>
            <a:pPr marL="0" lvl="0" indent="0" algn="l" rtl="0">
              <a:lnSpc>
                <a:spcPct val="115000"/>
              </a:lnSpc>
              <a:spcBef>
                <a:spcPts val="1600"/>
              </a:spcBef>
              <a:spcAft>
                <a:spcPts val="0"/>
              </a:spcAft>
              <a:buSzPts val="1800"/>
              <a:buNone/>
            </a:pPr>
            <a:r>
              <a:rPr lang="pt-BR" sz="1400">
                <a:solidFill>
                  <a:schemeClr val="dk1"/>
                </a:solidFill>
              </a:rPr>
              <a:t>As transcriptômicas de alta resolução demandam </a:t>
            </a:r>
            <a:r>
              <a:rPr lang="pt-BR" sz="1400" b="1">
                <a:solidFill>
                  <a:schemeClr val="dk1"/>
                </a:solidFill>
              </a:rPr>
              <a:t>demultiplexação por barcodes</a:t>
            </a:r>
            <a:r>
              <a:rPr lang="pt-BR" sz="1400">
                <a:solidFill>
                  <a:schemeClr val="dk1"/>
                </a:solidFill>
              </a:rPr>
              <a:t> e </a:t>
            </a:r>
            <a:r>
              <a:rPr lang="pt-BR" sz="1400" b="1">
                <a:solidFill>
                  <a:schemeClr val="dk1"/>
                </a:solidFill>
              </a:rPr>
              <a:t>deduplicação por UMI (Unique Molecular Identifier)</a:t>
            </a:r>
            <a:r>
              <a:rPr lang="pt-BR" sz="1400">
                <a:solidFill>
                  <a:schemeClr val="dk1"/>
                </a:solidFill>
              </a:rPr>
              <a:t> — inexistentes no bulk.</a:t>
            </a:r>
            <a:endParaRPr sz="1400">
              <a:solidFill>
                <a:schemeClr val="dk1"/>
              </a:solidFill>
            </a:endParaRPr>
          </a:p>
          <a:p>
            <a:pPr marL="457200" lvl="0" indent="-317500" algn="l" rtl="0">
              <a:lnSpc>
                <a:spcPct val="115000"/>
              </a:lnSpc>
              <a:spcBef>
                <a:spcPts val="1600"/>
              </a:spcBef>
              <a:spcAft>
                <a:spcPts val="0"/>
              </a:spcAft>
              <a:buClr>
                <a:schemeClr val="dk1"/>
              </a:buClr>
              <a:buSzPts val="1400"/>
              <a:buAutoNum type="arabicPeriod"/>
            </a:pPr>
            <a:r>
              <a:rPr lang="pt-BR" sz="1400" b="1">
                <a:solidFill>
                  <a:schemeClr val="dk1"/>
                </a:solidFill>
              </a:rPr>
              <a:t>Barcodes celulares</a:t>
            </a:r>
            <a:r>
              <a:rPr lang="pt-BR" sz="1400">
                <a:solidFill>
                  <a:schemeClr val="dk1"/>
                </a:solidFill>
              </a:rPr>
              <a:t>: para identificar a célula de origem.</a:t>
            </a:r>
            <a:endParaRPr sz="1400">
              <a:solidFill>
                <a:schemeClr val="dk1"/>
              </a:solidFill>
            </a:endParaRPr>
          </a:p>
          <a:p>
            <a:pPr marL="457200" lvl="0" indent="-317500" algn="l" rtl="0">
              <a:lnSpc>
                <a:spcPct val="115000"/>
              </a:lnSpc>
              <a:spcBef>
                <a:spcPts val="0"/>
              </a:spcBef>
              <a:spcAft>
                <a:spcPts val="0"/>
              </a:spcAft>
              <a:buClr>
                <a:schemeClr val="dk1"/>
              </a:buClr>
              <a:buSzPts val="1400"/>
              <a:buAutoNum type="arabicPeriod"/>
            </a:pPr>
            <a:r>
              <a:rPr lang="pt-BR" sz="1400" b="1">
                <a:solidFill>
                  <a:schemeClr val="dk1"/>
                </a:solidFill>
              </a:rPr>
              <a:t>UMIs (Unique Molecular Identifiers)</a:t>
            </a:r>
            <a:r>
              <a:rPr lang="pt-BR" sz="1400">
                <a:solidFill>
                  <a:schemeClr val="dk1"/>
                </a:solidFill>
              </a:rPr>
              <a:t>: para evitar contagens infladas por PCR.</a:t>
            </a:r>
            <a:endParaRPr sz="1400">
              <a:solidFill>
                <a:schemeClr val="dk1"/>
              </a:solidFill>
            </a:endParaRPr>
          </a:p>
        </p:txBody>
      </p:sp>
      <p:pic>
        <p:nvPicPr>
          <p:cNvPr id="632" name="Google Shape;632;p41"/>
          <p:cNvPicPr preferRelativeResize="0"/>
          <p:nvPr/>
        </p:nvPicPr>
        <p:blipFill rotWithShape="1">
          <a:blip r:embed="rId3">
            <a:alphaModFix/>
          </a:blip>
          <a:srcRect l="34089" t="43089" b="15428"/>
          <a:stretch/>
        </p:blipFill>
        <p:spPr>
          <a:xfrm>
            <a:off x="733200" y="3422625"/>
            <a:ext cx="5409549" cy="1296763"/>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36"/>
        <p:cNvGrpSpPr/>
        <p:nvPr/>
      </p:nvGrpSpPr>
      <p:grpSpPr>
        <a:xfrm>
          <a:off x="0" y="0"/>
          <a:ext cx="0" cy="0"/>
          <a:chOff x="0" y="0"/>
          <a:chExt cx="0" cy="0"/>
        </a:xfrm>
      </p:grpSpPr>
      <p:sp>
        <p:nvSpPr>
          <p:cNvPr id="637" name="Google Shape;637;g3fa37cb035d_0_41"/>
          <p:cNvSpPr txBox="1">
            <a:spLocks noGrp="1"/>
          </p:cNvSpPr>
          <p:nvPr>
            <p:ph type="title"/>
          </p:nvPr>
        </p:nvSpPr>
        <p:spPr>
          <a:xfrm>
            <a:off x="311700" y="140225"/>
            <a:ext cx="84912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sz="2000"/>
              <a:t>Passos da </a:t>
            </a:r>
            <a:r>
              <a:rPr lang="pt-BR" sz="2000" b="1"/>
              <a:t>análise de dados</a:t>
            </a:r>
            <a:r>
              <a:rPr lang="pt-BR" sz="2000"/>
              <a:t> de transcriptômica de alta resolução</a:t>
            </a:r>
            <a:endParaRPr/>
          </a:p>
        </p:txBody>
      </p:sp>
      <p:grpSp>
        <p:nvGrpSpPr>
          <p:cNvPr id="638" name="Google Shape;638;g3fa37cb035d_0_41"/>
          <p:cNvGrpSpPr/>
          <p:nvPr/>
        </p:nvGrpSpPr>
        <p:grpSpPr>
          <a:xfrm>
            <a:off x="105699" y="756925"/>
            <a:ext cx="5336026" cy="731700"/>
            <a:chOff x="710674" y="1323175"/>
            <a:chExt cx="5336026" cy="731700"/>
          </a:xfrm>
        </p:grpSpPr>
        <p:sp>
          <p:nvSpPr>
            <p:cNvPr id="639" name="Google Shape;639;g3fa37cb035d_0_41"/>
            <p:cNvSpPr txBox="1"/>
            <p:nvPr/>
          </p:nvSpPr>
          <p:spPr>
            <a:xfrm>
              <a:off x="710674" y="1373350"/>
              <a:ext cx="2004300" cy="629700"/>
            </a:xfrm>
            <a:prstGeom prst="rect">
              <a:avLst/>
            </a:prstGeom>
            <a:noFill/>
            <a:ln>
              <a:noFill/>
            </a:ln>
          </p:spPr>
          <p:txBody>
            <a:bodyPr spcFirstLastPara="1" wrap="square" lIns="91425" tIns="45700" rIns="91425" bIns="45700" anchor="ctr" anchorCtr="0">
              <a:noAutofit/>
            </a:bodyPr>
            <a:lstStyle/>
            <a:p>
              <a:pPr marL="0" marR="0" lvl="0" indent="0" algn="r" rtl="0">
                <a:lnSpc>
                  <a:spcPct val="90000"/>
                </a:lnSpc>
                <a:spcBef>
                  <a:spcPts val="0"/>
                </a:spcBef>
                <a:spcAft>
                  <a:spcPts val="0"/>
                </a:spcAft>
                <a:buClr>
                  <a:srgbClr val="000000"/>
                </a:buClr>
                <a:buSzPts val="1600"/>
                <a:buFont typeface="Arial"/>
                <a:buNone/>
              </a:pPr>
              <a:r>
                <a:rPr lang="pt-BR" sz="1600" b="1" i="0" u="none" strike="noStrike" cap="none">
                  <a:solidFill>
                    <a:schemeClr val="dk1"/>
                  </a:solidFill>
                  <a:latin typeface="Proxima Nova"/>
                  <a:ea typeface="Proxima Nova"/>
                  <a:cs typeface="Proxima Nova"/>
                  <a:sym typeface="Proxima Nova"/>
                </a:rPr>
                <a:t>Preparo da matriz de </a:t>
              </a:r>
              <a:r>
                <a:rPr lang="pt-BR" sz="1600" b="1" i="1" u="none" strike="noStrike" cap="none">
                  <a:solidFill>
                    <a:schemeClr val="dk1"/>
                  </a:solidFill>
                  <a:latin typeface="Proxima Nova"/>
                  <a:ea typeface="Proxima Nova"/>
                  <a:cs typeface="Proxima Nova"/>
                  <a:sym typeface="Proxima Nova"/>
                </a:rPr>
                <a:t>counts</a:t>
              </a:r>
              <a:endParaRPr sz="1600" b="1" i="1" u="none" strike="noStrike" cap="none">
                <a:solidFill>
                  <a:schemeClr val="dk1"/>
                </a:solidFill>
                <a:latin typeface="Proxima Nova"/>
                <a:ea typeface="Proxima Nova"/>
                <a:cs typeface="Proxima Nova"/>
                <a:sym typeface="Proxima Nova"/>
              </a:endParaRPr>
            </a:p>
          </p:txBody>
        </p:sp>
        <p:sp>
          <p:nvSpPr>
            <p:cNvPr id="640" name="Google Shape;640;g3fa37cb035d_0_41"/>
            <p:cNvSpPr/>
            <p:nvPr/>
          </p:nvSpPr>
          <p:spPr>
            <a:xfrm>
              <a:off x="2789775" y="1323175"/>
              <a:ext cx="3256800" cy="731700"/>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roxima Nova"/>
                <a:ea typeface="Proxima Nova"/>
                <a:cs typeface="Proxima Nova"/>
                <a:sym typeface="Proxima Nova"/>
              </a:endParaRPr>
            </a:p>
          </p:txBody>
        </p:sp>
        <p:sp>
          <p:nvSpPr>
            <p:cNvPr id="641" name="Google Shape;641;g3fa37cb035d_0_41"/>
            <p:cNvSpPr txBox="1"/>
            <p:nvPr/>
          </p:nvSpPr>
          <p:spPr>
            <a:xfrm>
              <a:off x="2914400" y="1407450"/>
              <a:ext cx="3132300" cy="575400"/>
            </a:xfrm>
            <a:prstGeom prst="rect">
              <a:avLst/>
            </a:prstGeom>
            <a:no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Clr>
                  <a:srgbClr val="000000"/>
                </a:buClr>
                <a:buSzPts val="1400"/>
                <a:buFont typeface="Arial"/>
                <a:buNone/>
              </a:pPr>
              <a:r>
                <a:rPr lang="pt-BR" sz="1400" b="0" i="1" u="none" strike="noStrike" cap="none">
                  <a:solidFill>
                    <a:schemeClr val="dk1"/>
                  </a:solidFill>
                  <a:latin typeface="Proxima Nova"/>
                  <a:ea typeface="Proxima Nova"/>
                  <a:cs typeface="Proxima Nova"/>
                  <a:sym typeface="Proxima Nova"/>
                </a:rPr>
                <a:t>Trimming</a:t>
              </a:r>
              <a:r>
                <a:rPr lang="pt-BR" sz="1400" b="0" i="0" u="none" strike="noStrike" cap="none">
                  <a:solidFill>
                    <a:schemeClr val="dk1"/>
                  </a:solidFill>
                  <a:latin typeface="Proxima Nova"/>
                  <a:ea typeface="Proxima Nova"/>
                  <a:cs typeface="Proxima Nova"/>
                  <a:sym typeface="Proxima Nova"/>
                </a:rPr>
                <a:t>, controle de qualidade, alinhamento, contagem.</a:t>
              </a:r>
              <a:endParaRPr sz="1400" b="0" i="0" u="none" strike="noStrike" cap="none">
                <a:solidFill>
                  <a:schemeClr val="dk1"/>
                </a:solidFill>
                <a:latin typeface="Proxima Nova"/>
                <a:ea typeface="Proxima Nova"/>
                <a:cs typeface="Proxima Nova"/>
                <a:sym typeface="Proxima Nova"/>
              </a:endParaRPr>
            </a:p>
          </p:txBody>
        </p:sp>
      </p:grpSp>
      <p:sp>
        <p:nvSpPr>
          <p:cNvPr id="642" name="Google Shape;642;g3fa37cb035d_0_41"/>
          <p:cNvSpPr txBox="1">
            <a:spLocks noGrp="1"/>
          </p:cNvSpPr>
          <p:nvPr>
            <p:ph type="body" idx="1"/>
          </p:nvPr>
        </p:nvSpPr>
        <p:spPr>
          <a:xfrm>
            <a:off x="733200" y="1520396"/>
            <a:ext cx="7498800" cy="3044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pt-BR" sz="1400" b="1">
                <a:solidFill>
                  <a:schemeClr val="dk1"/>
                </a:solidFill>
              </a:rPr>
              <a:t>Pré contagem</a:t>
            </a:r>
            <a:r>
              <a:rPr lang="pt-BR" sz="1400">
                <a:solidFill>
                  <a:schemeClr val="dk1"/>
                </a:solidFill>
              </a:rPr>
              <a:t>:</a:t>
            </a:r>
            <a:endParaRPr sz="1400">
              <a:solidFill>
                <a:schemeClr val="dk1"/>
              </a:solidFill>
            </a:endParaRPr>
          </a:p>
          <a:p>
            <a:pPr marL="0" lvl="0" indent="0" algn="l" rtl="0">
              <a:lnSpc>
                <a:spcPct val="115000"/>
              </a:lnSpc>
              <a:spcBef>
                <a:spcPts val="1600"/>
              </a:spcBef>
              <a:spcAft>
                <a:spcPts val="0"/>
              </a:spcAft>
              <a:buSzPts val="1800"/>
              <a:buNone/>
            </a:pPr>
            <a:r>
              <a:rPr lang="pt-BR" sz="1400">
                <a:solidFill>
                  <a:schemeClr val="dk1"/>
                </a:solidFill>
              </a:rPr>
              <a:t>As transcriptômicas de alta resolução demandam </a:t>
            </a:r>
            <a:r>
              <a:rPr lang="pt-BR" sz="1400" b="1">
                <a:solidFill>
                  <a:schemeClr val="dk1"/>
                </a:solidFill>
              </a:rPr>
              <a:t>demultiplexação por barcodes</a:t>
            </a:r>
            <a:r>
              <a:rPr lang="pt-BR" sz="1400">
                <a:solidFill>
                  <a:schemeClr val="dk1"/>
                </a:solidFill>
              </a:rPr>
              <a:t> e </a:t>
            </a:r>
            <a:r>
              <a:rPr lang="pt-BR" sz="1400" b="1">
                <a:solidFill>
                  <a:schemeClr val="dk1"/>
                </a:solidFill>
              </a:rPr>
              <a:t>deduplicação por UMI (Unique Molecular Identifier)</a:t>
            </a:r>
            <a:r>
              <a:rPr lang="pt-BR" sz="1400">
                <a:solidFill>
                  <a:schemeClr val="dk1"/>
                </a:solidFill>
              </a:rPr>
              <a:t> — inexistentes no bulk.</a:t>
            </a:r>
            <a:endParaRPr sz="1400">
              <a:solidFill>
                <a:schemeClr val="dk1"/>
              </a:solidFill>
            </a:endParaRPr>
          </a:p>
          <a:p>
            <a:pPr marL="457200" lvl="0" indent="-317500" algn="l" rtl="0">
              <a:lnSpc>
                <a:spcPct val="115000"/>
              </a:lnSpc>
              <a:spcBef>
                <a:spcPts val="1600"/>
              </a:spcBef>
              <a:spcAft>
                <a:spcPts val="0"/>
              </a:spcAft>
              <a:buClr>
                <a:schemeClr val="dk1"/>
              </a:buClr>
              <a:buSzPts val="1400"/>
              <a:buAutoNum type="arabicPeriod"/>
            </a:pPr>
            <a:r>
              <a:rPr lang="pt-BR" sz="1400" b="1">
                <a:solidFill>
                  <a:schemeClr val="dk1"/>
                </a:solidFill>
              </a:rPr>
              <a:t>Barcodes celulares</a:t>
            </a:r>
            <a:r>
              <a:rPr lang="pt-BR" sz="1400">
                <a:solidFill>
                  <a:schemeClr val="dk1"/>
                </a:solidFill>
              </a:rPr>
              <a:t>: para identificar a célula de origem.</a:t>
            </a:r>
            <a:endParaRPr sz="1400">
              <a:solidFill>
                <a:schemeClr val="dk1"/>
              </a:solidFill>
            </a:endParaRPr>
          </a:p>
          <a:p>
            <a:pPr marL="457200" lvl="0" indent="-317500" algn="l" rtl="0">
              <a:lnSpc>
                <a:spcPct val="115000"/>
              </a:lnSpc>
              <a:spcBef>
                <a:spcPts val="0"/>
              </a:spcBef>
              <a:spcAft>
                <a:spcPts val="0"/>
              </a:spcAft>
              <a:buClr>
                <a:schemeClr val="dk1"/>
              </a:buClr>
              <a:buSzPts val="1400"/>
              <a:buAutoNum type="arabicPeriod"/>
            </a:pPr>
            <a:r>
              <a:rPr lang="pt-BR" sz="1400" b="1">
                <a:solidFill>
                  <a:schemeClr val="dk1"/>
                </a:solidFill>
              </a:rPr>
              <a:t>UMIs (Unique Molecular Identifiers)</a:t>
            </a:r>
            <a:r>
              <a:rPr lang="pt-BR" sz="1400">
                <a:solidFill>
                  <a:schemeClr val="dk1"/>
                </a:solidFill>
              </a:rPr>
              <a:t>: para evitar contagens infladas por PCR.</a:t>
            </a:r>
            <a:endParaRPr sz="1400">
              <a:solidFill>
                <a:schemeClr val="dk1"/>
              </a:solidFill>
            </a:endParaRPr>
          </a:p>
        </p:txBody>
      </p:sp>
      <p:sp>
        <p:nvSpPr>
          <p:cNvPr id="643" name="Google Shape;643;g3fa37cb035d_0_41"/>
          <p:cNvSpPr txBox="1"/>
          <p:nvPr/>
        </p:nvSpPr>
        <p:spPr>
          <a:xfrm>
            <a:off x="6226825" y="3340950"/>
            <a:ext cx="2764800" cy="621000"/>
          </a:xfrm>
          <a:prstGeom prst="rect">
            <a:avLst/>
          </a:prstGeom>
          <a:noFill/>
          <a:ln>
            <a:noFill/>
          </a:ln>
        </p:spPr>
        <p:txBody>
          <a:bodyPr spcFirstLastPara="1" wrap="square" lIns="68275" tIns="34125" rIns="68275" bIns="34125" anchor="t" anchorCtr="0">
            <a:spAutoFit/>
          </a:bodyPr>
          <a:lstStyle/>
          <a:p>
            <a:pPr marL="0" marR="0" lvl="0" indent="0" algn="l" rtl="0">
              <a:lnSpc>
                <a:spcPct val="100000"/>
              </a:lnSpc>
              <a:spcBef>
                <a:spcPts val="0"/>
              </a:spcBef>
              <a:spcAft>
                <a:spcPts val="0"/>
              </a:spcAft>
              <a:buClr>
                <a:srgbClr val="000000"/>
              </a:buClr>
              <a:buSzPts val="1793"/>
              <a:buFont typeface="Arial"/>
              <a:buNone/>
            </a:pPr>
            <a:r>
              <a:rPr lang="pt-BR" sz="1793" b="1">
                <a:latin typeface="Proxima Nova"/>
                <a:ea typeface="Proxima Nova"/>
                <a:cs typeface="Proxima Nova"/>
                <a:sym typeface="Proxima Nova"/>
              </a:rPr>
              <a:t>Caso queira ler mais:</a:t>
            </a:r>
            <a:endParaRPr sz="1793" b="1">
              <a:latin typeface="Proxima Nova"/>
              <a:ea typeface="Proxima Nova"/>
              <a:cs typeface="Proxima Nova"/>
              <a:sym typeface="Proxima Nova"/>
            </a:endParaRPr>
          </a:p>
          <a:p>
            <a:pPr marL="0" marR="0" lvl="0" indent="0" algn="l" rtl="0">
              <a:lnSpc>
                <a:spcPct val="100000"/>
              </a:lnSpc>
              <a:spcBef>
                <a:spcPts val="0"/>
              </a:spcBef>
              <a:spcAft>
                <a:spcPts val="0"/>
              </a:spcAft>
              <a:buClr>
                <a:srgbClr val="000000"/>
              </a:buClr>
              <a:buSzPts val="1793"/>
              <a:buFont typeface="Arial"/>
              <a:buNone/>
            </a:pPr>
            <a:endParaRPr sz="1793" b="1">
              <a:latin typeface="Proxima Nova"/>
              <a:ea typeface="Proxima Nova"/>
              <a:cs typeface="Proxima Nova"/>
              <a:sym typeface="Proxima Nova"/>
            </a:endParaRPr>
          </a:p>
        </p:txBody>
      </p:sp>
      <p:pic>
        <p:nvPicPr>
          <p:cNvPr id="644" name="Google Shape;644;g3fa37cb035d_0_41"/>
          <p:cNvPicPr preferRelativeResize="0"/>
          <p:nvPr/>
        </p:nvPicPr>
        <p:blipFill rotWithShape="1">
          <a:blip r:embed="rId3">
            <a:alphaModFix/>
          </a:blip>
          <a:srcRect/>
          <a:stretch/>
        </p:blipFill>
        <p:spPr>
          <a:xfrm>
            <a:off x="6302125" y="3774725"/>
            <a:ext cx="531525" cy="510823"/>
          </a:xfrm>
          <a:prstGeom prst="rect">
            <a:avLst/>
          </a:prstGeom>
          <a:noFill/>
          <a:ln>
            <a:noFill/>
          </a:ln>
        </p:spPr>
      </p:pic>
      <p:sp>
        <p:nvSpPr>
          <p:cNvPr id="645" name="Google Shape;645;g3fa37cb035d_0_41"/>
          <p:cNvSpPr txBox="1"/>
          <p:nvPr/>
        </p:nvSpPr>
        <p:spPr>
          <a:xfrm>
            <a:off x="6833650" y="3708350"/>
            <a:ext cx="2157900" cy="1200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pt-BR" sz="1100" b="1">
                <a:latin typeface="Proxima Nova"/>
                <a:ea typeface="Proxima Nova"/>
                <a:cs typeface="Proxima Nova"/>
                <a:sym typeface="Proxima Nova"/>
              </a:rPr>
              <a:t>Reads to countos. OSTA, Bioconductor</a:t>
            </a:r>
            <a:endParaRPr sz="1100" b="1" i="0" u="none" strike="noStrike" cap="none">
              <a:solidFill>
                <a:srgbClr val="000000"/>
              </a:solidFill>
              <a:latin typeface="Proxima Nova"/>
              <a:ea typeface="Proxima Nova"/>
              <a:cs typeface="Proxima Nova"/>
              <a:sym typeface="Proxima Nova"/>
            </a:endParaRPr>
          </a:p>
          <a:p>
            <a:pPr marL="0" marR="0" lvl="0" indent="0" algn="l" rtl="0">
              <a:lnSpc>
                <a:spcPct val="100000"/>
              </a:lnSpc>
              <a:spcBef>
                <a:spcPts val="0"/>
              </a:spcBef>
              <a:spcAft>
                <a:spcPts val="0"/>
              </a:spcAft>
              <a:buClr>
                <a:srgbClr val="000000"/>
              </a:buClr>
              <a:buSzPts val="1100"/>
              <a:buFont typeface="Arial"/>
              <a:buNone/>
            </a:pPr>
            <a:r>
              <a:rPr lang="pt-BR" sz="1100">
                <a:latin typeface="Proxima Nova"/>
                <a:ea typeface="Proxima Nova"/>
                <a:cs typeface="Proxima Nova"/>
                <a:sym typeface="Proxima Nova"/>
              </a:rPr>
              <a:t>https://bioconductor.org/books/3.22/OSTA/pages/seq-reads-to-counts.html</a:t>
            </a:r>
            <a:endParaRPr sz="1100" b="0" i="0" u="none" strike="noStrike" cap="none">
              <a:solidFill>
                <a:srgbClr val="000000"/>
              </a:solidFill>
              <a:latin typeface="Proxima Nova"/>
              <a:ea typeface="Proxima Nova"/>
              <a:cs typeface="Proxima Nova"/>
              <a:sym typeface="Proxima Nova"/>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Proxima Nova"/>
              <a:ea typeface="Proxima Nova"/>
              <a:cs typeface="Proxima Nova"/>
              <a:sym typeface="Proxima Nova"/>
            </a:endParaRPr>
          </a:p>
        </p:txBody>
      </p:sp>
      <p:pic>
        <p:nvPicPr>
          <p:cNvPr id="646" name="Google Shape;646;g3fa37cb035d_0_41"/>
          <p:cNvPicPr preferRelativeResize="0"/>
          <p:nvPr/>
        </p:nvPicPr>
        <p:blipFill rotWithShape="1">
          <a:blip r:embed="rId4">
            <a:alphaModFix/>
          </a:blip>
          <a:srcRect l="34089" t="43089" b="15428"/>
          <a:stretch/>
        </p:blipFill>
        <p:spPr>
          <a:xfrm>
            <a:off x="733200" y="3422625"/>
            <a:ext cx="5409549" cy="1296763"/>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42"/>
          <p:cNvSpPr txBox="1">
            <a:spLocks noGrp="1"/>
          </p:cNvSpPr>
          <p:nvPr>
            <p:ph type="title"/>
          </p:nvPr>
        </p:nvSpPr>
        <p:spPr>
          <a:xfrm>
            <a:off x="311700" y="140225"/>
            <a:ext cx="84912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sz="2000"/>
              <a:t>Passos da </a:t>
            </a:r>
            <a:r>
              <a:rPr lang="pt-BR" sz="2000" b="1"/>
              <a:t>análise de dados</a:t>
            </a:r>
            <a:r>
              <a:rPr lang="pt-BR" sz="2000"/>
              <a:t> de transcriptômica de alta resolução</a:t>
            </a:r>
            <a:endParaRPr/>
          </a:p>
        </p:txBody>
      </p:sp>
      <p:grpSp>
        <p:nvGrpSpPr>
          <p:cNvPr id="652" name="Google Shape;652;p42"/>
          <p:cNvGrpSpPr/>
          <p:nvPr/>
        </p:nvGrpSpPr>
        <p:grpSpPr>
          <a:xfrm>
            <a:off x="105699" y="756925"/>
            <a:ext cx="5336026" cy="731700"/>
            <a:chOff x="710674" y="1323175"/>
            <a:chExt cx="5336026" cy="731700"/>
          </a:xfrm>
        </p:grpSpPr>
        <p:sp>
          <p:nvSpPr>
            <p:cNvPr id="653" name="Google Shape;653;p42"/>
            <p:cNvSpPr txBox="1"/>
            <p:nvPr/>
          </p:nvSpPr>
          <p:spPr>
            <a:xfrm>
              <a:off x="710674" y="1373350"/>
              <a:ext cx="2004300" cy="629700"/>
            </a:xfrm>
            <a:prstGeom prst="rect">
              <a:avLst/>
            </a:prstGeom>
            <a:noFill/>
            <a:ln>
              <a:noFill/>
            </a:ln>
          </p:spPr>
          <p:txBody>
            <a:bodyPr spcFirstLastPara="1" wrap="square" lIns="91425" tIns="45700" rIns="91425" bIns="45700" anchor="ctr" anchorCtr="0">
              <a:noAutofit/>
            </a:bodyPr>
            <a:lstStyle/>
            <a:p>
              <a:pPr marL="0" marR="0" lvl="0" indent="0" algn="r" rtl="0">
                <a:lnSpc>
                  <a:spcPct val="90000"/>
                </a:lnSpc>
                <a:spcBef>
                  <a:spcPts val="0"/>
                </a:spcBef>
                <a:spcAft>
                  <a:spcPts val="0"/>
                </a:spcAft>
                <a:buClr>
                  <a:srgbClr val="000000"/>
                </a:buClr>
                <a:buSzPts val="1600"/>
                <a:buFont typeface="Arial"/>
                <a:buNone/>
              </a:pPr>
              <a:r>
                <a:rPr lang="pt-BR" sz="1600" b="1" i="0" u="none" strike="noStrike" cap="none">
                  <a:solidFill>
                    <a:schemeClr val="dk1"/>
                  </a:solidFill>
                  <a:latin typeface="Proxima Nova"/>
                  <a:ea typeface="Proxima Nova"/>
                  <a:cs typeface="Proxima Nova"/>
                  <a:sym typeface="Proxima Nova"/>
                </a:rPr>
                <a:t>Preparo da matriz de </a:t>
              </a:r>
              <a:r>
                <a:rPr lang="pt-BR" sz="1600" b="1" i="1" u="none" strike="noStrike" cap="none">
                  <a:solidFill>
                    <a:schemeClr val="dk1"/>
                  </a:solidFill>
                  <a:latin typeface="Proxima Nova"/>
                  <a:ea typeface="Proxima Nova"/>
                  <a:cs typeface="Proxima Nova"/>
                  <a:sym typeface="Proxima Nova"/>
                </a:rPr>
                <a:t>counts</a:t>
              </a:r>
              <a:endParaRPr sz="1600" b="1" i="1" u="none" strike="noStrike" cap="none">
                <a:solidFill>
                  <a:schemeClr val="dk1"/>
                </a:solidFill>
                <a:latin typeface="Proxima Nova"/>
                <a:ea typeface="Proxima Nova"/>
                <a:cs typeface="Proxima Nova"/>
                <a:sym typeface="Proxima Nova"/>
              </a:endParaRPr>
            </a:p>
          </p:txBody>
        </p:sp>
        <p:sp>
          <p:nvSpPr>
            <p:cNvPr id="654" name="Google Shape;654;p42"/>
            <p:cNvSpPr/>
            <p:nvPr/>
          </p:nvSpPr>
          <p:spPr>
            <a:xfrm>
              <a:off x="2789775" y="1323175"/>
              <a:ext cx="3256800" cy="731700"/>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roxima Nova"/>
                <a:ea typeface="Proxima Nova"/>
                <a:cs typeface="Proxima Nova"/>
                <a:sym typeface="Proxima Nova"/>
              </a:endParaRPr>
            </a:p>
          </p:txBody>
        </p:sp>
        <p:sp>
          <p:nvSpPr>
            <p:cNvPr id="655" name="Google Shape;655;p42"/>
            <p:cNvSpPr txBox="1"/>
            <p:nvPr/>
          </p:nvSpPr>
          <p:spPr>
            <a:xfrm>
              <a:off x="2914400" y="1407450"/>
              <a:ext cx="3132300" cy="575400"/>
            </a:xfrm>
            <a:prstGeom prst="rect">
              <a:avLst/>
            </a:prstGeom>
            <a:no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Clr>
                  <a:srgbClr val="000000"/>
                </a:buClr>
                <a:buSzPts val="1400"/>
                <a:buFont typeface="Arial"/>
                <a:buNone/>
              </a:pPr>
              <a:r>
                <a:rPr lang="pt-BR" sz="1400" b="0" i="1" u="none" strike="noStrike" cap="none">
                  <a:solidFill>
                    <a:schemeClr val="dk1"/>
                  </a:solidFill>
                  <a:latin typeface="Proxima Nova"/>
                  <a:ea typeface="Proxima Nova"/>
                  <a:cs typeface="Proxima Nova"/>
                  <a:sym typeface="Proxima Nova"/>
                </a:rPr>
                <a:t>Trimming</a:t>
              </a:r>
              <a:r>
                <a:rPr lang="pt-BR" sz="1400" b="0" i="0" u="none" strike="noStrike" cap="none">
                  <a:solidFill>
                    <a:schemeClr val="dk1"/>
                  </a:solidFill>
                  <a:latin typeface="Proxima Nova"/>
                  <a:ea typeface="Proxima Nova"/>
                  <a:cs typeface="Proxima Nova"/>
                  <a:sym typeface="Proxima Nova"/>
                </a:rPr>
                <a:t>, controle de qualidade, alinhamento, contagem.</a:t>
              </a:r>
              <a:endParaRPr sz="1400" b="0" i="0" u="none" strike="noStrike" cap="none">
                <a:solidFill>
                  <a:schemeClr val="dk1"/>
                </a:solidFill>
                <a:latin typeface="Proxima Nova"/>
                <a:ea typeface="Proxima Nova"/>
                <a:cs typeface="Proxima Nova"/>
                <a:sym typeface="Proxima Nova"/>
              </a:endParaRPr>
            </a:p>
          </p:txBody>
        </p:sp>
      </p:grpSp>
      <p:sp>
        <p:nvSpPr>
          <p:cNvPr id="656" name="Google Shape;656;p42"/>
          <p:cNvSpPr txBox="1"/>
          <p:nvPr/>
        </p:nvSpPr>
        <p:spPr>
          <a:xfrm>
            <a:off x="5607950" y="1250850"/>
            <a:ext cx="3088800" cy="63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pt-BR" sz="1800" b="0" i="0" u="none" strike="noStrike" cap="none">
                <a:solidFill>
                  <a:schemeClr val="lt1"/>
                </a:solidFill>
                <a:highlight>
                  <a:schemeClr val="dk2"/>
                </a:highlight>
                <a:latin typeface="Proxima Nova"/>
                <a:ea typeface="Proxima Nova"/>
                <a:cs typeface="Proxima Nova"/>
                <a:sym typeface="Proxima Nova"/>
              </a:rPr>
              <a:t>Ferramentas</a:t>
            </a:r>
            <a:endParaRPr sz="1800" b="0" i="0" u="none" strike="noStrike" cap="none">
              <a:solidFill>
                <a:schemeClr val="lt1"/>
              </a:solidFill>
              <a:highlight>
                <a:schemeClr val="dk2"/>
              </a:highlight>
              <a:latin typeface="Proxima Nova"/>
              <a:ea typeface="Proxima Nova"/>
              <a:cs typeface="Proxima Nova"/>
              <a:sym typeface="Proxima Nova"/>
            </a:endParaRPr>
          </a:p>
        </p:txBody>
      </p:sp>
      <p:pic>
        <p:nvPicPr>
          <p:cNvPr id="657" name="Google Shape;657;p42"/>
          <p:cNvPicPr preferRelativeResize="0"/>
          <p:nvPr/>
        </p:nvPicPr>
        <p:blipFill rotWithShape="1">
          <a:blip r:embed="rId3">
            <a:alphaModFix/>
          </a:blip>
          <a:srcRect/>
          <a:stretch/>
        </p:blipFill>
        <p:spPr>
          <a:xfrm>
            <a:off x="311700" y="2015625"/>
            <a:ext cx="6499024" cy="2040225"/>
          </a:xfrm>
          <a:prstGeom prst="rect">
            <a:avLst/>
          </a:prstGeom>
          <a:noFill/>
          <a:ln>
            <a:noFill/>
          </a:ln>
        </p:spPr>
      </p:pic>
      <p:pic>
        <p:nvPicPr>
          <p:cNvPr id="658" name="Google Shape;658;p42"/>
          <p:cNvPicPr preferRelativeResize="0"/>
          <p:nvPr/>
        </p:nvPicPr>
        <p:blipFill rotWithShape="1">
          <a:blip r:embed="rId4">
            <a:alphaModFix/>
          </a:blip>
          <a:srcRect/>
          <a:stretch/>
        </p:blipFill>
        <p:spPr>
          <a:xfrm>
            <a:off x="7014883" y="2342575"/>
            <a:ext cx="2001765" cy="630000"/>
          </a:xfrm>
          <a:prstGeom prst="rect">
            <a:avLst/>
          </a:prstGeom>
          <a:noFill/>
          <a:ln>
            <a:noFill/>
          </a:ln>
        </p:spPr>
      </p:pic>
      <p:pic>
        <p:nvPicPr>
          <p:cNvPr id="659" name="Google Shape;659;p42"/>
          <p:cNvPicPr preferRelativeResize="0"/>
          <p:nvPr/>
        </p:nvPicPr>
        <p:blipFill rotWithShape="1">
          <a:blip r:embed="rId5">
            <a:alphaModFix/>
          </a:blip>
          <a:srcRect/>
          <a:stretch/>
        </p:blipFill>
        <p:spPr>
          <a:xfrm>
            <a:off x="6211275" y="3081775"/>
            <a:ext cx="2932725" cy="1641450"/>
          </a:xfrm>
          <a:prstGeom prst="rect">
            <a:avLst/>
          </a:prstGeom>
          <a:noFill/>
          <a:ln>
            <a:noFill/>
          </a:ln>
        </p:spPr>
      </p:pic>
      <p:sp>
        <p:nvSpPr>
          <p:cNvPr id="660" name="Google Shape;660;p42"/>
          <p:cNvSpPr txBox="1"/>
          <p:nvPr/>
        </p:nvSpPr>
        <p:spPr>
          <a:xfrm>
            <a:off x="4963149" y="2067425"/>
            <a:ext cx="1847700" cy="345000"/>
          </a:xfrm>
          <a:prstGeom prst="rect">
            <a:avLst/>
          </a:prstGeom>
          <a:noFill/>
          <a:ln>
            <a:noFill/>
          </a:ln>
        </p:spPr>
        <p:txBody>
          <a:bodyPr spcFirstLastPara="1" wrap="square" lIns="68275" tIns="34125" rIns="68275" bIns="34125" anchor="t" anchorCtr="0">
            <a:spAutoFit/>
          </a:bodyPr>
          <a:lstStyle/>
          <a:p>
            <a:pPr marL="0" marR="0" lvl="0" indent="0" algn="l" rtl="0">
              <a:lnSpc>
                <a:spcPct val="100000"/>
              </a:lnSpc>
              <a:spcBef>
                <a:spcPts val="0"/>
              </a:spcBef>
              <a:spcAft>
                <a:spcPts val="0"/>
              </a:spcAft>
              <a:buClr>
                <a:srgbClr val="000000"/>
              </a:buClr>
              <a:buSzPts val="1793"/>
              <a:buFont typeface="Arial"/>
              <a:buNone/>
            </a:pPr>
            <a:r>
              <a:rPr lang="pt-BR" sz="1793" b="1">
                <a:solidFill>
                  <a:srgbClr val="FF0000"/>
                </a:solidFill>
                <a:latin typeface="Proxima Nova"/>
                <a:ea typeface="Proxima Nova"/>
                <a:cs typeface="Proxima Nova"/>
                <a:sym typeface="Proxima Nova"/>
              </a:rPr>
              <a:t>single-cell</a:t>
            </a:r>
            <a:endParaRPr sz="1793" b="1" i="0" u="none" strike="noStrike" cap="none">
              <a:solidFill>
                <a:srgbClr val="FF0000"/>
              </a:solidFill>
              <a:latin typeface="Proxima Nova"/>
              <a:ea typeface="Proxima Nova"/>
              <a:cs typeface="Proxima Nova"/>
              <a:sym typeface="Proxima Nov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64"/>
        <p:cNvGrpSpPr/>
        <p:nvPr/>
      </p:nvGrpSpPr>
      <p:grpSpPr>
        <a:xfrm>
          <a:off x="0" y="0"/>
          <a:ext cx="0" cy="0"/>
          <a:chOff x="0" y="0"/>
          <a:chExt cx="0" cy="0"/>
        </a:xfrm>
      </p:grpSpPr>
      <p:sp>
        <p:nvSpPr>
          <p:cNvPr id="665" name="Google Shape;665;p43"/>
          <p:cNvSpPr txBox="1">
            <a:spLocks noGrp="1"/>
          </p:cNvSpPr>
          <p:nvPr>
            <p:ph type="title"/>
          </p:nvPr>
        </p:nvSpPr>
        <p:spPr>
          <a:xfrm>
            <a:off x="311700" y="140225"/>
            <a:ext cx="84912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sz="2000"/>
              <a:t>Passos da </a:t>
            </a:r>
            <a:r>
              <a:rPr lang="pt-BR" sz="2000" b="1"/>
              <a:t>análise de dados</a:t>
            </a:r>
            <a:r>
              <a:rPr lang="pt-BR" sz="2000"/>
              <a:t> de transcriptômica de alta resolução</a:t>
            </a:r>
            <a:endParaRPr/>
          </a:p>
        </p:txBody>
      </p:sp>
      <p:grpSp>
        <p:nvGrpSpPr>
          <p:cNvPr id="666" name="Google Shape;666;p43"/>
          <p:cNvGrpSpPr/>
          <p:nvPr/>
        </p:nvGrpSpPr>
        <p:grpSpPr>
          <a:xfrm>
            <a:off x="105699" y="756925"/>
            <a:ext cx="5336026" cy="731700"/>
            <a:chOff x="710674" y="1323175"/>
            <a:chExt cx="5336026" cy="731700"/>
          </a:xfrm>
        </p:grpSpPr>
        <p:sp>
          <p:nvSpPr>
            <p:cNvPr id="667" name="Google Shape;667;p43"/>
            <p:cNvSpPr txBox="1"/>
            <p:nvPr/>
          </p:nvSpPr>
          <p:spPr>
            <a:xfrm>
              <a:off x="710674" y="1373350"/>
              <a:ext cx="2004300" cy="629700"/>
            </a:xfrm>
            <a:prstGeom prst="rect">
              <a:avLst/>
            </a:prstGeom>
            <a:noFill/>
            <a:ln>
              <a:noFill/>
            </a:ln>
          </p:spPr>
          <p:txBody>
            <a:bodyPr spcFirstLastPara="1" wrap="square" lIns="91425" tIns="45700" rIns="91425" bIns="45700" anchor="ctr" anchorCtr="0">
              <a:noAutofit/>
            </a:bodyPr>
            <a:lstStyle/>
            <a:p>
              <a:pPr marL="0" marR="0" lvl="0" indent="0" algn="r" rtl="0">
                <a:lnSpc>
                  <a:spcPct val="90000"/>
                </a:lnSpc>
                <a:spcBef>
                  <a:spcPts val="0"/>
                </a:spcBef>
                <a:spcAft>
                  <a:spcPts val="0"/>
                </a:spcAft>
                <a:buClr>
                  <a:srgbClr val="000000"/>
                </a:buClr>
                <a:buSzPts val="1600"/>
                <a:buFont typeface="Arial"/>
                <a:buNone/>
              </a:pPr>
              <a:r>
                <a:rPr lang="pt-BR" sz="1600" b="1" i="0" u="none" strike="noStrike" cap="none">
                  <a:solidFill>
                    <a:schemeClr val="dk1"/>
                  </a:solidFill>
                  <a:latin typeface="Proxima Nova"/>
                  <a:ea typeface="Proxima Nova"/>
                  <a:cs typeface="Proxima Nova"/>
                  <a:sym typeface="Proxima Nova"/>
                </a:rPr>
                <a:t>Preparo da matriz de </a:t>
              </a:r>
              <a:r>
                <a:rPr lang="pt-BR" sz="1600" b="1" i="1" u="none" strike="noStrike" cap="none">
                  <a:solidFill>
                    <a:schemeClr val="dk1"/>
                  </a:solidFill>
                  <a:latin typeface="Proxima Nova"/>
                  <a:ea typeface="Proxima Nova"/>
                  <a:cs typeface="Proxima Nova"/>
                  <a:sym typeface="Proxima Nova"/>
                </a:rPr>
                <a:t>counts</a:t>
              </a:r>
              <a:endParaRPr sz="1600" b="1" i="1" u="none" strike="noStrike" cap="none">
                <a:solidFill>
                  <a:schemeClr val="dk1"/>
                </a:solidFill>
                <a:latin typeface="Proxima Nova"/>
                <a:ea typeface="Proxima Nova"/>
                <a:cs typeface="Proxima Nova"/>
                <a:sym typeface="Proxima Nova"/>
              </a:endParaRPr>
            </a:p>
          </p:txBody>
        </p:sp>
        <p:sp>
          <p:nvSpPr>
            <p:cNvPr id="668" name="Google Shape;668;p43"/>
            <p:cNvSpPr/>
            <p:nvPr/>
          </p:nvSpPr>
          <p:spPr>
            <a:xfrm>
              <a:off x="2789775" y="1323175"/>
              <a:ext cx="3256800" cy="731700"/>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roxima Nova"/>
                <a:ea typeface="Proxima Nova"/>
                <a:cs typeface="Proxima Nova"/>
                <a:sym typeface="Proxima Nova"/>
              </a:endParaRPr>
            </a:p>
          </p:txBody>
        </p:sp>
        <p:sp>
          <p:nvSpPr>
            <p:cNvPr id="669" name="Google Shape;669;p43"/>
            <p:cNvSpPr txBox="1"/>
            <p:nvPr/>
          </p:nvSpPr>
          <p:spPr>
            <a:xfrm>
              <a:off x="2914400" y="1407450"/>
              <a:ext cx="3132300" cy="575400"/>
            </a:xfrm>
            <a:prstGeom prst="rect">
              <a:avLst/>
            </a:prstGeom>
            <a:no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Clr>
                  <a:srgbClr val="000000"/>
                </a:buClr>
                <a:buSzPts val="1400"/>
                <a:buFont typeface="Arial"/>
                <a:buNone/>
              </a:pPr>
              <a:r>
                <a:rPr lang="pt-BR" sz="1400" b="0" i="1" u="none" strike="noStrike" cap="none">
                  <a:solidFill>
                    <a:schemeClr val="dk1"/>
                  </a:solidFill>
                  <a:latin typeface="Proxima Nova"/>
                  <a:ea typeface="Proxima Nova"/>
                  <a:cs typeface="Proxima Nova"/>
                  <a:sym typeface="Proxima Nova"/>
                </a:rPr>
                <a:t>Trimming</a:t>
              </a:r>
              <a:r>
                <a:rPr lang="pt-BR" sz="1400" b="0" i="0" u="none" strike="noStrike" cap="none">
                  <a:solidFill>
                    <a:schemeClr val="dk1"/>
                  </a:solidFill>
                  <a:latin typeface="Proxima Nova"/>
                  <a:ea typeface="Proxima Nova"/>
                  <a:cs typeface="Proxima Nova"/>
                  <a:sym typeface="Proxima Nova"/>
                </a:rPr>
                <a:t>, controle de qualidade, alinhamento, contagem.</a:t>
              </a:r>
              <a:endParaRPr sz="1400" b="0" i="0" u="none" strike="noStrike" cap="none">
                <a:solidFill>
                  <a:schemeClr val="dk1"/>
                </a:solidFill>
                <a:latin typeface="Proxima Nova"/>
                <a:ea typeface="Proxima Nova"/>
                <a:cs typeface="Proxima Nova"/>
                <a:sym typeface="Proxima Nova"/>
              </a:endParaRPr>
            </a:p>
          </p:txBody>
        </p:sp>
      </p:grpSp>
      <p:sp>
        <p:nvSpPr>
          <p:cNvPr id="670" name="Google Shape;670;p43"/>
          <p:cNvSpPr txBox="1"/>
          <p:nvPr/>
        </p:nvSpPr>
        <p:spPr>
          <a:xfrm>
            <a:off x="5607950" y="1250850"/>
            <a:ext cx="3088800" cy="63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pt-BR" sz="1800" b="0" i="0" u="none" strike="noStrike" cap="none">
                <a:solidFill>
                  <a:schemeClr val="lt1"/>
                </a:solidFill>
                <a:highlight>
                  <a:schemeClr val="dk2"/>
                </a:highlight>
                <a:latin typeface="Proxima Nova"/>
                <a:ea typeface="Proxima Nova"/>
                <a:cs typeface="Proxima Nova"/>
                <a:sym typeface="Proxima Nova"/>
              </a:rPr>
              <a:t>Ferramentas</a:t>
            </a:r>
            <a:endParaRPr sz="1800" b="0" i="0" u="none" strike="noStrike" cap="none">
              <a:solidFill>
                <a:schemeClr val="lt1"/>
              </a:solidFill>
              <a:highlight>
                <a:schemeClr val="dk2"/>
              </a:highlight>
              <a:latin typeface="Proxima Nova"/>
              <a:ea typeface="Proxima Nova"/>
              <a:cs typeface="Proxima Nova"/>
              <a:sym typeface="Proxima Nova"/>
            </a:endParaRPr>
          </a:p>
        </p:txBody>
      </p:sp>
      <p:pic>
        <p:nvPicPr>
          <p:cNvPr id="671" name="Google Shape;671;p43"/>
          <p:cNvPicPr preferRelativeResize="0"/>
          <p:nvPr/>
        </p:nvPicPr>
        <p:blipFill rotWithShape="1">
          <a:blip r:embed="rId3">
            <a:alphaModFix/>
          </a:blip>
          <a:srcRect/>
          <a:stretch/>
        </p:blipFill>
        <p:spPr>
          <a:xfrm>
            <a:off x="7014883" y="2342575"/>
            <a:ext cx="2001765" cy="630000"/>
          </a:xfrm>
          <a:prstGeom prst="rect">
            <a:avLst/>
          </a:prstGeom>
          <a:noFill/>
          <a:ln>
            <a:noFill/>
          </a:ln>
        </p:spPr>
      </p:pic>
      <p:pic>
        <p:nvPicPr>
          <p:cNvPr id="672" name="Google Shape;672;p43"/>
          <p:cNvPicPr preferRelativeResize="0"/>
          <p:nvPr/>
        </p:nvPicPr>
        <p:blipFill rotWithShape="1">
          <a:blip r:embed="rId4">
            <a:alphaModFix/>
          </a:blip>
          <a:srcRect/>
          <a:stretch/>
        </p:blipFill>
        <p:spPr>
          <a:xfrm>
            <a:off x="6211275" y="3081775"/>
            <a:ext cx="2932725" cy="1641450"/>
          </a:xfrm>
          <a:prstGeom prst="rect">
            <a:avLst/>
          </a:prstGeom>
          <a:noFill/>
          <a:ln>
            <a:noFill/>
          </a:ln>
        </p:spPr>
      </p:pic>
      <p:pic>
        <p:nvPicPr>
          <p:cNvPr id="673" name="Google Shape;673;p43"/>
          <p:cNvPicPr preferRelativeResize="0"/>
          <p:nvPr/>
        </p:nvPicPr>
        <p:blipFill rotWithShape="1">
          <a:blip r:embed="rId5">
            <a:alphaModFix/>
          </a:blip>
          <a:srcRect l="15233"/>
          <a:stretch/>
        </p:blipFill>
        <p:spPr>
          <a:xfrm>
            <a:off x="611800" y="2115725"/>
            <a:ext cx="6171674" cy="1393600"/>
          </a:xfrm>
          <a:prstGeom prst="rect">
            <a:avLst/>
          </a:prstGeom>
          <a:noFill/>
          <a:ln>
            <a:noFill/>
          </a:ln>
        </p:spPr>
      </p:pic>
      <p:pic>
        <p:nvPicPr>
          <p:cNvPr id="674" name="Google Shape;674;p43"/>
          <p:cNvPicPr preferRelativeResize="0"/>
          <p:nvPr/>
        </p:nvPicPr>
        <p:blipFill rotWithShape="1">
          <a:blip r:embed="rId6">
            <a:alphaModFix/>
          </a:blip>
          <a:srcRect/>
          <a:stretch/>
        </p:blipFill>
        <p:spPr>
          <a:xfrm>
            <a:off x="2697075" y="3444075"/>
            <a:ext cx="2647801" cy="1514150"/>
          </a:xfrm>
          <a:prstGeom prst="rect">
            <a:avLst/>
          </a:prstGeom>
          <a:noFill/>
          <a:ln>
            <a:noFill/>
          </a:ln>
        </p:spPr>
      </p:pic>
      <p:sp>
        <p:nvSpPr>
          <p:cNvPr id="675" name="Google Shape;675;p43"/>
          <p:cNvSpPr txBox="1"/>
          <p:nvPr/>
        </p:nvSpPr>
        <p:spPr>
          <a:xfrm>
            <a:off x="611801" y="1770725"/>
            <a:ext cx="2835600" cy="345000"/>
          </a:xfrm>
          <a:prstGeom prst="rect">
            <a:avLst/>
          </a:prstGeom>
          <a:noFill/>
          <a:ln>
            <a:noFill/>
          </a:ln>
        </p:spPr>
        <p:txBody>
          <a:bodyPr spcFirstLastPara="1" wrap="square" lIns="68275" tIns="34125" rIns="68275" bIns="34125" anchor="t" anchorCtr="0">
            <a:spAutoFit/>
          </a:bodyPr>
          <a:lstStyle/>
          <a:p>
            <a:pPr marL="0" marR="0" lvl="0" indent="0" algn="l" rtl="0">
              <a:lnSpc>
                <a:spcPct val="100000"/>
              </a:lnSpc>
              <a:spcBef>
                <a:spcPts val="0"/>
              </a:spcBef>
              <a:spcAft>
                <a:spcPts val="0"/>
              </a:spcAft>
              <a:buClr>
                <a:srgbClr val="000000"/>
              </a:buClr>
              <a:buSzPts val="1793"/>
              <a:buFont typeface="Arial"/>
              <a:buNone/>
            </a:pPr>
            <a:r>
              <a:rPr lang="pt-BR" sz="1793" b="1">
                <a:solidFill>
                  <a:schemeClr val="dk1"/>
                </a:solidFill>
                <a:latin typeface="Proxima Nova"/>
                <a:ea typeface="Proxima Nova"/>
                <a:cs typeface="Proxima Nova"/>
                <a:sym typeface="Proxima Nova"/>
              </a:rPr>
              <a:t>Space Ranger: Visium</a:t>
            </a:r>
            <a:endParaRPr sz="1793" b="1" i="0" u="none" strike="noStrike" cap="none">
              <a:solidFill>
                <a:schemeClr val="dk1"/>
              </a:solidFill>
              <a:latin typeface="Proxima Nova"/>
              <a:ea typeface="Proxima Nova"/>
              <a:cs typeface="Proxima Nova"/>
              <a:sym typeface="Proxima Nova"/>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Google Shape;680;p44"/>
          <p:cNvSpPr txBox="1">
            <a:spLocks noGrp="1"/>
          </p:cNvSpPr>
          <p:nvPr>
            <p:ph type="title"/>
          </p:nvPr>
        </p:nvSpPr>
        <p:spPr>
          <a:xfrm>
            <a:off x="311700" y="445025"/>
            <a:ext cx="5615400" cy="707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sz="1900" b="1"/>
              <a:t>Volume</a:t>
            </a:r>
            <a:r>
              <a:rPr lang="pt-BR" sz="1900"/>
              <a:t> e complexidade de dados</a:t>
            </a:r>
            <a:endParaRPr sz="270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sp>
        <p:nvSpPr>
          <p:cNvPr id="685" name="Google Shape;685;g3fa37cb035d_0_78"/>
          <p:cNvSpPr txBox="1">
            <a:spLocks noGrp="1"/>
          </p:cNvSpPr>
          <p:nvPr>
            <p:ph type="title"/>
          </p:nvPr>
        </p:nvSpPr>
        <p:spPr>
          <a:xfrm>
            <a:off x="311700" y="445025"/>
            <a:ext cx="5615400" cy="707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sz="1900" b="1"/>
              <a:t>Volume</a:t>
            </a:r>
            <a:r>
              <a:rPr lang="pt-BR" sz="1900"/>
              <a:t> e complexidade de dados</a:t>
            </a:r>
            <a:endParaRPr sz="2700"/>
          </a:p>
        </p:txBody>
      </p:sp>
      <p:sp>
        <p:nvSpPr>
          <p:cNvPr id="686" name="Google Shape;686;g3fa37cb035d_0_78"/>
          <p:cNvSpPr/>
          <p:nvPr/>
        </p:nvSpPr>
        <p:spPr>
          <a:xfrm>
            <a:off x="1125850" y="1900675"/>
            <a:ext cx="3200700" cy="2660100"/>
          </a:xfrm>
          <a:prstGeom prst="rect">
            <a:avLst/>
          </a:prstGeom>
          <a:solidFill>
            <a:srgbClr val="D9D9D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pt-BR" sz="1400" b="0" i="0" u="none" strike="noStrike" cap="none">
                <a:solidFill>
                  <a:srgbClr val="000000"/>
                </a:solidFill>
                <a:latin typeface="Proxima Nova"/>
                <a:ea typeface="Proxima Nova"/>
                <a:cs typeface="Proxima Nova"/>
                <a:sym typeface="Proxima Nova"/>
              </a:rPr>
              <a:t>counts</a:t>
            </a:r>
            <a:endParaRPr sz="1400" b="0" i="0" u="none" strike="noStrike" cap="none">
              <a:solidFill>
                <a:srgbClr val="000000"/>
              </a:solidFill>
              <a:latin typeface="Proxima Nova"/>
              <a:ea typeface="Proxima Nova"/>
              <a:cs typeface="Proxima Nova"/>
              <a:sym typeface="Proxima Nova"/>
            </a:endParaRPr>
          </a:p>
        </p:txBody>
      </p:sp>
      <p:sp>
        <p:nvSpPr>
          <p:cNvPr id="687" name="Google Shape;687;g3fa37cb035d_0_78"/>
          <p:cNvSpPr/>
          <p:nvPr/>
        </p:nvSpPr>
        <p:spPr>
          <a:xfrm>
            <a:off x="362125" y="1900675"/>
            <a:ext cx="664500" cy="26601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pt-BR" sz="1100" b="0" i="0" u="none" strike="noStrike" cap="none">
                <a:solidFill>
                  <a:schemeClr val="lt1"/>
                </a:solidFill>
                <a:latin typeface="Proxima Nova"/>
                <a:ea typeface="Proxima Nova"/>
                <a:cs typeface="Proxima Nova"/>
                <a:sym typeface="Proxima Nova"/>
              </a:rPr>
              <a:t>gene1</a:t>
            </a:r>
            <a:endParaRPr sz="1100" b="0" i="0" u="none" strike="noStrike" cap="none">
              <a:solidFill>
                <a:schemeClr val="lt1"/>
              </a:solidFill>
              <a:latin typeface="Proxima Nova"/>
              <a:ea typeface="Proxima Nova"/>
              <a:cs typeface="Proxima Nova"/>
              <a:sym typeface="Proxima Nova"/>
            </a:endParaRPr>
          </a:p>
          <a:p>
            <a:pPr marL="0" marR="0" lvl="0" indent="0" algn="ctr" rtl="0">
              <a:lnSpc>
                <a:spcPct val="100000"/>
              </a:lnSpc>
              <a:spcBef>
                <a:spcPts val="0"/>
              </a:spcBef>
              <a:spcAft>
                <a:spcPts val="0"/>
              </a:spcAft>
              <a:buClr>
                <a:srgbClr val="000000"/>
              </a:buClr>
              <a:buSzPts val="1100"/>
              <a:buFont typeface="Arial"/>
              <a:buNone/>
            </a:pPr>
            <a:r>
              <a:rPr lang="pt-BR" sz="1100" b="0" i="0" u="none" strike="noStrike" cap="none">
                <a:solidFill>
                  <a:schemeClr val="lt1"/>
                </a:solidFill>
                <a:latin typeface="Proxima Nova"/>
                <a:ea typeface="Proxima Nova"/>
                <a:cs typeface="Proxima Nova"/>
                <a:sym typeface="Proxima Nova"/>
              </a:rPr>
              <a:t>gene2</a:t>
            </a:r>
            <a:endParaRPr sz="1100" b="0" i="0" u="none" strike="noStrike" cap="none">
              <a:solidFill>
                <a:schemeClr val="lt1"/>
              </a:solidFill>
              <a:latin typeface="Proxima Nova"/>
              <a:ea typeface="Proxima Nova"/>
              <a:cs typeface="Proxima Nova"/>
              <a:sym typeface="Proxima Nova"/>
            </a:endParaRPr>
          </a:p>
          <a:p>
            <a:pPr marL="0" marR="0" lvl="0" indent="0" algn="ctr" rtl="0">
              <a:lnSpc>
                <a:spcPct val="100000"/>
              </a:lnSpc>
              <a:spcBef>
                <a:spcPts val="0"/>
              </a:spcBef>
              <a:spcAft>
                <a:spcPts val="0"/>
              </a:spcAft>
              <a:buClr>
                <a:srgbClr val="000000"/>
              </a:buClr>
              <a:buSzPts val="1100"/>
              <a:buFont typeface="Arial"/>
              <a:buNone/>
            </a:pPr>
            <a:r>
              <a:rPr lang="pt-BR" sz="1100" b="0" i="0" u="none" strike="noStrike" cap="none">
                <a:solidFill>
                  <a:schemeClr val="lt1"/>
                </a:solidFill>
                <a:latin typeface="Proxima Nova"/>
                <a:ea typeface="Proxima Nova"/>
                <a:cs typeface="Proxima Nova"/>
                <a:sym typeface="Proxima Nova"/>
              </a:rPr>
              <a:t>gene3</a:t>
            </a:r>
            <a:endParaRPr sz="1100" b="0" i="0" u="none" strike="noStrike" cap="none">
              <a:solidFill>
                <a:schemeClr val="lt1"/>
              </a:solidFill>
              <a:latin typeface="Proxima Nova"/>
              <a:ea typeface="Proxima Nova"/>
              <a:cs typeface="Proxima Nova"/>
              <a:sym typeface="Proxima Nova"/>
            </a:endParaRPr>
          </a:p>
          <a:p>
            <a:pPr marL="0" marR="0" lvl="0" indent="0" algn="ctr" rtl="0">
              <a:lnSpc>
                <a:spcPct val="100000"/>
              </a:lnSpc>
              <a:spcBef>
                <a:spcPts val="0"/>
              </a:spcBef>
              <a:spcAft>
                <a:spcPts val="0"/>
              </a:spcAft>
              <a:buClr>
                <a:srgbClr val="000000"/>
              </a:buClr>
              <a:buSzPts val="1100"/>
              <a:buFont typeface="Arial"/>
              <a:buNone/>
            </a:pPr>
            <a:r>
              <a:rPr lang="pt-BR" sz="1100" b="0" i="0" u="none" strike="noStrike" cap="none">
                <a:solidFill>
                  <a:schemeClr val="lt1"/>
                </a:solidFill>
                <a:latin typeface="Proxima Nova"/>
                <a:ea typeface="Proxima Nova"/>
                <a:cs typeface="Proxima Nova"/>
                <a:sym typeface="Proxima Nova"/>
              </a:rPr>
              <a:t>gene4</a:t>
            </a:r>
            <a:endParaRPr sz="1100" b="0" i="0" u="none" strike="noStrike" cap="none">
              <a:solidFill>
                <a:schemeClr val="lt1"/>
              </a:solidFill>
              <a:latin typeface="Proxima Nova"/>
              <a:ea typeface="Proxima Nova"/>
              <a:cs typeface="Proxima Nova"/>
              <a:sym typeface="Proxima Nova"/>
            </a:endParaRPr>
          </a:p>
          <a:p>
            <a:pPr marL="0" marR="0" lvl="0" indent="0" algn="ctr" rtl="0">
              <a:lnSpc>
                <a:spcPct val="100000"/>
              </a:lnSpc>
              <a:spcBef>
                <a:spcPts val="0"/>
              </a:spcBef>
              <a:spcAft>
                <a:spcPts val="0"/>
              </a:spcAft>
              <a:buClr>
                <a:srgbClr val="000000"/>
              </a:buClr>
              <a:buSzPts val="1100"/>
              <a:buFont typeface="Arial"/>
              <a:buNone/>
            </a:pPr>
            <a:r>
              <a:rPr lang="pt-BR" sz="1100" b="0" i="0" u="none" strike="noStrike" cap="none">
                <a:solidFill>
                  <a:schemeClr val="lt1"/>
                </a:solidFill>
                <a:latin typeface="Proxima Nova"/>
                <a:ea typeface="Proxima Nova"/>
                <a:cs typeface="Proxima Nova"/>
                <a:sym typeface="Proxima Nova"/>
              </a:rPr>
              <a:t>gene5</a:t>
            </a:r>
            <a:endParaRPr sz="1100" b="0" i="0" u="none" strike="noStrike" cap="none">
              <a:solidFill>
                <a:schemeClr val="lt1"/>
              </a:solidFill>
              <a:latin typeface="Proxima Nova"/>
              <a:ea typeface="Proxima Nova"/>
              <a:cs typeface="Proxima Nova"/>
              <a:sym typeface="Proxima Nova"/>
            </a:endParaRPr>
          </a:p>
          <a:p>
            <a:pPr marL="0" marR="0" lvl="0" indent="0" algn="ctr" rtl="0">
              <a:lnSpc>
                <a:spcPct val="100000"/>
              </a:lnSpc>
              <a:spcBef>
                <a:spcPts val="0"/>
              </a:spcBef>
              <a:spcAft>
                <a:spcPts val="0"/>
              </a:spcAft>
              <a:buClr>
                <a:srgbClr val="000000"/>
              </a:buClr>
              <a:buSzPts val="1100"/>
              <a:buFont typeface="Arial"/>
              <a:buNone/>
            </a:pPr>
            <a:r>
              <a:rPr lang="pt-BR" sz="1100" b="0" i="0" u="none" strike="noStrike" cap="none">
                <a:solidFill>
                  <a:schemeClr val="lt1"/>
                </a:solidFill>
                <a:latin typeface="Proxima Nova"/>
                <a:ea typeface="Proxima Nova"/>
                <a:cs typeface="Proxima Nova"/>
                <a:sym typeface="Proxima Nova"/>
              </a:rPr>
              <a:t>gene6</a:t>
            </a:r>
            <a:endParaRPr sz="1100" b="0" i="0" u="none" strike="noStrike" cap="none">
              <a:solidFill>
                <a:schemeClr val="lt1"/>
              </a:solidFill>
              <a:latin typeface="Proxima Nova"/>
              <a:ea typeface="Proxima Nova"/>
              <a:cs typeface="Proxima Nova"/>
              <a:sym typeface="Proxima Nova"/>
            </a:endParaRPr>
          </a:p>
          <a:p>
            <a:pPr marL="0" marR="0" lvl="0" indent="0" algn="ctr" rtl="0">
              <a:lnSpc>
                <a:spcPct val="100000"/>
              </a:lnSpc>
              <a:spcBef>
                <a:spcPts val="0"/>
              </a:spcBef>
              <a:spcAft>
                <a:spcPts val="0"/>
              </a:spcAft>
              <a:buClr>
                <a:srgbClr val="000000"/>
              </a:buClr>
              <a:buSzPts val="1100"/>
              <a:buFont typeface="Arial"/>
              <a:buNone/>
            </a:pPr>
            <a:r>
              <a:rPr lang="pt-BR" sz="1100" b="0" i="0" u="none" strike="noStrike" cap="none">
                <a:solidFill>
                  <a:schemeClr val="lt1"/>
                </a:solidFill>
                <a:latin typeface="Proxima Nova"/>
                <a:ea typeface="Proxima Nova"/>
                <a:cs typeface="Proxima Nova"/>
                <a:sym typeface="Proxima Nova"/>
              </a:rPr>
              <a:t>gene7</a:t>
            </a:r>
            <a:endParaRPr sz="1100" b="0" i="0" u="none" strike="noStrike" cap="none">
              <a:solidFill>
                <a:schemeClr val="lt1"/>
              </a:solidFill>
              <a:latin typeface="Proxima Nova"/>
              <a:ea typeface="Proxima Nova"/>
              <a:cs typeface="Proxima Nova"/>
              <a:sym typeface="Proxima Nova"/>
            </a:endParaRPr>
          </a:p>
          <a:p>
            <a:pPr marL="0" marR="0" lvl="0" indent="0" algn="ctr" rtl="0">
              <a:lnSpc>
                <a:spcPct val="100000"/>
              </a:lnSpc>
              <a:spcBef>
                <a:spcPts val="0"/>
              </a:spcBef>
              <a:spcAft>
                <a:spcPts val="0"/>
              </a:spcAft>
              <a:buClr>
                <a:srgbClr val="000000"/>
              </a:buClr>
              <a:buSzPts val="1100"/>
              <a:buFont typeface="Arial"/>
              <a:buNone/>
            </a:pPr>
            <a:r>
              <a:rPr lang="pt-BR" sz="1100" b="0" i="0" u="none" strike="noStrike" cap="none">
                <a:solidFill>
                  <a:schemeClr val="lt1"/>
                </a:solidFill>
                <a:latin typeface="Proxima Nova"/>
                <a:ea typeface="Proxima Nova"/>
                <a:cs typeface="Proxima Nova"/>
                <a:sym typeface="Proxima Nova"/>
              </a:rPr>
              <a:t>gene8</a:t>
            </a:r>
            <a:endParaRPr sz="1100" b="0" i="0" u="none" strike="noStrike" cap="none">
              <a:solidFill>
                <a:schemeClr val="lt1"/>
              </a:solidFill>
              <a:latin typeface="Proxima Nova"/>
              <a:ea typeface="Proxima Nova"/>
              <a:cs typeface="Proxima Nova"/>
              <a:sym typeface="Proxima Nova"/>
            </a:endParaRPr>
          </a:p>
          <a:p>
            <a:pPr marL="0" marR="0" lvl="0" indent="0" algn="ctr" rtl="0">
              <a:lnSpc>
                <a:spcPct val="100000"/>
              </a:lnSpc>
              <a:spcBef>
                <a:spcPts val="0"/>
              </a:spcBef>
              <a:spcAft>
                <a:spcPts val="0"/>
              </a:spcAft>
              <a:buClr>
                <a:srgbClr val="000000"/>
              </a:buClr>
              <a:buSzPts val="1100"/>
              <a:buFont typeface="Arial"/>
              <a:buNone/>
            </a:pPr>
            <a:r>
              <a:rPr lang="pt-BR" sz="1100" b="0" i="0" u="none" strike="noStrike" cap="none">
                <a:solidFill>
                  <a:schemeClr val="lt1"/>
                </a:solidFill>
                <a:latin typeface="Proxima Nova"/>
                <a:ea typeface="Proxima Nova"/>
                <a:cs typeface="Proxima Nova"/>
                <a:sym typeface="Proxima Nova"/>
              </a:rPr>
              <a:t>gene9</a:t>
            </a:r>
            <a:endParaRPr sz="1100" b="0" i="0" u="none" strike="noStrike" cap="none">
              <a:solidFill>
                <a:schemeClr val="lt1"/>
              </a:solidFill>
              <a:latin typeface="Proxima Nova"/>
              <a:ea typeface="Proxima Nova"/>
              <a:cs typeface="Proxima Nova"/>
              <a:sym typeface="Proxima Nova"/>
            </a:endParaRPr>
          </a:p>
          <a:p>
            <a:pPr marL="0" marR="0" lvl="0" indent="0" algn="ctr" rtl="0">
              <a:lnSpc>
                <a:spcPct val="100000"/>
              </a:lnSpc>
              <a:spcBef>
                <a:spcPts val="0"/>
              </a:spcBef>
              <a:spcAft>
                <a:spcPts val="0"/>
              </a:spcAft>
              <a:buClr>
                <a:srgbClr val="000000"/>
              </a:buClr>
              <a:buSzPts val="1100"/>
              <a:buFont typeface="Arial"/>
              <a:buNone/>
            </a:pPr>
            <a:r>
              <a:rPr lang="pt-BR" sz="1100" b="0" i="0" u="none" strike="noStrike" cap="none">
                <a:solidFill>
                  <a:schemeClr val="lt1"/>
                </a:solidFill>
                <a:latin typeface="Proxima Nova"/>
                <a:ea typeface="Proxima Nova"/>
                <a:cs typeface="Proxima Nova"/>
                <a:sym typeface="Proxima Nova"/>
              </a:rPr>
              <a:t>gene10</a:t>
            </a:r>
            <a:endParaRPr sz="1100" b="0" i="0" u="none" strike="noStrike" cap="none">
              <a:solidFill>
                <a:schemeClr val="lt1"/>
              </a:solidFill>
              <a:latin typeface="Proxima Nova"/>
              <a:ea typeface="Proxima Nova"/>
              <a:cs typeface="Proxima Nova"/>
              <a:sym typeface="Proxima Nova"/>
            </a:endParaRPr>
          </a:p>
          <a:p>
            <a:pPr marL="0" marR="0" lvl="0" indent="0" algn="ctr" rtl="0">
              <a:lnSpc>
                <a:spcPct val="100000"/>
              </a:lnSpc>
              <a:spcBef>
                <a:spcPts val="0"/>
              </a:spcBef>
              <a:spcAft>
                <a:spcPts val="0"/>
              </a:spcAft>
              <a:buClr>
                <a:srgbClr val="000000"/>
              </a:buClr>
              <a:buSzPts val="1100"/>
              <a:buFont typeface="Arial"/>
              <a:buNone/>
            </a:pPr>
            <a:r>
              <a:rPr lang="pt-BR" sz="1100" b="0" i="0" u="none" strike="noStrike" cap="none">
                <a:solidFill>
                  <a:schemeClr val="lt1"/>
                </a:solidFill>
                <a:latin typeface="Proxima Nova"/>
                <a:ea typeface="Proxima Nova"/>
                <a:cs typeface="Proxima Nova"/>
                <a:sym typeface="Proxima Nova"/>
              </a:rPr>
              <a:t>gene11</a:t>
            </a:r>
            <a:endParaRPr sz="1100" b="0" i="0" u="none" strike="noStrike" cap="none">
              <a:solidFill>
                <a:schemeClr val="lt1"/>
              </a:solidFill>
              <a:latin typeface="Proxima Nova"/>
              <a:ea typeface="Proxima Nova"/>
              <a:cs typeface="Proxima Nova"/>
              <a:sym typeface="Proxima Nova"/>
            </a:endParaRPr>
          </a:p>
          <a:p>
            <a:pPr marL="0" marR="0" lvl="0" indent="0" algn="ctr" rtl="0">
              <a:lnSpc>
                <a:spcPct val="100000"/>
              </a:lnSpc>
              <a:spcBef>
                <a:spcPts val="0"/>
              </a:spcBef>
              <a:spcAft>
                <a:spcPts val="0"/>
              </a:spcAft>
              <a:buClr>
                <a:srgbClr val="000000"/>
              </a:buClr>
              <a:buSzPts val="1100"/>
              <a:buFont typeface="Arial"/>
              <a:buNone/>
            </a:pPr>
            <a:r>
              <a:rPr lang="pt-BR" sz="1100" b="0" i="0" u="none" strike="noStrike" cap="none">
                <a:solidFill>
                  <a:schemeClr val="lt1"/>
                </a:solidFill>
                <a:latin typeface="Proxima Nova"/>
                <a:ea typeface="Proxima Nova"/>
                <a:cs typeface="Proxima Nova"/>
                <a:sym typeface="Proxima Nova"/>
              </a:rPr>
              <a:t>gene12</a:t>
            </a:r>
            <a:endParaRPr sz="1100" b="0" i="0" u="none" strike="noStrike" cap="none">
              <a:solidFill>
                <a:schemeClr val="lt1"/>
              </a:solidFill>
              <a:latin typeface="Proxima Nova"/>
              <a:ea typeface="Proxima Nova"/>
              <a:cs typeface="Proxima Nova"/>
              <a:sym typeface="Proxima Nova"/>
            </a:endParaRPr>
          </a:p>
          <a:p>
            <a:pPr marL="0" marR="0" lvl="0" indent="0" algn="ctr" rtl="0">
              <a:lnSpc>
                <a:spcPct val="100000"/>
              </a:lnSpc>
              <a:spcBef>
                <a:spcPts val="0"/>
              </a:spcBef>
              <a:spcAft>
                <a:spcPts val="0"/>
              </a:spcAft>
              <a:buClr>
                <a:srgbClr val="000000"/>
              </a:buClr>
              <a:buSzPts val="1100"/>
              <a:buFont typeface="Arial"/>
              <a:buNone/>
            </a:pPr>
            <a:r>
              <a:rPr lang="pt-BR" sz="1100" b="0" i="0" u="none" strike="noStrike" cap="none">
                <a:solidFill>
                  <a:schemeClr val="lt1"/>
                </a:solidFill>
                <a:latin typeface="Proxima Nova"/>
                <a:ea typeface="Proxima Nova"/>
                <a:cs typeface="Proxima Nova"/>
                <a:sym typeface="Proxima Nova"/>
              </a:rPr>
              <a:t>…</a:t>
            </a:r>
            <a:endParaRPr sz="1100" b="0" i="0" u="none" strike="noStrike" cap="none">
              <a:solidFill>
                <a:schemeClr val="lt1"/>
              </a:solidFill>
              <a:latin typeface="Proxima Nova"/>
              <a:ea typeface="Proxima Nova"/>
              <a:cs typeface="Proxima Nova"/>
              <a:sym typeface="Proxima Nova"/>
            </a:endParaRPr>
          </a:p>
          <a:p>
            <a:pPr marL="0" marR="0" lvl="0" indent="0" algn="ctr" rtl="0">
              <a:lnSpc>
                <a:spcPct val="100000"/>
              </a:lnSpc>
              <a:spcBef>
                <a:spcPts val="0"/>
              </a:spcBef>
              <a:spcAft>
                <a:spcPts val="0"/>
              </a:spcAft>
              <a:buClr>
                <a:srgbClr val="000000"/>
              </a:buClr>
              <a:buSzPts val="1100"/>
              <a:buFont typeface="Arial"/>
              <a:buNone/>
            </a:pPr>
            <a:r>
              <a:rPr lang="pt-BR" sz="1100" b="0" i="0" u="none" strike="noStrike" cap="none">
                <a:solidFill>
                  <a:schemeClr val="lt1"/>
                </a:solidFill>
                <a:latin typeface="Proxima Nova"/>
                <a:ea typeface="Proxima Nova"/>
                <a:cs typeface="Proxima Nova"/>
                <a:sym typeface="Proxima Nova"/>
              </a:rPr>
              <a:t>(&gt;10^3)</a:t>
            </a:r>
            <a:endParaRPr sz="1100" b="0" i="0" u="none" strike="noStrike" cap="none">
              <a:solidFill>
                <a:schemeClr val="lt1"/>
              </a:solidFill>
              <a:latin typeface="Proxima Nova"/>
              <a:ea typeface="Proxima Nova"/>
              <a:cs typeface="Proxima Nova"/>
              <a:sym typeface="Proxima Nova"/>
            </a:endParaRPr>
          </a:p>
        </p:txBody>
      </p:sp>
      <p:sp>
        <p:nvSpPr>
          <p:cNvPr id="688" name="Google Shape;688;g3fa37cb035d_0_78"/>
          <p:cNvSpPr/>
          <p:nvPr/>
        </p:nvSpPr>
        <p:spPr>
          <a:xfrm>
            <a:off x="1125850" y="1188575"/>
            <a:ext cx="734100" cy="6285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pt-BR" sz="1200" b="0" i="0" u="none" strike="noStrike" cap="none">
                <a:solidFill>
                  <a:schemeClr val="lt1"/>
                </a:solidFill>
                <a:latin typeface="Proxima Nova"/>
                <a:ea typeface="Proxima Nova"/>
                <a:cs typeface="Proxima Nova"/>
                <a:sym typeface="Proxima Nova"/>
              </a:rPr>
              <a:t>amostra1</a:t>
            </a:r>
            <a:endParaRPr sz="1200" b="0" i="0" u="none" strike="noStrike" cap="none">
              <a:solidFill>
                <a:schemeClr val="lt1"/>
              </a:solidFill>
              <a:latin typeface="Proxima Nova"/>
              <a:ea typeface="Proxima Nova"/>
              <a:cs typeface="Proxima Nova"/>
              <a:sym typeface="Proxima Nova"/>
            </a:endParaRPr>
          </a:p>
        </p:txBody>
      </p:sp>
      <p:sp>
        <p:nvSpPr>
          <p:cNvPr id="689" name="Google Shape;689;g3fa37cb035d_0_78"/>
          <p:cNvSpPr/>
          <p:nvPr/>
        </p:nvSpPr>
        <p:spPr>
          <a:xfrm>
            <a:off x="1948074" y="1188575"/>
            <a:ext cx="734100" cy="6285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pt-BR" sz="1200" b="0" i="0" u="none" strike="noStrike" cap="none">
                <a:solidFill>
                  <a:schemeClr val="lt1"/>
                </a:solidFill>
                <a:latin typeface="Proxima Nova"/>
                <a:ea typeface="Proxima Nova"/>
                <a:cs typeface="Proxima Nova"/>
                <a:sym typeface="Proxima Nova"/>
              </a:rPr>
              <a:t>amostra2</a:t>
            </a:r>
            <a:endParaRPr sz="1200" b="0" i="0" u="none" strike="noStrike" cap="none">
              <a:solidFill>
                <a:schemeClr val="lt1"/>
              </a:solidFill>
              <a:latin typeface="Proxima Nova"/>
              <a:ea typeface="Proxima Nova"/>
              <a:cs typeface="Proxima Nova"/>
              <a:sym typeface="Proxima Nova"/>
            </a:endParaRPr>
          </a:p>
        </p:txBody>
      </p:sp>
      <p:sp>
        <p:nvSpPr>
          <p:cNvPr id="690" name="Google Shape;690;g3fa37cb035d_0_78"/>
          <p:cNvSpPr/>
          <p:nvPr/>
        </p:nvSpPr>
        <p:spPr>
          <a:xfrm>
            <a:off x="2770299" y="1188575"/>
            <a:ext cx="734100" cy="6285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pt-BR" sz="1200" b="0" i="0" u="none" strike="noStrike" cap="none">
                <a:solidFill>
                  <a:schemeClr val="lt1"/>
                </a:solidFill>
                <a:latin typeface="Proxima Nova"/>
                <a:ea typeface="Proxima Nova"/>
                <a:cs typeface="Proxima Nova"/>
                <a:sym typeface="Proxima Nova"/>
              </a:rPr>
              <a:t>amostra3</a:t>
            </a:r>
            <a:endParaRPr sz="1200" b="0" i="0" u="none" strike="noStrike" cap="none">
              <a:solidFill>
                <a:schemeClr val="lt1"/>
              </a:solidFill>
              <a:latin typeface="Proxima Nova"/>
              <a:ea typeface="Proxima Nova"/>
              <a:cs typeface="Proxima Nova"/>
              <a:sym typeface="Proxima Nova"/>
            </a:endParaRPr>
          </a:p>
        </p:txBody>
      </p:sp>
      <p:sp>
        <p:nvSpPr>
          <p:cNvPr id="691" name="Google Shape;691;g3fa37cb035d_0_78"/>
          <p:cNvSpPr/>
          <p:nvPr/>
        </p:nvSpPr>
        <p:spPr>
          <a:xfrm>
            <a:off x="3592523" y="1188575"/>
            <a:ext cx="734100" cy="6285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pt-BR" sz="1200" b="0" i="0" u="none" strike="noStrike" cap="none">
                <a:solidFill>
                  <a:schemeClr val="lt1"/>
                </a:solidFill>
                <a:latin typeface="Proxima Nova"/>
                <a:ea typeface="Proxima Nova"/>
                <a:cs typeface="Proxima Nova"/>
                <a:sym typeface="Proxima Nova"/>
              </a:rPr>
              <a:t>amostra4</a:t>
            </a:r>
            <a:endParaRPr sz="1200" b="0" i="0" u="none" strike="noStrike" cap="none">
              <a:solidFill>
                <a:schemeClr val="lt1"/>
              </a:solidFill>
              <a:latin typeface="Proxima Nova"/>
              <a:ea typeface="Proxima Nova"/>
              <a:cs typeface="Proxima Nova"/>
              <a:sym typeface="Proxima Nova"/>
            </a:endParaRPr>
          </a:p>
        </p:txBody>
      </p:sp>
      <p:sp>
        <p:nvSpPr>
          <p:cNvPr id="692" name="Google Shape;692;g3fa37cb035d_0_78"/>
          <p:cNvSpPr/>
          <p:nvPr/>
        </p:nvSpPr>
        <p:spPr>
          <a:xfrm>
            <a:off x="1125850" y="1900675"/>
            <a:ext cx="3200700" cy="2660100"/>
          </a:xfrm>
          <a:prstGeom prst="rect">
            <a:avLst/>
          </a:prstGeom>
          <a:solidFill>
            <a:srgbClr val="D9D9D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pt-BR" sz="1400" b="0" i="0" u="none" strike="noStrike" cap="none">
                <a:solidFill>
                  <a:srgbClr val="000000"/>
                </a:solidFill>
                <a:latin typeface="Proxima Nova"/>
                <a:ea typeface="Proxima Nova"/>
                <a:cs typeface="Proxima Nova"/>
                <a:sym typeface="Proxima Nova"/>
              </a:rPr>
              <a:t>counts</a:t>
            </a:r>
            <a:endParaRPr sz="1400" b="0" i="0" u="none" strike="noStrike" cap="none">
              <a:solidFill>
                <a:srgbClr val="000000"/>
              </a:solidFill>
              <a:latin typeface="Proxima Nova"/>
              <a:ea typeface="Proxima Nova"/>
              <a:cs typeface="Proxima Nova"/>
              <a:sym typeface="Proxima Nova"/>
            </a:endParaRPr>
          </a:p>
        </p:txBody>
      </p:sp>
      <p:sp>
        <p:nvSpPr>
          <p:cNvPr id="693" name="Google Shape;693;g3fa37cb035d_0_78"/>
          <p:cNvSpPr/>
          <p:nvPr/>
        </p:nvSpPr>
        <p:spPr>
          <a:xfrm>
            <a:off x="4399325" y="830025"/>
            <a:ext cx="1578375" cy="242825"/>
          </a:xfrm>
          <a:custGeom>
            <a:avLst/>
            <a:gdLst/>
            <a:ahLst/>
            <a:cxnLst/>
            <a:rect l="l" t="t" r="r" b="b"/>
            <a:pathLst>
              <a:path w="63135" h="9713" extrusionOk="0">
                <a:moveTo>
                  <a:pt x="0" y="9713"/>
                </a:moveTo>
                <a:cubicBezTo>
                  <a:pt x="9522" y="-9332"/>
                  <a:pt x="48079" y="15056"/>
                  <a:pt x="63135" y="0"/>
                </a:cubicBezTo>
              </a:path>
            </a:pathLst>
          </a:cu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g3fa37cb035d_0_78"/>
          <p:cNvSpPr txBox="1"/>
          <p:nvPr/>
        </p:nvSpPr>
        <p:spPr>
          <a:xfrm>
            <a:off x="5977700" y="445025"/>
            <a:ext cx="2494500" cy="776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pt-BR" sz="1600" b="0" i="0" u="none" strike="noStrike" cap="none">
                <a:solidFill>
                  <a:schemeClr val="lt1"/>
                </a:solidFill>
                <a:highlight>
                  <a:schemeClr val="dk2"/>
                </a:highlight>
                <a:latin typeface="Proxima Nova"/>
                <a:ea typeface="Proxima Nova"/>
                <a:cs typeface="Proxima Nova"/>
                <a:sym typeface="Proxima Nova"/>
              </a:rPr>
              <a:t>Amostra = barcode</a:t>
            </a:r>
            <a:endParaRPr sz="1600" b="0" i="0" u="none" strike="noStrike" cap="none">
              <a:solidFill>
                <a:schemeClr val="lt1"/>
              </a:solidFill>
              <a:highlight>
                <a:schemeClr val="dk2"/>
              </a:highlight>
              <a:latin typeface="Proxima Nova"/>
              <a:ea typeface="Proxima Nova"/>
              <a:cs typeface="Proxima Nova"/>
              <a:sym typeface="Proxima Nova"/>
            </a:endParaRPr>
          </a:p>
          <a:p>
            <a:pPr marL="0" marR="0" lvl="0" indent="0" algn="l" rtl="0">
              <a:lnSpc>
                <a:spcPct val="100000"/>
              </a:lnSpc>
              <a:spcBef>
                <a:spcPts val="0"/>
              </a:spcBef>
              <a:spcAft>
                <a:spcPts val="0"/>
              </a:spcAft>
              <a:buClr>
                <a:srgbClr val="000000"/>
              </a:buClr>
              <a:buSzPts val="1600"/>
              <a:buFont typeface="Arial"/>
              <a:buNone/>
            </a:pPr>
            <a:r>
              <a:rPr lang="pt-BR" sz="1600" b="0" i="0" u="none" strike="noStrike" cap="none">
                <a:solidFill>
                  <a:schemeClr val="lt1"/>
                </a:solidFill>
                <a:latin typeface="Proxima Nova"/>
                <a:ea typeface="Proxima Nova"/>
                <a:cs typeface="Proxima Nova"/>
                <a:sym typeface="Proxima Nova"/>
              </a:rPr>
              <a:t>                    </a:t>
            </a:r>
            <a:r>
              <a:rPr lang="pt-BR" sz="1600" b="0" i="0" u="none" strike="noStrike" cap="none">
                <a:solidFill>
                  <a:schemeClr val="lt1"/>
                </a:solidFill>
                <a:highlight>
                  <a:schemeClr val="dk2"/>
                </a:highlight>
                <a:latin typeface="Proxima Nova"/>
                <a:ea typeface="Proxima Nova"/>
                <a:cs typeface="Proxima Nova"/>
                <a:sym typeface="Proxima Nova"/>
              </a:rPr>
              <a:t>(célula/spot)</a:t>
            </a:r>
            <a:endParaRPr sz="1600" b="0" i="0" u="none" strike="noStrike" cap="none">
              <a:solidFill>
                <a:schemeClr val="lt1"/>
              </a:solidFill>
              <a:highlight>
                <a:schemeClr val="dk2"/>
              </a:highlight>
              <a:latin typeface="Proxima Nova"/>
              <a:ea typeface="Proxima Nova"/>
              <a:cs typeface="Proxima Nova"/>
              <a:sym typeface="Proxima Nova"/>
            </a:endParaRPr>
          </a:p>
        </p:txBody>
      </p:sp>
      <p:sp>
        <p:nvSpPr>
          <p:cNvPr id="695" name="Google Shape;695;g3fa37cb035d_0_78"/>
          <p:cNvSpPr txBox="1"/>
          <p:nvPr/>
        </p:nvSpPr>
        <p:spPr>
          <a:xfrm>
            <a:off x="5034626" y="2767850"/>
            <a:ext cx="2835600" cy="345000"/>
          </a:xfrm>
          <a:prstGeom prst="rect">
            <a:avLst/>
          </a:prstGeom>
          <a:noFill/>
          <a:ln>
            <a:noFill/>
          </a:ln>
        </p:spPr>
        <p:txBody>
          <a:bodyPr spcFirstLastPara="1" wrap="square" lIns="68275" tIns="34125" rIns="68275" bIns="34125" anchor="t" anchorCtr="0">
            <a:spAutoFit/>
          </a:bodyPr>
          <a:lstStyle/>
          <a:p>
            <a:pPr marL="0" marR="0" lvl="0" indent="0" algn="l" rtl="0">
              <a:lnSpc>
                <a:spcPct val="100000"/>
              </a:lnSpc>
              <a:spcBef>
                <a:spcPts val="0"/>
              </a:spcBef>
              <a:spcAft>
                <a:spcPts val="0"/>
              </a:spcAft>
              <a:buClr>
                <a:srgbClr val="000000"/>
              </a:buClr>
              <a:buSzPts val="1793"/>
              <a:buFont typeface="Arial"/>
              <a:buNone/>
            </a:pPr>
            <a:r>
              <a:rPr lang="pt-BR" sz="1793" b="1">
                <a:solidFill>
                  <a:schemeClr val="dk1"/>
                </a:solidFill>
                <a:latin typeface="Proxima Nova"/>
                <a:ea typeface="Proxima Nova"/>
                <a:cs typeface="Proxima Nova"/>
                <a:sym typeface="Proxima Nova"/>
              </a:rPr>
              <a:t>Bulk RNA</a:t>
            </a:r>
            <a:endParaRPr sz="1793" b="1" i="0" u="none" strike="noStrike" cap="none">
              <a:solidFill>
                <a:schemeClr val="dk1"/>
              </a:solidFill>
              <a:latin typeface="Proxima Nova"/>
              <a:ea typeface="Proxima Nova"/>
              <a:cs typeface="Proxima Nova"/>
              <a:sym typeface="Proxima Nova"/>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699"/>
        <p:cNvGrpSpPr/>
        <p:nvPr/>
      </p:nvGrpSpPr>
      <p:grpSpPr>
        <a:xfrm>
          <a:off x="0" y="0"/>
          <a:ext cx="0" cy="0"/>
          <a:chOff x="0" y="0"/>
          <a:chExt cx="0" cy="0"/>
        </a:xfrm>
      </p:grpSpPr>
      <p:sp>
        <p:nvSpPr>
          <p:cNvPr id="700" name="Google Shape;700;g3fa37cb035d_0_60"/>
          <p:cNvSpPr txBox="1">
            <a:spLocks noGrp="1"/>
          </p:cNvSpPr>
          <p:nvPr>
            <p:ph type="title"/>
          </p:nvPr>
        </p:nvSpPr>
        <p:spPr>
          <a:xfrm>
            <a:off x="311700" y="445025"/>
            <a:ext cx="5615400" cy="707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sz="1900" b="1"/>
              <a:t>Volume</a:t>
            </a:r>
            <a:r>
              <a:rPr lang="pt-BR" sz="1900"/>
              <a:t> e complexidade de dados</a:t>
            </a:r>
            <a:endParaRPr sz="2700"/>
          </a:p>
        </p:txBody>
      </p:sp>
      <p:sp>
        <p:nvSpPr>
          <p:cNvPr id="701" name="Google Shape;701;g3fa37cb035d_0_60"/>
          <p:cNvSpPr/>
          <p:nvPr/>
        </p:nvSpPr>
        <p:spPr>
          <a:xfrm>
            <a:off x="1125850" y="1900675"/>
            <a:ext cx="3200700" cy="2660100"/>
          </a:xfrm>
          <a:prstGeom prst="rect">
            <a:avLst/>
          </a:prstGeom>
          <a:solidFill>
            <a:srgbClr val="D9D9D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pt-BR" sz="1400" b="0" i="0" u="none" strike="noStrike" cap="none">
                <a:solidFill>
                  <a:srgbClr val="000000"/>
                </a:solidFill>
                <a:latin typeface="Proxima Nova"/>
                <a:ea typeface="Proxima Nova"/>
                <a:cs typeface="Proxima Nova"/>
                <a:sym typeface="Proxima Nova"/>
              </a:rPr>
              <a:t>counts</a:t>
            </a:r>
            <a:endParaRPr sz="1400" b="0" i="0" u="none" strike="noStrike" cap="none">
              <a:solidFill>
                <a:srgbClr val="000000"/>
              </a:solidFill>
              <a:latin typeface="Proxima Nova"/>
              <a:ea typeface="Proxima Nova"/>
              <a:cs typeface="Proxima Nova"/>
              <a:sym typeface="Proxima Nova"/>
            </a:endParaRPr>
          </a:p>
        </p:txBody>
      </p:sp>
      <p:sp>
        <p:nvSpPr>
          <p:cNvPr id="702" name="Google Shape;702;g3fa37cb035d_0_60"/>
          <p:cNvSpPr/>
          <p:nvPr/>
        </p:nvSpPr>
        <p:spPr>
          <a:xfrm>
            <a:off x="362125" y="1900675"/>
            <a:ext cx="664500" cy="26601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pt-BR" sz="1100" b="0" i="0" u="none" strike="noStrike" cap="none">
                <a:solidFill>
                  <a:schemeClr val="lt1"/>
                </a:solidFill>
                <a:latin typeface="Proxima Nova"/>
                <a:ea typeface="Proxima Nova"/>
                <a:cs typeface="Proxima Nova"/>
                <a:sym typeface="Proxima Nova"/>
              </a:rPr>
              <a:t>gene1</a:t>
            </a:r>
            <a:endParaRPr sz="1100" b="0" i="0" u="none" strike="noStrike" cap="none">
              <a:solidFill>
                <a:schemeClr val="lt1"/>
              </a:solidFill>
              <a:latin typeface="Proxima Nova"/>
              <a:ea typeface="Proxima Nova"/>
              <a:cs typeface="Proxima Nova"/>
              <a:sym typeface="Proxima Nova"/>
            </a:endParaRPr>
          </a:p>
          <a:p>
            <a:pPr marL="0" marR="0" lvl="0" indent="0" algn="ctr" rtl="0">
              <a:lnSpc>
                <a:spcPct val="100000"/>
              </a:lnSpc>
              <a:spcBef>
                <a:spcPts val="0"/>
              </a:spcBef>
              <a:spcAft>
                <a:spcPts val="0"/>
              </a:spcAft>
              <a:buClr>
                <a:srgbClr val="000000"/>
              </a:buClr>
              <a:buSzPts val="1100"/>
              <a:buFont typeface="Arial"/>
              <a:buNone/>
            </a:pPr>
            <a:r>
              <a:rPr lang="pt-BR" sz="1100" b="0" i="0" u="none" strike="noStrike" cap="none">
                <a:solidFill>
                  <a:schemeClr val="lt1"/>
                </a:solidFill>
                <a:latin typeface="Proxima Nova"/>
                <a:ea typeface="Proxima Nova"/>
                <a:cs typeface="Proxima Nova"/>
                <a:sym typeface="Proxima Nova"/>
              </a:rPr>
              <a:t>gene2</a:t>
            </a:r>
            <a:endParaRPr sz="1100" b="0" i="0" u="none" strike="noStrike" cap="none">
              <a:solidFill>
                <a:schemeClr val="lt1"/>
              </a:solidFill>
              <a:latin typeface="Proxima Nova"/>
              <a:ea typeface="Proxima Nova"/>
              <a:cs typeface="Proxima Nova"/>
              <a:sym typeface="Proxima Nova"/>
            </a:endParaRPr>
          </a:p>
          <a:p>
            <a:pPr marL="0" marR="0" lvl="0" indent="0" algn="ctr" rtl="0">
              <a:lnSpc>
                <a:spcPct val="100000"/>
              </a:lnSpc>
              <a:spcBef>
                <a:spcPts val="0"/>
              </a:spcBef>
              <a:spcAft>
                <a:spcPts val="0"/>
              </a:spcAft>
              <a:buClr>
                <a:srgbClr val="000000"/>
              </a:buClr>
              <a:buSzPts val="1100"/>
              <a:buFont typeface="Arial"/>
              <a:buNone/>
            </a:pPr>
            <a:r>
              <a:rPr lang="pt-BR" sz="1100" b="0" i="0" u="none" strike="noStrike" cap="none">
                <a:solidFill>
                  <a:schemeClr val="lt1"/>
                </a:solidFill>
                <a:latin typeface="Proxima Nova"/>
                <a:ea typeface="Proxima Nova"/>
                <a:cs typeface="Proxima Nova"/>
                <a:sym typeface="Proxima Nova"/>
              </a:rPr>
              <a:t>gene3</a:t>
            </a:r>
            <a:endParaRPr sz="1100" b="0" i="0" u="none" strike="noStrike" cap="none">
              <a:solidFill>
                <a:schemeClr val="lt1"/>
              </a:solidFill>
              <a:latin typeface="Proxima Nova"/>
              <a:ea typeface="Proxima Nova"/>
              <a:cs typeface="Proxima Nova"/>
              <a:sym typeface="Proxima Nova"/>
            </a:endParaRPr>
          </a:p>
          <a:p>
            <a:pPr marL="0" marR="0" lvl="0" indent="0" algn="ctr" rtl="0">
              <a:lnSpc>
                <a:spcPct val="100000"/>
              </a:lnSpc>
              <a:spcBef>
                <a:spcPts val="0"/>
              </a:spcBef>
              <a:spcAft>
                <a:spcPts val="0"/>
              </a:spcAft>
              <a:buClr>
                <a:srgbClr val="000000"/>
              </a:buClr>
              <a:buSzPts val="1100"/>
              <a:buFont typeface="Arial"/>
              <a:buNone/>
            </a:pPr>
            <a:r>
              <a:rPr lang="pt-BR" sz="1100" b="0" i="0" u="none" strike="noStrike" cap="none">
                <a:solidFill>
                  <a:schemeClr val="lt1"/>
                </a:solidFill>
                <a:latin typeface="Proxima Nova"/>
                <a:ea typeface="Proxima Nova"/>
                <a:cs typeface="Proxima Nova"/>
                <a:sym typeface="Proxima Nova"/>
              </a:rPr>
              <a:t>gene4</a:t>
            </a:r>
            <a:endParaRPr sz="1100" b="0" i="0" u="none" strike="noStrike" cap="none">
              <a:solidFill>
                <a:schemeClr val="lt1"/>
              </a:solidFill>
              <a:latin typeface="Proxima Nova"/>
              <a:ea typeface="Proxima Nova"/>
              <a:cs typeface="Proxima Nova"/>
              <a:sym typeface="Proxima Nova"/>
            </a:endParaRPr>
          </a:p>
          <a:p>
            <a:pPr marL="0" marR="0" lvl="0" indent="0" algn="ctr" rtl="0">
              <a:lnSpc>
                <a:spcPct val="100000"/>
              </a:lnSpc>
              <a:spcBef>
                <a:spcPts val="0"/>
              </a:spcBef>
              <a:spcAft>
                <a:spcPts val="0"/>
              </a:spcAft>
              <a:buClr>
                <a:srgbClr val="000000"/>
              </a:buClr>
              <a:buSzPts val="1100"/>
              <a:buFont typeface="Arial"/>
              <a:buNone/>
            </a:pPr>
            <a:r>
              <a:rPr lang="pt-BR" sz="1100" b="0" i="0" u="none" strike="noStrike" cap="none">
                <a:solidFill>
                  <a:schemeClr val="lt1"/>
                </a:solidFill>
                <a:latin typeface="Proxima Nova"/>
                <a:ea typeface="Proxima Nova"/>
                <a:cs typeface="Proxima Nova"/>
                <a:sym typeface="Proxima Nova"/>
              </a:rPr>
              <a:t>gene5</a:t>
            </a:r>
            <a:endParaRPr sz="1100" b="0" i="0" u="none" strike="noStrike" cap="none">
              <a:solidFill>
                <a:schemeClr val="lt1"/>
              </a:solidFill>
              <a:latin typeface="Proxima Nova"/>
              <a:ea typeface="Proxima Nova"/>
              <a:cs typeface="Proxima Nova"/>
              <a:sym typeface="Proxima Nova"/>
            </a:endParaRPr>
          </a:p>
          <a:p>
            <a:pPr marL="0" marR="0" lvl="0" indent="0" algn="ctr" rtl="0">
              <a:lnSpc>
                <a:spcPct val="100000"/>
              </a:lnSpc>
              <a:spcBef>
                <a:spcPts val="0"/>
              </a:spcBef>
              <a:spcAft>
                <a:spcPts val="0"/>
              </a:spcAft>
              <a:buClr>
                <a:srgbClr val="000000"/>
              </a:buClr>
              <a:buSzPts val="1100"/>
              <a:buFont typeface="Arial"/>
              <a:buNone/>
            </a:pPr>
            <a:r>
              <a:rPr lang="pt-BR" sz="1100" b="0" i="0" u="none" strike="noStrike" cap="none">
                <a:solidFill>
                  <a:schemeClr val="lt1"/>
                </a:solidFill>
                <a:latin typeface="Proxima Nova"/>
                <a:ea typeface="Proxima Nova"/>
                <a:cs typeface="Proxima Nova"/>
                <a:sym typeface="Proxima Nova"/>
              </a:rPr>
              <a:t>gene6</a:t>
            </a:r>
            <a:endParaRPr sz="1100" b="0" i="0" u="none" strike="noStrike" cap="none">
              <a:solidFill>
                <a:schemeClr val="lt1"/>
              </a:solidFill>
              <a:latin typeface="Proxima Nova"/>
              <a:ea typeface="Proxima Nova"/>
              <a:cs typeface="Proxima Nova"/>
              <a:sym typeface="Proxima Nova"/>
            </a:endParaRPr>
          </a:p>
          <a:p>
            <a:pPr marL="0" marR="0" lvl="0" indent="0" algn="ctr" rtl="0">
              <a:lnSpc>
                <a:spcPct val="100000"/>
              </a:lnSpc>
              <a:spcBef>
                <a:spcPts val="0"/>
              </a:spcBef>
              <a:spcAft>
                <a:spcPts val="0"/>
              </a:spcAft>
              <a:buClr>
                <a:srgbClr val="000000"/>
              </a:buClr>
              <a:buSzPts val="1100"/>
              <a:buFont typeface="Arial"/>
              <a:buNone/>
            </a:pPr>
            <a:r>
              <a:rPr lang="pt-BR" sz="1100" b="0" i="0" u="none" strike="noStrike" cap="none">
                <a:solidFill>
                  <a:schemeClr val="lt1"/>
                </a:solidFill>
                <a:latin typeface="Proxima Nova"/>
                <a:ea typeface="Proxima Nova"/>
                <a:cs typeface="Proxima Nova"/>
                <a:sym typeface="Proxima Nova"/>
              </a:rPr>
              <a:t>gene7</a:t>
            </a:r>
            <a:endParaRPr sz="1100" b="0" i="0" u="none" strike="noStrike" cap="none">
              <a:solidFill>
                <a:schemeClr val="lt1"/>
              </a:solidFill>
              <a:latin typeface="Proxima Nova"/>
              <a:ea typeface="Proxima Nova"/>
              <a:cs typeface="Proxima Nova"/>
              <a:sym typeface="Proxima Nova"/>
            </a:endParaRPr>
          </a:p>
          <a:p>
            <a:pPr marL="0" marR="0" lvl="0" indent="0" algn="ctr" rtl="0">
              <a:lnSpc>
                <a:spcPct val="100000"/>
              </a:lnSpc>
              <a:spcBef>
                <a:spcPts val="0"/>
              </a:spcBef>
              <a:spcAft>
                <a:spcPts val="0"/>
              </a:spcAft>
              <a:buClr>
                <a:srgbClr val="000000"/>
              </a:buClr>
              <a:buSzPts val="1100"/>
              <a:buFont typeface="Arial"/>
              <a:buNone/>
            </a:pPr>
            <a:r>
              <a:rPr lang="pt-BR" sz="1100" b="0" i="0" u="none" strike="noStrike" cap="none">
                <a:solidFill>
                  <a:schemeClr val="lt1"/>
                </a:solidFill>
                <a:latin typeface="Proxima Nova"/>
                <a:ea typeface="Proxima Nova"/>
                <a:cs typeface="Proxima Nova"/>
                <a:sym typeface="Proxima Nova"/>
              </a:rPr>
              <a:t>gene8</a:t>
            </a:r>
            <a:endParaRPr sz="1100" b="0" i="0" u="none" strike="noStrike" cap="none">
              <a:solidFill>
                <a:schemeClr val="lt1"/>
              </a:solidFill>
              <a:latin typeface="Proxima Nova"/>
              <a:ea typeface="Proxima Nova"/>
              <a:cs typeface="Proxima Nova"/>
              <a:sym typeface="Proxima Nova"/>
            </a:endParaRPr>
          </a:p>
          <a:p>
            <a:pPr marL="0" marR="0" lvl="0" indent="0" algn="ctr" rtl="0">
              <a:lnSpc>
                <a:spcPct val="100000"/>
              </a:lnSpc>
              <a:spcBef>
                <a:spcPts val="0"/>
              </a:spcBef>
              <a:spcAft>
                <a:spcPts val="0"/>
              </a:spcAft>
              <a:buClr>
                <a:srgbClr val="000000"/>
              </a:buClr>
              <a:buSzPts val="1100"/>
              <a:buFont typeface="Arial"/>
              <a:buNone/>
            </a:pPr>
            <a:r>
              <a:rPr lang="pt-BR" sz="1100" b="0" i="0" u="none" strike="noStrike" cap="none">
                <a:solidFill>
                  <a:schemeClr val="lt1"/>
                </a:solidFill>
                <a:latin typeface="Proxima Nova"/>
                <a:ea typeface="Proxima Nova"/>
                <a:cs typeface="Proxima Nova"/>
                <a:sym typeface="Proxima Nova"/>
              </a:rPr>
              <a:t>gene9</a:t>
            </a:r>
            <a:endParaRPr sz="1100" b="0" i="0" u="none" strike="noStrike" cap="none">
              <a:solidFill>
                <a:schemeClr val="lt1"/>
              </a:solidFill>
              <a:latin typeface="Proxima Nova"/>
              <a:ea typeface="Proxima Nova"/>
              <a:cs typeface="Proxima Nova"/>
              <a:sym typeface="Proxima Nova"/>
            </a:endParaRPr>
          </a:p>
          <a:p>
            <a:pPr marL="0" marR="0" lvl="0" indent="0" algn="ctr" rtl="0">
              <a:lnSpc>
                <a:spcPct val="100000"/>
              </a:lnSpc>
              <a:spcBef>
                <a:spcPts val="0"/>
              </a:spcBef>
              <a:spcAft>
                <a:spcPts val="0"/>
              </a:spcAft>
              <a:buClr>
                <a:srgbClr val="000000"/>
              </a:buClr>
              <a:buSzPts val="1100"/>
              <a:buFont typeface="Arial"/>
              <a:buNone/>
            </a:pPr>
            <a:r>
              <a:rPr lang="pt-BR" sz="1100" b="0" i="0" u="none" strike="noStrike" cap="none">
                <a:solidFill>
                  <a:schemeClr val="lt1"/>
                </a:solidFill>
                <a:latin typeface="Proxima Nova"/>
                <a:ea typeface="Proxima Nova"/>
                <a:cs typeface="Proxima Nova"/>
                <a:sym typeface="Proxima Nova"/>
              </a:rPr>
              <a:t>gene10</a:t>
            </a:r>
            <a:endParaRPr sz="1100" b="0" i="0" u="none" strike="noStrike" cap="none">
              <a:solidFill>
                <a:schemeClr val="lt1"/>
              </a:solidFill>
              <a:latin typeface="Proxima Nova"/>
              <a:ea typeface="Proxima Nova"/>
              <a:cs typeface="Proxima Nova"/>
              <a:sym typeface="Proxima Nova"/>
            </a:endParaRPr>
          </a:p>
          <a:p>
            <a:pPr marL="0" marR="0" lvl="0" indent="0" algn="ctr" rtl="0">
              <a:lnSpc>
                <a:spcPct val="100000"/>
              </a:lnSpc>
              <a:spcBef>
                <a:spcPts val="0"/>
              </a:spcBef>
              <a:spcAft>
                <a:spcPts val="0"/>
              </a:spcAft>
              <a:buClr>
                <a:srgbClr val="000000"/>
              </a:buClr>
              <a:buSzPts val="1100"/>
              <a:buFont typeface="Arial"/>
              <a:buNone/>
            </a:pPr>
            <a:r>
              <a:rPr lang="pt-BR" sz="1100" b="0" i="0" u="none" strike="noStrike" cap="none">
                <a:solidFill>
                  <a:schemeClr val="lt1"/>
                </a:solidFill>
                <a:latin typeface="Proxima Nova"/>
                <a:ea typeface="Proxima Nova"/>
                <a:cs typeface="Proxima Nova"/>
                <a:sym typeface="Proxima Nova"/>
              </a:rPr>
              <a:t>gene11</a:t>
            </a:r>
            <a:endParaRPr sz="1100" b="0" i="0" u="none" strike="noStrike" cap="none">
              <a:solidFill>
                <a:schemeClr val="lt1"/>
              </a:solidFill>
              <a:latin typeface="Proxima Nova"/>
              <a:ea typeface="Proxima Nova"/>
              <a:cs typeface="Proxima Nova"/>
              <a:sym typeface="Proxima Nova"/>
            </a:endParaRPr>
          </a:p>
          <a:p>
            <a:pPr marL="0" marR="0" lvl="0" indent="0" algn="ctr" rtl="0">
              <a:lnSpc>
                <a:spcPct val="100000"/>
              </a:lnSpc>
              <a:spcBef>
                <a:spcPts val="0"/>
              </a:spcBef>
              <a:spcAft>
                <a:spcPts val="0"/>
              </a:spcAft>
              <a:buClr>
                <a:srgbClr val="000000"/>
              </a:buClr>
              <a:buSzPts val="1100"/>
              <a:buFont typeface="Arial"/>
              <a:buNone/>
            </a:pPr>
            <a:r>
              <a:rPr lang="pt-BR" sz="1100" b="0" i="0" u="none" strike="noStrike" cap="none">
                <a:solidFill>
                  <a:schemeClr val="lt1"/>
                </a:solidFill>
                <a:latin typeface="Proxima Nova"/>
                <a:ea typeface="Proxima Nova"/>
                <a:cs typeface="Proxima Nova"/>
                <a:sym typeface="Proxima Nova"/>
              </a:rPr>
              <a:t>gene12</a:t>
            </a:r>
            <a:endParaRPr sz="1100" b="0" i="0" u="none" strike="noStrike" cap="none">
              <a:solidFill>
                <a:schemeClr val="lt1"/>
              </a:solidFill>
              <a:latin typeface="Proxima Nova"/>
              <a:ea typeface="Proxima Nova"/>
              <a:cs typeface="Proxima Nova"/>
              <a:sym typeface="Proxima Nova"/>
            </a:endParaRPr>
          </a:p>
          <a:p>
            <a:pPr marL="0" marR="0" lvl="0" indent="0" algn="ctr" rtl="0">
              <a:lnSpc>
                <a:spcPct val="100000"/>
              </a:lnSpc>
              <a:spcBef>
                <a:spcPts val="0"/>
              </a:spcBef>
              <a:spcAft>
                <a:spcPts val="0"/>
              </a:spcAft>
              <a:buClr>
                <a:srgbClr val="000000"/>
              </a:buClr>
              <a:buSzPts val="1100"/>
              <a:buFont typeface="Arial"/>
              <a:buNone/>
            </a:pPr>
            <a:r>
              <a:rPr lang="pt-BR" sz="1100" b="0" i="0" u="none" strike="noStrike" cap="none">
                <a:solidFill>
                  <a:schemeClr val="lt1"/>
                </a:solidFill>
                <a:latin typeface="Proxima Nova"/>
                <a:ea typeface="Proxima Nova"/>
                <a:cs typeface="Proxima Nova"/>
                <a:sym typeface="Proxima Nova"/>
              </a:rPr>
              <a:t>…</a:t>
            </a:r>
            <a:endParaRPr sz="1100" b="0" i="0" u="none" strike="noStrike" cap="none">
              <a:solidFill>
                <a:schemeClr val="lt1"/>
              </a:solidFill>
              <a:latin typeface="Proxima Nova"/>
              <a:ea typeface="Proxima Nova"/>
              <a:cs typeface="Proxima Nova"/>
              <a:sym typeface="Proxima Nova"/>
            </a:endParaRPr>
          </a:p>
          <a:p>
            <a:pPr marL="0" marR="0" lvl="0" indent="0" algn="ctr" rtl="0">
              <a:lnSpc>
                <a:spcPct val="100000"/>
              </a:lnSpc>
              <a:spcBef>
                <a:spcPts val="0"/>
              </a:spcBef>
              <a:spcAft>
                <a:spcPts val="0"/>
              </a:spcAft>
              <a:buClr>
                <a:srgbClr val="000000"/>
              </a:buClr>
              <a:buSzPts val="1100"/>
              <a:buFont typeface="Arial"/>
              <a:buNone/>
            </a:pPr>
            <a:r>
              <a:rPr lang="pt-BR" sz="1100" b="0" i="0" u="none" strike="noStrike" cap="none">
                <a:solidFill>
                  <a:schemeClr val="lt1"/>
                </a:solidFill>
                <a:latin typeface="Proxima Nova"/>
                <a:ea typeface="Proxima Nova"/>
                <a:cs typeface="Proxima Nova"/>
                <a:sym typeface="Proxima Nova"/>
              </a:rPr>
              <a:t>(&gt;10^3)</a:t>
            </a:r>
            <a:endParaRPr sz="1100" b="0" i="0" u="none" strike="noStrike" cap="none">
              <a:solidFill>
                <a:schemeClr val="lt1"/>
              </a:solidFill>
              <a:latin typeface="Proxima Nova"/>
              <a:ea typeface="Proxima Nova"/>
              <a:cs typeface="Proxima Nova"/>
              <a:sym typeface="Proxima Nova"/>
            </a:endParaRPr>
          </a:p>
        </p:txBody>
      </p:sp>
      <p:sp>
        <p:nvSpPr>
          <p:cNvPr id="703" name="Google Shape;703;g3fa37cb035d_0_60"/>
          <p:cNvSpPr/>
          <p:nvPr/>
        </p:nvSpPr>
        <p:spPr>
          <a:xfrm>
            <a:off x="1125850" y="1900675"/>
            <a:ext cx="3200700" cy="2660100"/>
          </a:xfrm>
          <a:prstGeom prst="rect">
            <a:avLst/>
          </a:prstGeom>
          <a:solidFill>
            <a:srgbClr val="D9D9D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pt-BR" sz="1400" b="0" i="0" u="none" strike="noStrike" cap="none">
                <a:solidFill>
                  <a:srgbClr val="000000"/>
                </a:solidFill>
                <a:latin typeface="Proxima Nova"/>
                <a:ea typeface="Proxima Nova"/>
                <a:cs typeface="Proxima Nova"/>
                <a:sym typeface="Proxima Nova"/>
              </a:rPr>
              <a:t>counts</a:t>
            </a:r>
            <a:endParaRPr sz="1400" b="0" i="0" u="none" strike="noStrike" cap="none">
              <a:solidFill>
                <a:srgbClr val="000000"/>
              </a:solidFill>
              <a:latin typeface="Proxima Nova"/>
              <a:ea typeface="Proxima Nova"/>
              <a:cs typeface="Proxima Nova"/>
              <a:sym typeface="Proxima Nova"/>
            </a:endParaRPr>
          </a:p>
        </p:txBody>
      </p:sp>
      <p:sp>
        <p:nvSpPr>
          <p:cNvPr id="704" name="Google Shape;704;g3fa37cb035d_0_60"/>
          <p:cNvSpPr/>
          <p:nvPr/>
        </p:nvSpPr>
        <p:spPr>
          <a:xfrm>
            <a:off x="4399325" y="830025"/>
            <a:ext cx="1578375" cy="242825"/>
          </a:xfrm>
          <a:custGeom>
            <a:avLst/>
            <a:gdLst/>
            <a:ahLst/>
            <a:cxnLst/>
            <a:rect l="l" t="t" r="r" b="b"/>
            <a:pathLst>
              <a:path w="63135" h="9713" extrusionOk="0">
                <a:moveTo>
                  <a:pt x="0" y="9713"/>
                </a:moveTo>
                <a:cubicBezTo>
                  <a:pt x="9522" y="-9332"/>
                  <a:pt x="48079" y="15056"/>
                  <a:pt x="63135" y="0"/>
                </a:cubicBezTo>
              </a:path>
            </a:pathLst>
          </a:cu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g3fa37cb035d_0_60"/>
          <p:cNvSpPr txBox="1"/>
          <p:nvPr/>
        </p:nvSpPr>
        <p:spPr>
          <a:xfrm>
            <a:off x="5977700" y="445025"/>
            <a:ext cx="2494500" cy="776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pt-BR" sz="1600" b="0" i="0" u="none" strike="noStrike" cap="none">
                <a:solidFill>
                  <a:schemeClr val="lt1"/>
                </a:solidFill>
                <a:highlight>
                  <a:schemeClr val="dk2"/>
                </a:highlight>
                <a:latin typeface="Proxima Nova"/>
                <a:ea typeface="Proxima Nova"/>
                <a:cs typeface="Proxima Nova"/>
                <a:sym typeface="Proxima Nova"/>
              </a:rPr>
              <a:t>Amostra = barcode</a:t>
            </a:r>
            <a:endParaRPr sz="1600" b="0" i="0" u="none" strike="noStrike" cap="none">
              <a:solidFill>
                <a:schemeClr val="lt1"/>
              </a:solidFill>
              <a:highlight>
                <a:schemeClr val="dk2"/>
              </a:highlight>
              <a:latin typeface="Proxima Nova"/>
              <a:ea typeface="Proxima Nova"/>
              <a:cs typeface="Proxima Nova"/>
              <a:sym typeface="Proxima Nova"/>
            </a:endParaRPr>
          </a:p>
          <a:p>
            <a:pPr marL="0" marR="0" lvl="0" indent="0" algn="l" rtl="0">
              <a:lnSpc>
                <a:spcPct val="100000"/>
              </a:lnSpc>
              <a:spcBef>
                <a:spcPts val="0"/>
              </a:spcBef>
              <a:spcAft>
                <a:spcPts val="0"/>
              </a:spcAft>
              <a:buClr>
                <a:srgbClr val="000000"/>
              </a:buClr>
              <a:buSzPts val="1600"/>
              <a:buFont typeface="Arial"/>
              <a:buNone/>
            </a:pPr>
            <a:r>
              <a:rPr lang="pt-BR" sz="1600" b="0" i="0" u="none" strike="noStrike" cap="none">
                <a:solidFill>
                  <a:schemeClr val="lt1"/>
                </a:solidFill>
                <a:latin typeface="Proxima Nova"/>
                <a:ea typeface="Proxima Nova"/>
                <a:cs typeface="Proxima Nova"/>
                <a:sym typeface="Proxima Nova"/>
              </a:rPr>
              <a:t>                    </a:t>
            </a:r>
            <a:r>
              <a:rPr lang="pt-BR" sz="1600" b="0" i="0" u="none" strike="noStrike" cap="none">
                <a:solidFill>
                  <a:schemeClr val="lt1"/>
                </a:solidFill>
                <a:highlight>
                  <a:schemeClr val="dk2"/>
                </a:highlight>
                <a:latin typeface="Proxima Nova"/>
                <a:ea typeface="Proxima Nova"/>
                <a:cs typeface="Proxima Nova"/>
                <a:sym typeface="Proxima Nova"/>
              </a:rPr>
              <a:t>(célula/spot)</a:t>
            </a:r>
            <a:endParaRPr sz="1600" b="0" i="0" u="none" strike="noStrike" cap="none">
              <a:solidFill>
                <a:schemeClr val="lt1"/>
              </a:solidFill>
              <a:highlight>
                <a:schemeClr val="dk2"/>
              </a:highlight>
              <a:latin typeface="Proxima Nova"/>
              <a:ea typeface="Proxima Nova"/>
              <a:cs typeface="Proxima Nova"/>
              <a:sym typeface="Proxima Nova"/>
            </a:endParaRPr>
          </a:p>
        </p:txBody>
      </p:sp>
      <p:sp>
        <p:nvSpPr>
          <p:cNvPr id="706" name="Google Shape;706;g3fa37cb035d_0_60"/>
          <p:cNvSpPr/>
          <p:nvPr/>
        </p:nvSpPr>
        <p:spPr>
          <a:xfrm>
            <a:off x="1125850" y="1172513"/>
            <a:ext cx="7273500" cy="6285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pt-BR" sz="1400" b="0" i="0" u="none" strike="noStrike" cap="none">
                <a:solidFill>
                  <a:schemeClr val="lt1"/>
                </a:solidFill>
                <a:latin typeface="Proxima Nova"/>
                <a:ea typeface="Proxima Nova"/>
                <a:cs typeface="Proxima Nova"/>
                <a:sym typeface="Proxima Nova"/>
              </a:rPr>
              <a:t>… (&gt;10^3)</a:t>
            </a:r>
            <a:endParaRPr sz="1400" b="0" i="0" u="none" strike="noStrike" cap="none">
              <a:solidFill>
                <a:schemeClr val="lt1"/>
              </a:solidFill>
              <a:latin typeface="Proxima Nova"/>
              <a:ea typeface="Proxima Nova"/>
              <a:cs typeface="Proxima Nova"/>
              <a:sym typeface="Proxima Nova"/>
            </a:endParaRPr>
          </a:p>
        </p:txBody>
      </p:sp>
      <p:sp>
        <p:nvSpPr>
          <p:cNvPr id="707" name="Google Shape;707;g3fa37cb035d_0_60"/>
          <p:cNvSpPr/>
          <p:nvPr/>
        </p:nvSpPr>
        <p:spPr>
          <a:xfrm>
            <a:off x="1125850" y="1900675"/>
            <a:ext cx="7273500" cy="2660100"/>
          </a:xfrm>
          <a:prstGeom prst="rect">
            <a:avLst/>
          </a:prstGeom>
          <a:solidFill>
            <a:srgbClr val="D9D9D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pt-BR" sz="1400" b="0" i="0" u="none" strike="noStrike" cap="none">
                <a:solidFill>
                  <a:srgbClr val="000000"/>
                </a:solidFill>
                <a:latin typeface="Proxima Nova"/>
                <a:ea typeface="Proxima Nova"/>
                <a:cs typeface="Proxima Nova"/>
                <a:sym typeface="Proxima Nova"/>
              </a:rPr>
              <a:t>counts</a:t>
            </a:r>
            <a:endParaRPr sz="1400" b="0" i="0" u="none" strike="noStrike" cap="none">
              <a:solidFill>
                <a:srgbClr val="000000"/>
              </a:solidFill>
              <a:latin typeface="Proxima Nova"/>
              <a:ea typeface="Proxima Nova"/>
              <a:cs typeface="Proxima Nova"/>
              <a:sym typeface="Proxima Nova"/>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711"/>
        <p:cNvGrpSpPr/>
        <p:nvPr/>
      </p:nvGrpSpPr>
      <p:grpSpPr>
        <a:xfrm>
          <a:off x="0" y="0"/>
          <a:ext cx="0" cy="0"/>
          <a:chOff x="0" y="0"/>
          <a:chExt cx="0" cy="0"/>
        </a:xfrm>
      </p:grpSpPr>
      <p:sp>
        <p:nvSpPr>
          <p:cNvPr id="712" name="Google Shape;712;g3fa37cb035d_0_105"/>
          <p:cNvSpPr txBox="1">
            <a:spLocks noGrp="1"/>
          </p:cNvSpPr>
          <p:nvPr>
            <p:ph type="title"/>
          </p:nvPr>
        </p:nvSpPr>
        <p:spPr>
          <a:xfrm>
            <a:off x="311700" y="445025"/>
            <a:ext cx="5615400" cy="707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sz="1900" b="1"/>
              <a:t>Volume</a:t>
            </a:r>
            <a:r>
              <a:rPr lang="pt-BR" sz="1900"/>
              <a:t> e complexidade de dados</a:t>
            </a:r>
            <a:endParaRPr sz="2700"/>
          </a:p>
        </p:txBody>
      </p:sp>
      <p:sp>
        <p:nvSpPr>
          <p:cNvPr id="713" name="Google Shape;713;g3fa37cb035d_0_105"/>
          <p:cNvSpPr/>
          <p:nvPr/>
        </p:nvSpPr>
        <p:spPr>
          <a:xfrm>
            <a:off x="1125850" y="1900675"/>
            <a:ext cx="3200700" cy="2660100"/>
          </a:xfrm>
          <a:prstGeom prst="rect">
            <a:avLst/>
          </a:prstGeom>
          <a:solidFill>
            <a:srgbClr val="D9D9D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pt-BR" sz="1400" b="0" i="0" u="none" strike="noStrike" cap="none">
                <a:solidFill>
                  <a:srgbClr val="000000"/>
                </a:solidFill>
                <a:latin typeface="Proxima Nova"/>
                <a:ea typeface="Proxima Nova"/>
                <a:cs typeface="Proxima Nova"/>
                <a:sym typeface="Proxima Nova"/>
              </a:rPr>
              <a:t>counts</a:t>
            </a:r>
            <a:endParaRPr sz="1400" b="0" i="0" u="none" strike="noStrike" cap="none">
              <a:solidFill>
                <a:srgbClr val="000000"/>
              </a:solidFill>
              <a:latin typeface="Proxima Nova"/>
              <a:ea typeface="Proxima Nova"/>
              <a:cs typeface="Proxima Nova"/>
              <a:sym typeface="Proxima Nova"/>
            </a:endParaRPr>
          </a:p>
        </p:txBody>
      </p:sp>
      <p:sp>
        <p:nvSpPr>
          <p:cNvPr id="714" name="Google Shape;714;g3fa37cb035d_0_105"/>
          <p:cNvSpPr/>
          <p:nvPr/>
        </p:nvSpPr>
        <p:spPr>
          <a:xfrm>
            <a:off x="362125" y="1900675"/>
            <a:ext cx="664500" cy="26601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pt-BR" sz="1100" b="0" i="0" u="none" strike="noStrike" cap="none">
                <a:solidFill>
                  <a:schemeClr val="lt1"/>
                </a:solidFill>
                <a:latin typeface="Proxima Nova"/>
                <a:ea typeface="Proxima Nova"/>
                <a:cs typeface="Proxima Nova"/>
                <a:sym typeface="Proxima Nova"/>
              </a:rPr>
              <a:t>gene1</a:t>
            </a:r>
            <a:endParaRPr sz="1100" b="0" i="0" u="none" strike="noStrike" cap="none">
              <a:solidFill>
                <a:schemeClr val="lt1"/>
              </a:solidFill>
              <a:latin typeface="Proxima Nova"/>
              <a:ea typeface="Proxima Nova"/>
              <a:cs typeface="Proxima Nova"/>
              <a:sym typeface="Proxima Nova"/>
            </a:endParaRPr>
          </a:p>
          <a:p>
            <a:pPr marL="0" marR="0" lvl="0" indent="0" algn="ctr" rtl="0">
              <a:lnSpc>
                <a:spcPct val="100000"/>
              </a:lnSpc>
              <a:spcBef>
                <a:spcPts val="0"/>
              </a:spcBef>
              <a:spcAft>
                <a:spcPts val="0"/>
              </a:spcAft>
              <a:buClr>
                <a:srgbClr val="000000"/>
              </a:buClr>
              <a:buSzPts val="1100"/>
              <a:buFont typeface="Arial"/>
              <a:buNone/>
            </a:pPr>
            <a:r>
              <a:rPr lang="pt-BR" sz="1100" b="0" i="0" u="none" strike="noStrike" cap="none">
                <a:solidFill>
                  <a:schemeClr val="lt1"/>
                </a:solidFill>
                <a:latin typeface="Proxima Nova"/>
                <a:ea typeface="Proxima Nova"/>
                <a:cs typeface="Proxima Nova"/>
                <a:sym typeface="Proxima Nova"/>
              </a:rPr>
              <a:t>gene2</a:t>
            </a:r>
            <a:endParaRPr sz="1100" b="0" i="0" u="none" strike="noStrike" cap="none">
              <a:solidFill>
                <a:schemeClr val="lt1"/>
              </a:solidFill>
              <a:latin typeface="Proxima Nova"/>
              <a:ea typeface="Proxima Nova"/>
              <a:cs typeface="Proxima Nova"/>
              <a:sym typeface="Proxima Nova"/>
            </a:endParaRPr>
          </a:p>
          <a:p>
            <a:pPr marL="0" marR="0" lvl="0" indent="0" algn="ctr" rtl="0">
              <a:lnSpc>
                <a:spcPct val="100000"/>
              </a:lnSpc>
              <a:spcBef>
                <a:spcPts val="0"/>
              </a:spcBef>
              <a:spcAft>
                <a:spcPts val="0"/>
              </a:spcAft>
              <a:buClr>
                <a:srgbClr val="000000"/>
              </a:buClr>
              <a:buSzPts val="1100"/>
              <a:buFont typeface="Arial"/>
              <a:buNone/>
            </a:pPr>
            <a:r>
              <a:rPr lang="pt-BR" sz="1100" b="0" i="0" u="none" strike="noStrike" cap="none">
                <a:solidFill>
                  <a:schemeClr val="lt1"/>
                </a:solidFill>
                <a:latin typeface="Proxima Nova"/>
                <a:ea typeface="Proxima Nova"/>
                <a:cs typeface="Proxima Nova"/>
                <a:sym typeface="Proxima Nova"/>
              </a:rPr>
              <a:t>gene3</a:t>
            </a:r>
            <a:endParaRPr sz="1100" b="0" i="0" u="none" strike="noStrike" cap="none">
              <a:solidFill>
                <a:schemeClr val="lt1"/>
              </a:solidFill>
              <a:latin typeface="Proxima Nova"/>
              <a:ea typeface="Proxima Nova"/>
              <a:cs typeface="Proxima Nova"/>
              <a:sym typeface="Proxima Nova"/>
            </a:endParaRPr>
          </a:p>
          <a:p>
            <a:pPr marL="0" marR="0" lvl="0" indent="0" algn="ctr" rtl="0">
              <a:lnSpc>
                <a:spcPct val="100000"/>
              </a:lnSpc>
              <a:spcBef>
                <a:spcPts val="0"/>
              </a:spcBef>
              <a:spcAft>
                <a:spcPts val="0"/>
              </a:spcAft>
              <a:buClr>
                <a:srgbClr val="000000"/>
              </a:buClr>
              <a:buSzPts val="1100"/>
              <a:buFont typeface="Arial"/>
              <a:buNone/>
            </a:pPr>
            <a:r>
              <a:rPr lang="pt-BR" sz="1100" b="0" i="0" u="none" strike="noStrike" cap="none">
                <a:solidFill>
                  <a:schemeClr val="lt1"/>
                </a:solidFill>
                <a:latin typeface="Proxima Nova"/>
                <a:ea typeface="Proxima Nova"/>
                <a:cs typeface="Proxima Nova"/>
                <a:sym typeface="Proxima Nova"/>
              </a:rPr>
              <a:t>gene4</a:t>
            </a:r>
            <a:endParaRPr sz="1100" b="0" i="0" u="none" strike="noStrike" cap="none">
              <a:solidFill>
                <a:schemeClr val="lt1"/>
              </a:solidFill>
              <a:latin typeface="Proxima Nova"/>
              <a:ea typeface="Proxima Nova"/>
              <a:cs typeface="Proxima Nova"/>
              <a:sym typeface="Proxima Nova"/>
            </a:endParaRPr>
          </a:p>
          <a:p>
            <a:pPr marL="0" marR="0" lvl="0" indent="0" algn="ctr" rtl="0">
              <a:lnSpc>
                <a:spcPct val="100000"/>
              </a:lnSpc>
              <a:spcBef>
                <a:spcPts val="0"/>
              </a:spcBef>
              <a:spcAft>
                <a:spcPts val="0"/>
              </a:spcAft>
              <a:buClr>
                <a:srgbClr val="000000"/>
              </a:buClr>
              <a:buSzPts val="1100"/>
              <a:buFont typeface="Arial"/>
              <a:buNone/>
            </a:pPr>
            <a:r>
              <a:rPr lang="pt-BR" sz="1100" b="0" i="0" u="none" strike="noStrike" cap="none">
                <a:solidFill>
                  <a:schemeClr val="lt1"/>
                </a:solidFill>
                <a:latin typeface="Proxima Nova"/>
                <a:ea typeface="Proxima Nova"/>
                <a:cs typeface="Proxima Nova"/>
                <a:sym typeface="Proxima Nova"/>
              </a:rPr>
              <a:t>gene5</a:t>
            </a:r>
            <a:endParaRPr sz="1100" b="0" i="0" u="none" strike="noStrike" cap="none">
              <a:solidFill>
                <a:schemeClr val="lt1"/>
              </a:solidFill>
              <a:latin typeface="Proxima Nova"/>
              <a:ea typeface="Proxima Nova"/>
              <a:cs typeface="Proxima Nova"/>
              <a:sym typeface="Proxima Nova"/>
            </a:endParaRPr>
          </a:p>
          <a:p>
            <a:pPr marL="0" marR="0" lvl="0" indent="0" algn="ctr" rtl="0">
              <a:lnSpc>
                <a:spcPct val="100000"/>
              </a:lnSpc>
              <a:spcBef>
                <a:spcPts val="0"/>
              </a:spcBef>
              <a:spcAft>
                <a:spcPts val="0"/>
              </a:spcAft>
              <a:buClr>
                <a:srgbClr val="000000"/>
              </a:buClr>
              <a:buSzPts val="1100"/>
              <a:buFont typeface="Arial"/>
              <a:buNone/>
            </a:pPr>
            <a:r>
              <a:rPr lang="pt-BR" sz="1100" b="0" i="0" u="none" strike="noStrike" cap="none">
                <a:solidFill>
                  <a:schemeClr val="lt1"/>
                </a:solidFill>
                <a:latin typeface="Proxima Nova"/>
                <a:ea typeface="Proxima Nova"/>
                <a:cs typeface="Proxima Nova"/>
                <a:sym typeface="Proxima Nova"/>
              </a:rPr>
              <a:t>gene6</a:t>
            </a:r>
            <a:endParaRPr sz="1100" b="0" i="0" u="none" strike="noStrike" cap="none">
              <a:solidFill>
                <a:schemeClr val="lt1"/>
              </a:solidFill>
              <a:latin typeface="Proxima Nova"/>
              <a:ea typeface="Proxima Nova"/>
              <a:cs typeface="Proxima Nova"/>
              <a:sym typeface="Proxima Nova"/>
            </a:endParaRPr>
          </a:p>
          <a:p>
            <a:pPr marL="0" marR="0" lvl="0" indent="0" algn="ctr" rtl="0">
              <a:lnSpc>
                <a:spcPct val="100000"/>
              </a:lnSpc>
              <a:spcBef>
                <a:spcPts val="0"/>
              </a:spcBef>
              <a:spcAft>
                <a:spcPts val="0"/>
              </a:spcAft>
              <a:buClr>
                <a:srgbClr val="000000"/>
              </a:buClr>
              <a:buSzPts val="1100"/>
              <a:buFont typeface="Arial"/>
              <a:buNone/>
            </a:pPr>
            <a:r>
              <a:rPr lang="pt-BR" sz="1100" b="0" i="0" u="none" strike="noStrike" cap="none">
                <a:solidFill>
                  <a:schemeClr val="lt1"/>
                </a:solidFill>
                <a:latin typeface="Proxima Nova"/>
                <a:ea typeface="Proxima Nova"/>
                <a:cs typeface="Proxima Nova"/>
                <a:sym typeface="Proxima Nova"/>
              </a:rPr>
              <a:t>gene7</a:t>
            </a:r>
            <a:endParaRPr sz="1100" b="0" i="0" u="none" strike="noStrike" cap="none">
              <a:solidFill>
                <a:schemeClr val="lt1"/>
              </a:solidFill>
              <a:latin typeface="Proxima Nova"/>
              <a:ea typeface="Proxima Nova"/>
              <a:cs typeface="Proxima Nova"/>
              <a:sym typeface="Proxima Nova"/>
            </a:endParaRPr>
          </a:p>
          <a:p>
            <a:pPr marL="0" marR="0" lvl="0" indent="0" algn="ctr" rtl="0">
              <a:lnSpc>
                <a:spcPct val="100000"/>
              </a:lnSpc>
              <a:spcBef>
                <a:spcPts val="0"/>
              </a:spcBef>
              <a:spcAft>
                <a:spcPts val="0"/>
              </a:spcAft>
              <a:buClr>
                <a:srgbClr val="000000"/>
              </a:buClr>
              <a:buSzPts val="1100"/>
              <a:buFont typeface="Arial"/>
              <a:buNone/>
            </a:pPr>
            <a:r>
              <a:rPr lang="pt-BR" sz="1100" b="0" i="0" u="none" strike="noStrike" cap="none">
                <a:solidFill>
                  <a:schemeClr val="lt1"/>
                </a:solidFill>
                <a:latin typeface="Proxima Nova"/>
                <a:ea typeface="Proxima Nova"/>
                <a:cs typeface="Proxima Nova"/>
                <a:sym typeface="Proxima Nova"/>
              </a:rPr>
              <a:t>gene8</a:t>
            </a:r>
            <a:endParaRPr sz="1100" b="0" i="0" u="none" strike="noStrike" cap="none">
              <a:solidFill>
                <a:schemeClr val="lt1"/>
              </a:solidFill>
              <a:latin typeface="Proxima Nova"/>
              <a:ea typeface="Proxima Nova"/>
              <a:cs typeface="Proxima Nova"/>
              <a:sym typeface="Proxima Nova"/>
            </a:endParaRPr>
          </a:p>
          <a:p>
            <a:pPr marL="0" marR="0" lvl="0" indent="0" algn="ctr" rtl="0">
              <a:lnSpc>
                <a:spcPct val="100000"/>
              </a:lnSpc>
              <a:spcBef>
                <a:spcPts val="0"/>
              </a:spcBef>
              <a:spcAft>
                <a:spcPts val="0"/>
              </a:spcAft>
              <a:buClr>
                <a:srgbClr val="000000"/>
              </a:buClr>
              <a:buSzPts val="1100"/>
              <a:buFont typeface="Arial"/>
              <a:buNone/>
            </a:pPr>
            <a:r>
              <a:rPr lang="pt-BR" sz="1100" b="0" i="0" u="none" strike="noStrike" cap="none">
                <a:solidFill>
                  <a:schemeClr val="lt1"/>
                </a:solidFill>
                <a:latin typeface="Proxima Nova"/>
                <a:ea typeface="Proxima Nova"/>
                <a:cs typeface="Proxima Nova"/>
                <a:sym typeface="Proxima Nova"/>
              </a:rPr>
              <a:t>gene9</a:t>
            </a:r>
            <a:endParaRPr sz="1100" b="0" i="0" u="none" strike="noStrike" cap="none">
              <a:solidFill>
                <a:schemeClr val="lt1"/>
              </a:solidFill>
              <a:latin typeface="Proxima Nova"/>
              <a:ea typeface="Proxima Nova"/>
              <a:cs typeface="Proxima Nova"/>
              <a:sym typeface="Proxima Nova"/>
            </a:endParaRPr>
          </a:p>
          <a:p>
            <a:pPr marL="0" marR="0" lvl="0" indent="0" algn="ctr" rtl="0">
              <a:lnSpc>
                <a:spcPct val="100000"/>
              </a:lnSpc>
              <a:spcBef>
                <a:spcPts val="0"/>
              </a:spcBef>
              <a:spcAft>
                <a:spcPts val="0"/>
              </a:spcAft>
              <a:buClr>
                <a:srgbClr val="000000"/>
              </a:buClr>
              <a:buSzPts val="1100"/>
              <a:buFont typeface="Arial"/>
              <a:buNone/>
            </a:pPr>
            <a:r>
              <a:rPr lang="pt-BR" sz="1100" b="0" i="0" u="none" strike="noStrike" cap="none">
                <a:solidFill>
                  <a:schemeClr val="lt1"/>
                </a:solidFill>
                <a:latin typeface="Proxima Nova"/>
                <a:ea typeface="Proxima Nova"/>
                <a:cs typeface="Proxima Nova"/>
                <a:sym typeface="Proxima Nova"/>
              </a:rPr>
              <a:t>gene10</a:t>
            </a:r>
            <a:endParaRPr sz="1100" b="0" i="0" u="none" strike="noStrike" cap="none">
              <a:solidFill>
                <a:schemeClr val="lt1"/>
              </a:solidFill>
              <a:latin typeface="Proxima Nova"/>
              <a:ea typeface="Proxima Nova"/>
              <a:cs typeface="Proxima Nova"/>
              <a:sym typeface="Proxima Nova"/>
            </a:endParaRPr>
          </a:p>
          <a:p>
            <a:pPr marL="0" marR="0" lvl="0" indent="0" algn="ctr" rtl="0">
              <a:lnSpc>
                <a:spcPct val="100000"/>
              </a:lnSpc>
              <a:spcBef>
                <a:spcPts val="0"/>
              </a:spcBef>
              <a:spcAft>
                <a:spcPts val="0"/>
              </a:spcAft>
              <a:buClr>
                <a:srgbClr val="000000"/>
              </a:buClr>
              <a:buSzPts val="1100"/>
              <a:buFont typeface="Arial"/>
              <a:buNone/>
            </a:pPr>
            <a:r>
              <a:rPr lang="pt-BR" sz="1100" b="0" i="0" u="none" strike="noStrike" cap="none">
                <a:solidFill>
                  <a:schemeClr val="lt1"/>
                </a:solidFill>
                <a:latin typeface="Proxima Nova"/>
                <a:ea typeface="Proxima Nova"/>
                <a:cs typeface="Proxima Nova"/>
                <a:sym typeface="Proxima Nova"/>
              </a:rPr>
              <a:t>gene11</a:t>
            </a:r>
            <a:endParaRPr sz="1100" b="0" i="0" u="none" strike="noStrike" cap="none">
              <a:solidFill>
                <a:schemeClr val="lt1"/>
              </a:solidFill>
              <a:latin typeface="Proxima Nova"/>
              <a:ea typeface="Proxima Nova"/>
              <a:cs typeface="Proxima Nova"/>
              <a:sym typeface="Proxima Nova"/>
            </a:endParaRPr>
          </a:p>
          <a:p>
            <a:pPr marL="0" marR="0" lvl="0" indent="0" algn="ctr" rtl="0">
              <a:lnSpc>
                <a:spcPct val="100000"/>
              </a:lnSpc>
              <a:spcBef>
                <a:spcPts val="0"/>
              </a:spcBef>
              <a:spcAft>
                <a:spcPts val="0"/>
              </a:spcAft>
              <a:buClr>
                <a:srgbClr val="000000"/>
              </a:buClr>
              <a:buSzPts val="1100"/>
              <a:buFont typeface="Arial"/>
              <a:buNone/>
            </a:pPr>
            <a:r>
              <a:rPr lang="pt-BR" sz="1100" b="0" i="0" u="none" strike="noStrike" cap="none">
                <a:solidFill>
                  <a:schemeClr val="lt1"/>
                </a:solidFill>
                <a:latin typeface="Proxima Nova"/>
                <a:ea typeface="Proxima Nova"/>
                <a:cs typeface="Proxima Nova"/>
                <a:sym typeface="Proxima Nova"/>
              </a:rPr>
              <a:t>gene12</a:t>
            </a:r>
            <a:endParaRPr sz="1100" b="0" i="0" u="none" strike="noStrike" cap="none">
              <a:solidFill>
                <a:schemeClr val="lt1"/>
              </a:solidFill>
              <a:latin typeface="Proxima Nova"/>
              <a:ea typeface="Proxima Nova"/>
              <a:cs typeface="Proxima Nova"/>
              <a:sym typeface="Proxima Nova"/>
            </a:endParaRPr>
          </a:p>
          <a:p>
            <a:pPr marL="0" marR="0" lvl="0" indent="0" algn="ctr" rtl="0">
              <a:lnSpc>
                <a:spcPct val="100000"/>
              </a:lnSpc>
              <a:spcBef>
                <a:spcPts val="0"/>
              </a:spcBef>
              <a:spcAft>
                <a:spcPts val="0"/>
              </a:spcAft>
              <a:buClr>
                <a:srgbClr val="000000"/>
              </a:buClr>
              <a:buSzPts val="1100"/>
              <a:buFont typeface="Arial"/>
              <a:buNone/>
            </a:pPr>
            <a:r>
              <a:rPr lang="pt-BR" sz="1100" b="0" i="0" u="none" strike="noStrike" cap="none">
                <a:solidFill>
                  <a:schemeClr val="lt1"/>
                </a:solidFill>
                <a:latin typeface="Proxima Nova"/>
                <a:ea typeface="Proxima Nova"/>
                <a:cs typeface="Proxima Nova"/>
                <a:sym typeface="Proxima Nova"/>
              </a:rPr>
              <a:t>…</a:t>
            </a:r>
            <a:endParaRPr sz="1100" b="0" i="0" u="none" strike="noStrike" cap="none">
              <a:solidFill>
                <a:schemeClr val="lt1"/>
              </a:solidFill>
              <a:latin typeface="Proxima Nova"/>
              <a:ea typeface="Proxima Nova"/>
              <a:cs typeface="Proxima Nova"/>
              <a:sym typeface="Proxima Nova"/>
            </a:endParaRPr>
          </a:p>
          <a:p>
            <a:pPr marL="0" marR="0" lvl="0" indent="0" algn="ctr" rtl="0">
              <a:lnSpc>
                <a:spcPct val="100000"/>
              </a:lnSpc>
              <a:spcBef>
                <a:spcPts val="0"/>
              </a:spcBef>
              <a:spcAft>
                <a:spcPts val="0"/>
              </a:spcAft>
              <a:buClr>
                <a:srgbClr val="000000"/>
              </a:buClr>
              <a:buSzPts val="1100"/>
              <a:buFont typeface="Arial"/>
              <a:buNone/>
            </a:pPr>
            <a:r>
              <a:rPr lang="pt-BR" sz="1100" b="0" i="0" u="none" strike="noStrike" cap="none">
                <a:solidFill>
                  <a:schemeClr val="lt1"/>
                </a:solidFill>
                <a:latin typeface="Proxima Nova"/>
                <a:ea typeface="Proxima Nova"/>
                <a:cs typeface="Proxima Nova"/>
                <a:sym typeface="Proxima Nova"/>
              </a:rPr>
              <a:t>(&gt;10^3)</a:t>
            </a:r>
            <a:endParaRPr sz="1100" b="0" i="0" u="none" strike="noStrike" cap="none">
              <a:solidFill>
                <a:schemeClr val="lt1"/>
              </a:solidFill>
              <a:latin typeface="Proxima Nova"/>
              <a:ea typeface="Proxima Nova"/>
              <a:cs typeface="Proxima Nova"/>
              <a:sym typeface="Proxima Nova"/>
            </a:endParaRPr>
          </a:p>
        </p:txBody>
      </p:sp>
      <p:sp>
        <p:nvSpPr>
          <p:cNvPr id="715" name="Google Shape;715;g3fa37cb035d_0_105"/>
          <p:cNvSpPr/>
          <p:nvPr/>
        </p:nvSpPr>
        <p:spPr>
          <a:xfrm>
            <a:off x="1125850" y="1900675"/>
            <a:ext cx="3200700" cy="2660100"/>
          </a:xfrm>
          <a:prstGeom prst="rect">
            <a:avLst/>
          </a:prstGeom>
          <a:solidFill>
            <a:srgbClr val="D9D9D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pt-BR" sz="1400" b="0" i="0" u="none" strike="noStrike" cap="none">
                <a:solidFill>
                  <a:srgbClr val="000000"/>
                </a:solidFill>
                <a:latin typeface="Proxima Nova"/>
                <a:ea typeface="Proxima Nova"/>
                <a:cs typeface="Proxima Nova"/>
                <a:sym typeface="Proxima Nova"/>
              </a:rPr>
              <a:t>counts</a:t>
            </a:r>
            <a:endParaRPr sz="1400" b="0" i="0" u="none" strike="noStrike" cap="none">
              <a:solidFill>
                <a:srgbClr val="000000"/>
              </a:solidFill>
              <a:latin typeface="Proxima Nova"/>
              <a:ea typeface="Proxima Nova"/>
              <a:cs typeface="Proxima Nova"/>
              <a:sym typeface="Proxima Nova"/>
            </a:endParaRPr>
          </a:p>
        </p:txBody>
      </p:sp>
      <p:sp>
        <p:nvSpPr>
          <p:cNvPr id="716" name="Google Shape;716;g3fa37cb035d_0_105"/>
          <p:cNvSpPr/>
          <p:nvPr/>
        </p:nvSpPr>
        <p:spPr>
          <a:xfrm>
            <a:off x="4399325" y="830025"/>
            <a:ext cx="1578375" cy="242825"/>
          </a:xfrm>
          <a:custGeom>
            <a:avLst/>
            <a:gdLst/>
            <a:ahLst/>
            <a:cxnLst/>
            <a:rect l="l" t="t" r="r" b="b"/>
            <a:pathLst>
              <a:path w="63135" h="9713" extrusionOk="0">
                <a:moveTo>
                  <a:pt x="0" y="9713"/>
                </a:moveTo>
                <a:cubicBezTo>
                  <a:pt x="9522" y="-9332"/>
                  <a:pt x="48079" y="15056"/>
                  <a:pt x="63135" y="0"/>
                </a:cubicBezTo>
              </a:path>
            </a:pathLst>
          </a:cu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g3fa37cb035d_0_105"/>
          <p:cNvSpPr txBox="1"/>
          <p:nvPr/>
        </p:nvSpPr>
        <p:spPr>
          <a:xfrm>
            <a:off x="5977700" y="445025"/>
            <a:ext cx="2494500" cy="776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pt-BR" sz="1600" b="0" i="0" u="none" strike="noStrike" cap="none">
                <a:solidFill>
                  <a:schemeClr val="lt1"/>
                </a:solidFill>
                <a:highlight>
                  <a:schemeClr val="dk2"/>
                </a:highlight>
                <a:latin typeface="Proxima Nova"/>
                <a:ea typeface="Proxima Nova"/>
                <a:cs typeface="Proxima Nova"/>
                <a:sym typeface="Proxima Nova"/>
              </a:rPr>
              <a:t>Amostra = barcode</a:t>
            </a:r>
            <a:endParaRPr sz="1600" b="0" i="0" u="none" strike="noStrike" cap="none">
              <a:solidFill>
                <a:schemeClr val="lt1"/>
              </a:solidFill>
              <a:highlight>
                <a:schemeClr val="dk2"/>
              </a:highlight>
              <a:latin typeface="Proxima Nova"/>
              <a:ea typeface="Proxima Nova"/>
              <a:cs typeface="Proxima Nova"/>
              <a:sym typeface="Proxima Nova"/>
            </a:endParaRPr>
          </a:p>
          <a:p>
            <a:pPr marL="0" marR="0" lvl="0" indent="0" algn="l" rtl="0">
              <a:lnSpc>
                <a:spcPct val="100000"/>
              </a:lnSpc>
              <a:spcBef>
                <a:spcPts val="0"/>
              </a:spcBef>
              <a:spcAft>
                <a:spcPts val="0"/>
              </a:spcAft>
              <a:buClr>
                <a:srgbClr val="000000"/>
              </a:buClr>
              <a:buSzPts val="1600"/>
              <a:buFont typeface="Arial"/>
              <a:buNone/>
            </a:pPr>
            <a:r>
              <a:rPr lang="pt-BR" sz="1600" b="0" i="0" u="none" strike="noStrike" cap="none">
                <a:solidFill>
                  <a:schemeClr val="lt1"/>
                </a:solidFill>
                <a:latin typeface="Proxima Nova"/>
                <a:ea typeface="Proxima Nova"/>
                <a:cs typeface="Proxima Nova"/>
                <a:sym typeface="Proxima Nova"/>
              </a:rPr>
              <a:t>                    </a:t>
            </a:r>
            <a:r>
              <a:rPr lang="pt-BR" sz="1600" b="0" i="0" u="none" strike="noStrike" cap="none">
                <a:solidFill>
                  <a:schemeClr val="lt1"/>
                </a:solidFill>
                <a:highlight>
                  <a:schemeClr val="dk2"/>
                </a:highlight>
                <a:latin typeface="Proxima Nova"/>
                <a:ea typeface="Proxima Nova"/>
                <a:cs typeface="Proxima Nova"/>
                <a:sym typeface="Proxima Nova"/>
              </a:rPr>
              <a:t>(célula/spot)</a:t>
            </a:r>
            <a:endParaRPr sz="1600" b="0" i="0" u="none" strike="noStrike" cap="none">
              <a:solidFill>
                <a:schemeClr val="lt1"/>
              </a:solidFill>
              <a:highlight>
                <a:schemeClr val="dk2"/>
              </a:highlight>
              <a:latin typeface="Proxima Nova"/>
              <a:ea typeface="Proxima Nova"/>
              <a:cs typeface="Proxima Nova"/>
              <a:sym typeface="Proxima Nova"/>
            </a:endParaRPr>
          </a:p>
        </p:txBody>
      </p:sp>
      <p:sp>
        <p:nvSpPr>
          <p:cNvPr id="718" name="Google Shape;718;g3fa37cb035d_0_105"/>
          <p:cNvSpPr/>
          <p:nvPr/>
        </p:nvSpPr>
        <p:spPr>
          <a:xfrm>
            <a:off x="1125850" y="1172513"/>
            <a:ext cx="7273500" cy="6285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pt-BR" sz="1400" b="0" i="0" u="none" strike="noStrike" cap="none">
                <a:solidFill>
                  <a:schemeClr val="lt1"/>
                </a:solidFill>
                <a:latin typeface="Proxima Nova"/>
                <a:ea typeface="Proxima Nova"/>
                <a:cs typeface="Proxima Nova"/>
                <a:sym typeface="Proxima Nova"/>
              </a:rPr>
              <a:t>… (&gt;10^3)</a:t>
            </a:r>
            <a:endParaRPr sz="1400" b="0" i="0" u="none" strike="noStrike" cap="none">
              <a:solidFill>
                <a:schemeClr val="lt1"/>
              </a:solidFill>
              <a:latin typeface="Proxima Nova"/>
              <a:ea typeface="Proxima Nova"/>
              <a:cs typeface="Proxima Nova"/>
              <a:sym typeface="Proxima Nova"/>
            </a:endParaRPr>
          </a:p>
        </p:txBody>
      </p:sp>
      <p:sp>
        <p:nvSpPr>
          <p:cNvPr id="719" name="Google Shape;719;g3fa37cb035d_0_105"/>
          <p:cNvSpPr/>
          <p:nvPr/>
        </p:nvSpPr>
        <p:spPr>
          <a:xfrm>
            <a:off x="1125850" y="1900675"/>
            <a:ext cx="7273500" cy="2660100"/>
          </a:xfrm>
          <a:prstGeom prst="rect">
            <a:avLst/>
          </a:prstGeom>
          <a:solidFill>
            <a:srgbClr val="D9D9D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pt-BR" sz="1400" b="0" i="0" u="none" strike="noStrike" cap="none">
                <a:solidFill>
                  <a:srgbClr val="000000"/>
                </a:solidFill>
                <a:latin typeface="Proxima Nova"/>
                <a:ea typeface="Proxima Nova"/>
                <a:cs typeface="Proxima Nova"/>
                <a:sym typeface="Proxima Nova"/>
              </a:rPr>
              <a:t>counts</a:t>
            </a:r>
            <a:endParaRPr sz="1400" b="0" i="0" u="none" strike="noStrike" cap="none">
              <a:solidFill>
                <a:srgbClr val="000000"/>
              </a:solidFill>
              <a:latin typeface="Proxima Nova"/>
              <a:ea typeface="Proxima Nova"/>
              <a:cs typeface="Proxima Nova"/>
              <a:sym typeface="Proxima Nova"/>
            </a:endParaRPr>
          </a:p>
        </p:txBody>
      </p:sp>
      <p:sp>
        <p:nvSpPr>
          <p:cNvPr id="720" name="Google Shape;720;g3fa37cb035d_0_105"/>
          <p:cNvSpPr txBox="1"/>
          <p:nvPr/>
        </p:nvSpPr>
        <p:spPr>
          <a:xfrm>
            <a:off x="5719451" y="3667025"/>
            <a:ext cx="2679900" cy="4374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600"/>
              <a:buFont typeface="Arial"/>
              <a:buNone/>
            </a:pPr>
            <a:r>
              <a:rPr lang="pt-BR" sz="1600" b="0" i="0" u="none" strike="noStrike" cap="none">
                <a:solidFill>
                  <a:schemeClr val="lt1"/>
                </a:solidFill>
                <a:highlight>
                  <a:schemeClr val="accent5"/>
                </a:highlight>
                <a:latin typeface="Proxima Nova"/>
                <a:ea typeface="Proxima Nova"/>
                <a:cs typeface="Proxima Nova"/>
                <a:sym typeface="Proxima Nova"/>
              </a:rPr>
              <a:t>Maior quantidade de dados</a:t>
            </a:r>
            <a:endParaRPr sz="1600" b="0" i="0" u="none" strike="noStrike" cap="none">
              <a:solidFill>
                <a:schemeClr val="lt1"/>
              </a:solidFill>
              <a:highlight>
                <a:schemeClr val="accent5"/>
              </a:highlight>
              <a:latin typeface="Proxima Nova"/>
              <a:ea typeface="Proxima Nova"/>
              <a:cs typeface="Proxima Nova"/>
              <a:sym typeface="Proxima Nova"/>
            </a:endParaRPr>
          </a:p>
        </p:txBody>
      </p:sp>
      <p:sp>
        <p:nvSpPr>
          <p:cNvPr id="721" name="Google Shape;721;g3fa37cb035d_0_105"/>
          <p:cNvSpPr txBox="1"/>
          <p:nvPr/>
        </p:nvSpPr>
        <p:spPr>
          <a:xfrm>
            <a:off x="5563751" y="4005700"/>
            <a:ext cx="2835600" cy="298800"/>
          </a:xfrm>
          <a:prstGeom prst="rect">
            <a:avLst/>
          </a:prstGeom>
          <a:noFill/>
          <a:ln>
            <a:noFill/>
          </a:ln>
        </p:spPr>
        <p:txBody>
          <a:bodyPr spcFirstLastPara="1" wrap="square" lIns="68275" tIns="34125" rIns="68275" bIns="34125" anchor="t" anchorCtr="0">
            <a:spAutoFit/>
          </a:bodyPr>
          <a:lstStyle/>
          <a:p>
            <a:pPr marL="0" marR="0" lvl="0" indent="0" algn="r" rtl="0">
              <a:lnSpc>
                <a:spcPct val="100000"/>
              </a:lnSpc>
              <a:spcBef>
                <a:spcPts val="0"/>
              </a:spcBef>
              <a:spcAft>
                <a:spcPts val="0"/>
              </a:spcAft>
              <a:buClr>
                <a:srgbClr val="000000"/>
              </a:buClr>
              <a:buSzPts val="1793"/>
              <a:buFont typeface="Arial"/>
              <a:buNone/>
            </a:pPr>
            <a:r>
              <a:rPr lang="pt-BR" sz="1493" b="1">
                <a:solidFill>
                  <a:schemeClr val="dk1"/>
                </a:solidFill>
                <a:latin typeface="Proxima Nova"/>
                <a:ea typeface="Proxima Nova"/>
                <a:cs typeface="Proxima Nova"/>
                <a:sym typeface="Proxima Nova"/>
              </a:rPr>
              <a:t>single-cell ou RNAseq espacial</a:t>
            </a:r>
            <a:endParaRPr sz="1493" b="1" i="0" u="none" strike="noStrike" cap="none">
              <a:solidFill>
                <a:schemeClr val="dk1"/>
              </a:solidFill>
              <a:latin typeface="Proxima Nova"/>
              <a:ea typeface="Proxima Nova"/>
              <a:cs typeface="Proxima Nova"/>
              <a:sym typeface="Proxima Nova"/>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725"/>
        <p:cNvGrpSpPr/>
        <p:nvPr/>
      </p:nvGrpSpPr>
      <p:grpSpPr>
        <a:xfrm>
          <a:off x="0" y="0"/>
          <a:ext cx="0" cy="0"/>
          <a:chOff x="0" y="0"/>
          <a:chExt cx="0" cy="0"/>
        </a:xfrm>
      </p:grpSpPr>
      <p:sp>
        <p:nvSpPr>
          <p:cNvPr id="726" name="Google Shape;726;p45"/>
          <p:cNvSpPr txBox="1">
            <a:spLocks noGrp="1"/>
          </p:cNvSpPr>
          <p:nvPr>
            <p:ph type="title"/>
          </p:nvPr>
        </p:nvSpPr>
        <p:spPr>
          <a:xfrm>
            <a:off x="311700" y="445025"/>
            <a:ext cx="5615400" cy="707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sz="1900"/>
              <a:t>Volume e </a:t>
            </a:r>
            <a:r>
              <a:rPr lang="pt-BR" sz="1900" b="1"/>
              <a:t>complexidade</a:t>
            </a:r>
            <a:r>
              <a:rPr lang="pt-BR" sz="1900"/>
              <a:t> de dados</a:t>
            </a:r>
            <a:endParaRPr sz="2700"/>
          </a:p>
        </p:txBody>
      </p:sp>
      <p:pic>
        <p:nvPicPr>
          <p:cNvPr id="727" name="Google Shape;727;p45"/>
          <p:cNvPicPr preferRelativeResize="0"/>
          <p:nvPr/>
        </p:nvPicPr>
        <p:blipFill rotWithShape="1">
          <a:blip r:embed="rId3">
            <a:alphaModFix/>
          </a:blip>
          <a:srcRect/>
          <a:stretch/>
        </p:blipFill>
        <p:spPr>
          <a:xfrm>
            <a:off x="818000" y="1046525"/>
            <a:ext cx="4602790" cy="3686275"/>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731"/>
        <p:cNvGrpSpPr/>
        <p:nvPr/>
      </p:nvGrpSpPr>
      <p:grpSpPr>
        <a:xfrm>
          <a:off x="0" y="0"/>
          <a:ext cx="0" cy="0"/>
          <a:chOff x="0" y="0"/>
          <a:chExt cx="0" cy="0"/>
        </a:xfrm>
      </p:grpSpPr>
      <p:sp>
        <p:nvSpPr>
          <p:cNvPr id="732" name="Google Shape;732;g3fa37cb035d_0_118"/>
          <p:cNvSpPr txBox="1">
            <a:spLocks noGrp="1"/>
          </p:cNvSpPr>
          <p:nvPr>
            <p:ph type="title"/>
          </p:nvPr>
        </p:nvSpPr>
        <p:spPr>
          <a:xfrm>
            <a:off x="311700" y="445025"/>
            <a:ext cx="5615400" cy="707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sz="1900"/>
              <a:t>Volume e </a:t>
            </a:r>
            <a:r>
              <a:rPr lang="pt-BR" sz="1900" b="1"/>
              <a:t>complexidade</a:t>
            </a:r>
            <a:r>
              <a:rPr lang="pt-BR" sz="1900"/>
              <a:t> de dados</a:t>
            </a:r>
            <a:endParaRPr sz="2700"/>
          </a:p>
        </p:txBody>
      </p:sp>
      <p:sp>
        <p:nvSpPr>
          <p:cNvPr id="733" name="Google Shape;733;g3fa37cb035d_0_118"/>
          <p:cNvSpPr txBox="1"/>
          <p:nvPr/>
        </p:nvSpPr>
        <p:spPr>
          <a:xfrm>
            <a:off x="5620275" y="2670963"/>
            <a:ext cx="2622900" cy="437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pt-BR" sz="1800" b="0" i="0" u="none" strike="noStrike" cap="none">
                <a:solidFill>
                  <a:schemeClr val="lt1"/>
                </a:solidFill>
                <a:highlight>
                  <a:schemeClr val="accent5"/>
                </a:highlight>
                <a:latin typeface="Proxima Nova"/>
                <a:ea typeface="Proxima Nova"/>
                <a:cs typeface="Proxima Nova"/>
                <a:sym typeface="Proxima Nova"/>
              </a:rPr>
              <a:t>Matrizes muito esparsas</a:t>
            </a:r>
            <a:endParaRPr sz="1800" b="0" i="0" u="none" strike="noStrike" cap="none">
              <a:solidFill>
                <a:schemeClr val="lt1"/>
              </a:solidFill>
              <a:highlight>
                <a:schemeClr val="accent5"/>
              </a:highlight>
              <a:latin typeface="Proxima Nova"/>
              <a:ea typeface="Proxima Nova"/>
              <a:cs typeface="Proxima Nova"/>
              <a:sym typeface="Proxima Nova"/>
            </a:endParaRPr>
          </a:p>
        </p:txBody>
      </p:sp>
      <p:pic>
        <p:nvPicPr>
          <p:cNvPr id="734" name="Google Shape;734;g3fa37cb035d_0_118"/>
          <p:cNvPicPr preferRelativeResize="0"/>
          <p:nvPr/>
        </p:nvPicPr>
        <p:blipFill rotWithShape="1">
          <a:blip r:embed="rId3">
            <a:alphaModFix/>
          </a:blip>
          <a:srcRect/>
          <a:stretch/>
        </p:blipFill>
        <p:spPr>
          <a:xfrm>
            <a:off x="818000" y="1046525"/>
            <a:ext cx="4602790" cy="368627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p46"/>
          <p:cNvSpPr txBox="1">
            <a:spLocks noGrp="1"/>
          </p:cNvSpPr>
          <p:nvPr>
            <p:ph type="title"/>
          </p:nvPr>
        </p:nvSpPr>
        <p:spPr>
          <a:xfrm>
            <a:off x="311700" y="445025"/>
            <a:ext cx="5615400" cy="707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sz="1900"/>
              <a:t>Volume e </a:t>
            </a:r>
            <a:r>
              <a:rPr lang="pt-BR" sz="1900" b="1"/>
              <a:t>complexidade</a:t>
            </a:r>
            <a:r>
              <a:rPr lang="pt-BR" sz="1900"/>
              <a:t> de dados</a:t>
            </a:r>
            <a:endParaRPr sz="2700"/>
          </a:p>
        </p:txBody>
      </p:sp>
      <p:pic>
        <p:nvPicPr>
          <p:cNvPr id="740" name="Google Shape;740;p46"/>
          <p:cNvPicPr preferRelativeResize="0"/>
          <p:nvPr/>
        </p:nvPicPr>
        <p:blipFill rotWithShape="1">
          <a:blip r:embed="rId3">
            <a:alphaModFix/>
          </a:blip>
          <a:srcRect/>
          <a:stretch/>
        </p:blipFill>
        <p:spPr>
          <a:xfrm>
            <a:off x="973625" y="1064150"/>
            <a:ext cx="5162550" cy="365760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744"/>
        <p:cNvGrpSpPr/>
        <p:nvPr/>
      </p:nvGrpSpPr>
      <p:grpSpPr>
        <a:xfrm>
          <a:off x="0" y="0"/>
          <a:ext cx="0" cy="0"/>
          <a:chOff x="0" y="0"/>
          <a:chExt cx="0" cy="0"/>
        </a:xfrm>
      </p:grpSpPr>
      <p:sp>
        <p:nvSpPr>
          <p:cNvPr id="745" name="Google Shape;745;g3fa37cb035d_0_124"/>
          <p:cNvSpPr txBox="1">
            <a:spLocks noGrp="1"/>
          </p:cNvSpPr>
          <p:nvPr>
            <p:ph type="title"/>
          </p:nvPr>
        </p:nvSpPr>
        <p:spPr>
          <a:xfrm>
            <a:off x="311700" y="445025"/>
            <a:ext cx="5615400" cy="707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sz="1900"/>
              <a:t>Volume e </a:t>
            </a:r>
            <a:r>
              <a:rPr lang="pt-BR" sz="1900" b="1"/>
              <a:t>complexidade</a:t>
            </a:r>
            <a:r>
              <a:rPr lang="pt-BR" sz="1900"/>
              <a:t> de dados</a:t>
            </a:r>
            <a:endParaRPr sz="2700"/>
          </a:p>
        </p:txBody>
      </p:sp>
      <p:pic>
        <p:nvPicPr>
          <p:cNvPr id="746" name="Google Shape;746;g3fa37cb035d_0_124"/>
          <p:cNvPicPr preferRelativeResize="0"/>
          <p:nvPr/>
        </p:nvPicPr>
        <p:blipFill rotWithShape="1">
          <a:blip r:embed="rId3">
            <a:alphaModFix/>
          </a:blip>
          <a:srcRect/>
          <a:stretch/>
        </p:blipFill>
        <p:spPr>
          <a:xfrm>
            <a:off x="973625" y="1064150"/>
            <a:ext cx="5162550" cy="3657600"/>
          </a:xfrm>
          <a:prstGeom prst="rect">
            <a:avLst/>
          </a:prstGeom>
          <a:noFill/>
          <a:ln>
            <a:noFill/>
          </a:ln>
        </p:spPr>
      </p:pic>
      <p:sp>
        <p:nvSpPr>
          <p:cNvPr id="747" name="Google Shape;747;g3fa37cb035d_0_124"/>
          <p:cNvSpPr txBox="1"/>
          <p:nvPr/>
        </p:nvSpPr>
        <p:spPr>
          <a:xfrm>
            <a:off x="5451825" y="3767125"/>
            <a:ext cx="3402600" cy="496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pt-BR" sz="1800" b="0" i="0" u="none" strike="noStrike" cap="none">
                <a:solidFill>
                  <a:schemeClr val="lt1"/>
                </a:solidFill>
                <a:highlight>
                  <a:schemeClr val="accent5"/>
                </a:highlight>
                <a:latin typeface="Proxima Nova"/>
                <a:ea typeface="Proxima Nova"/>
                <a:cs typeface="Proxima Nova"/>
                <a:sym typeface="Proxima Nova"/>
              </a:rPr>
              <a:t>Amostras mais heterogêneas</a:t>
            </a:r>
            <a:endParaRPr sz="1800" b="0" i="0" u="none" strike="noStrike" cap="none">
              <a:solidFill>
                <a:schemeClr val="lt1"/>
              </a:solidFill>
              <a:highlight>
                <a:schemeClr val="accent5"/>
              </a:highlight>
              <a:latin typeface="Proxima Nova"/>
              <a:ea typeface="Proxima Nova"/>
              <a:cs typeface="Proxima Nova"/>
              <a:sym typeface="Proxima Nova"/>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751"/>
        <p:cNvGrpSpPr/>
        <p:nvPr/>
      </p:nvGrpSpPr>
      <p:grpSpPr>
        <a:xfrm>
          <a:off x="0" y="0"/>
          <a:ext cx="0" cy="0"/>
          <a:chOff x="0" y="0"/>
          <a:chExt cx="0" cy="0"/>
        </a:xfrm>
      </p:grpSpPr>
      <p:sp>
        <p:nvSpPr>
          <p:cNvPr id="752" name="Google Shape;752;p47"/>
          <p:cNvSpPr txBox="1">
            <a:spLocks noGrp="1"/>
          </p:cNvSpPr>
          <p:nvPr>
            <p:ph type="title"/>
          </p:nvPr>
        </p:nvSpPr>
        <p:spPr>
          <a:xfrm>
            <a:off x="311700" y="140225"/>
            <a:ext cx="84912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sz="2000"/>
              <a:t>Passos da </a:t>
            </a:r>
            <a:r>
              <a:rPr lang="pt-BR" sz="2000" b="1"/>
              <a:t>análise de dados</a:t>
            </a:r>
            <a:r>
              <a:rPr lang="pt-BR" sz="2000"/>
              <a:t> de transcriptômica de alta resolução</a:t>
            </a:r>
            <a:endParaRPr/>
          </a:p>
        </p:txBody>
      </p:sp>
      <p:grpSp>
        <p:nvGrpSpPr>
          <p:cNvPr id="753" name="Google Shape;753;p47"/>
          <p:cNvGrpSpPr/>
          <p:nvPr/>
        </p:nvGrpSpPr>
        <p:grpSpPr>
          <a:xfrm>
            <a:off x="-604943" y="1664750"/>
            <a:ext cx="6432768" cy="731700"/>
            <a:chOff x="7" y="2207525"/>
            <a:chExt cx="6432768" cy="731700"/>
          </a:xfrm>
        </p:grpSpPr>
        <p:sp>
          <p:nvSpPr>
            <p:cNvPr id="754" name="Google Shape;754;p47"/>
            <p:cNvSpPr txBox="1"/>
            <p:nvPr/>
          </p:nvSpPr>
          <p:spPr>
            <a:xfrm>
              <a:off x="7" y="2257725"/>
              <a:ext cx="2715300" cy="629700"/>
            </a:xfrm>
            <a:prstGeom prst="rect">
              <a:avLst/>
            </a:prstGeom>
            <a:noFill/>
            <a:ln>
              <a:noFill/>
            </a:ln>
          </p:spPr>
          <p:txBody>
            <a:bodyPr spcFirstLastPara="1" wrap="square" lIns="91425" tIns="45700" rIns="91425" bIns="45700" anchor="ctr" anchorCtr="0">
              <a:noAutofit/>
            </a:bodyPr>
            <a:lstStyle/>
            <a:p>
              <a:pPr marL="0" marR="0" lvl="0" indent="0" algn="r" rtl="0">
                <a:lnSpc>
                  <a:spcPct val="90000"/>
                </a:lnSpc>
                <a:spcBef>
                  <a:spcPts val="0"/>
                </a:spcBef>
                <a:spcAft>
                  <a:spcPts val="0"/>
                </a:spcAft>
                <a:buClr>
                  <a:srgbClr val="000000"/>
                </a:buClr>
                <a:buSzPts val="1600"/>
                <a:buFont typeface="Arial"/>
                <a:buNone/>
              </a:pPr>
              <a:r>
                <a:rPr lang="pt-BR" sz="1600" b="1" i="0" u="none" strike="noStrike" cap="none">
                  <a:solidFill>
                    <a:schemeClr val="dk1"/>
                  </a:solidFill>
                  <a:latin typeface="Proxima Nova"/>
                  <a:ea typeface="Proxima Nova"/>
                  <a:cs typeface="Proxima Nova"/>
                  <a:sym typeface="Proxima Nova"/>
                </a:rPr>
                <a:t>Pré-processamento</a:t>
              </a:r>
              <a:endParaRPr sz="1600" b="1" i="0" u="none" strike="noStrike" cap="none">
                <a:solidFill>
                  <a:schemeClr val="dk1"/>
                </a:solidFill>
                <a:latin typeface="Proxima Nova"/>
                <a:ea typeface="Proxima Nova"/>
                <a:cs typeface="Proxima Nova"/>
                <a:sym typeface="Proxima Nova"/>
              </a:endParaRPr>
            </a:p>
          </p:txBody>
        </p:sp>
        <p:sp>
          <p:nvSpPr>
            <p:cNvPr id="755" name="Google Shape;755;p47"/>
            <p:cNvSpPr/>
            <p:nvPr/>
          </p:nvSpPr>
          <p:spPr>
            <a:xfrm>
              <a:off x="2789775" y="2207525"/>
              <a:ext cx="3642900" cy="731700"/>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roxima Nova"/>
                <a:ea typeface="Proxima Nova"/>
                <a:cs typeface="Proxima Nova"/>
                <a:sym typeface="Proxima Nova"/>
              </a:endParaRPr>
            </a:p>
          </p:txBody>
        </p:sp>
        <p:sp>
          <p:nvSpPr>
            <p:cNvPr id="756" name="Google Shape;756;p47"/>
            <p:cNvSpPr txBox="1"/>
            <p:nvPr/>
          </p:nvSpPr>
          <p:spPr>
            <a:xfrm>
              <a:off x="2914375" y="2414100"/>
              <a:ext cx="3518400" cy="330600"/>
            </a:xfrm>
            <a:prstGeom prst="rect">
              <a:avLst/>
            </a:prstGeom>
            <a:no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Clr>
                  <a:srgbClr val="000000"/>
                </a:buClr>
                <a:buSzPts val="1400"/>
                <a:buFont typeface="Arial"/>
                <a:buNone/>
              </a:pPr>
              <a:r>
                <a:rPr lang="pt-BR" sz="1400" b="0" i="0" u="none" strike="noStrike" cap="none">
                  <a:solidFill>
                    <a:schemeClr val="dk1"/>
                  </a:solidFill>
                  <a:latin typeface="Proxima Nova"/>
                  <a:ea typeface="Proxima Nova"/>
                  <a:cs typeface="Proxima Nova"/>
                  <a:sym typeface="Proxima Nova"/>
                </a:rPr>
                <a:t>Controle de qualidade, normalização, redução de dimensionalidade</a:t>
              </a:r>
              <a:endParaRPr sz="1400" b="0" i="0" u="none" strike="noStrike" cap="none">
                <a:solidFill>
                  <a:schemeClr val="dk1"/>
                </a:solidFill>
                <a:latin typeface="Proxima Nova"/>
                <a:ea typeface="Proxima Nova"/>
                <a:cs typeface="Proxima Nova"/>
                <a:sym typeface="Proxima Nova"/>
              </a:endParaRPr>
            </a:p>
          </p:txBody>
        </p:sp>
      </p:grpSp>
      <p:grpSp>
        <p:nvGrpSpPr>
          <p:cNvPr id="757" name="Google Shape;757;p47"/>
          <p:cNvGrpSpPr/>
          <p:nvPr/>
        </p:nvGrpSpPr>
        <p:grpSpPr>
          <a:xfrm>
            <a:off x="150130" y="2546213"/>
            <a:ext cx="5677695" cy="629700"/>
            <a:chOff x="755105" y="3062625"/>
            <a:chExt cx="5677695" cy="629700"/>
          </a:xfrm>
        </p:grpSpPr>
        <p:sp>
          <p:nvSpPr>
            <p:cNvPr id="758" name="Google Shape;758;p47"/>
            <p:cNvSpPr txBox="1"/>
            <p:nvPr/>
          </p:nvSpPr>
          <p:spPr>
            <a:xfrm>
              <a:off x="755105" y="3062625"/>
              <a:ext cx="1959900" cy="629700"/>
            </a:xfrm>
            <a:prstGeom prst="rect">
              <a:avLst/>
            </a:prstGeom>
            <a:noFill/>
            <a:ln>
              <a:noFill/>
            </a:ln>
          </p:spPr>
          <p:txBody>
            <a:bodyPr spcFirstLastPara="1" wrap="square" lIns="91425" tIns="45700" rIns="91425" bIns="45700" anchor="ctr" anchorCtr="0">
              <a:noAutofit/>
            </a:bodyPr>
            <a:lstStyle/>
            <a:p>
              <a:pPr marL="0" marR="0" lvl="0" indent="0" algn="r" rtl="0">
                <a:lnSpc>
                  <a:spcPct val="90000"/>
                </a:lnSpc>
                <a:spcBef>
                  <a:spcPts val="0"/>
                </a:spcBef>
                <a:spcAft>
                  <a:spcPts val="0"/>
                </a:spcAft>
                <a:buClr>
                  <a:srgbClr val="000000"/>
                </a:buClr>
                <a:buSzPts val="1600"/>
                <a:buFont typeface="Arial"/>
                <a:buNone/>
              </a:pPr>
              <a:r>
                <a:rPr lang="pt-BR" sz="1600" b="1" i="0" u="none" strike="noStrike" cap="none">
                  <a:solidFill>
                    <a:schemeClr val="dk1"/>
                  </a:solidFill>
                  <a:latin typeface="Proxima Nova"/>
                  <a:ea typeface="Proxima Nova"/>
                  <a:cs typeface="Proxima Nova"/>
                  <a:sym typeface="Proxima Nova"/>
                </a:rPr>
                <a:t>Separação das populações</a:t>
              </a:r>
              <a:endParaRPr sz="1600" b="1" i="0" u="none" strike="noStrike" cap="none">
                <a:solidFill>
                  <a:schemeClr val="dk1"/>
                </a:solidFill>
                <a:latin typeface="Proxima Nova"/>
                <a:ea typeface="Proxima Nova"/>
                <a:cs typeface="Proxima Nova"/>
                <a:sym typeface="Proxima Nova"/>
              </a:endParaRPr>
            </a:p>
          </p:txBody>
        </p:sp>
        <p:sp>
          <p:nvSpPr>
            <p:cNvPr id="759" name="Google Shape;759;p47"/>
            <p:cNvSpPr/>
            <p:nvPr/>
          </p:nvSpPr>
          <p:spPr>
            <a:xfrm>
              <a:off x="2789775" y="3088625"/>
              <a:ext cx="3642900" cy="572700"/>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roxima Nova"/>
                <a:ea typeface="Proxima Nova"/>
                <a:cs typeface="Proxima Nova"/>
                <a:sym typeface="Proxima Nova"/>
              </a:endParaRPr>
            </a:p>
          </p:txBody>
        </p:sp>
        <p:sp>
          <p:nvSpPr>
            <p:cNvPr id="760" name="Google Shape;760;p47"/>
            <p:cNvSpPr txBox="1"/>
            <p:nvPr/>
          </p:nvSpPr>
          <p:spPr>
            <a:xfrm>
              <a:off x="2914400" y="3218975"/>
              <a:ext cx="3518400" cy="330600"/>
            </a:xfrm>
            <a:prstGeom prst="rect">
              <a:avLst/>
            </a:prstGeom>
            <a:no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Clr>
                  <a:srgbClr val="000000"/>
                </a:buClr>
                <a:buSzPts val="1400"/>
                <a:buFont typeface="Arial"/>
                <a:buNone/>
              </a:pPr>
              <a:r>
                <a:rPr lang="pt-BR" sz="1400" b="0" i="0" u="none" strike="noStrike" cap="none">
                  <a:solidFill>
                    <a:schemeClr val="dk1"/>
                  </a:solidFill>
                  <a:latin typeface="Proxima Nova"/>
                  <a:ea typeface="Proxima Nova"/>
                  <a:cs typeface="Proxima Nova"/>
                  <a:sym typeface="Proxima Nova"/>
                </a:rPr>
                <a:t>Clusterização</a:t>
              </a:r>
              <a:endParaRPr sz="1400" b="0" i="0" u="none" strike="noStrike" cap="none">
                <a:solidFill>
                  <a:schemeClr val="dk1"/>
                </a:solidFill>
                <a:latin typeface="Proxima Nova"/>
                <a:ea typeface="Proxima Nova"/>
                <a:cs typeface="Proxima Nova"/>
                <a:sym typeface="Proxima Nova"/>
              </a:endParaRPr>
            </a:p>
          </p:txBody>
        </p:sp>
      </p:grpSp>
      <p:pic>
        <p:nvPicPr>
          <p:cNvPr id="761" name="Google Shape;761;p47"/>
          <p:cNvPicPr preferRelativeResize="0"/>
          <p:nvPr/>
        </p:nvPicPr>
        <p:blipFill rotWithShape="1">
          <a:blip r:embed="rId3">
            <a:alphaModFix/>
          </a:blip>
          <a:srcRect/>
          <a:stretch/>
        </p:blipFill>
        <p:spPr>
          <a:xfrm>
            <a:off x="5548775" y="637700"/>
            <a:ext cx="1316575" cy="806925"/>
          </a:xfrm>
          <a:prstGeom prst="rect">
            <a:avLst/>
          </a:prstGeom>
          <a:noFill/>
          <a:ln>
            <a:noFill/>
          </a:ln>
        </p:spPr>
      </p:pic>
      <p:pic>
        <p:nvPicPr>
          <p:cNvPr id="762" name="Google Shape;762;p47"/>
          <p:cNvPicPr preferRelativeResize="0"/>
          <p:nvPr/>
        </p:nvPicPr>
        <p:blipFill rotWithShape="1">
          <a:blip r:embed="rId4">
            <a:alphaModFix/>
          </a:blip>
          <a:srcRect t="970"/>
          <a:stretch/>
        </p:blipFill>
        <p:spPr>
          <a:xfrm>
            <a:off x="6354325" y="2571750"/>
            <a:ext cx="1969025" cy="1472400"/>
          </a:xfrm>
          <a:prstGeom prst="rect">
            <a:avLst/>
          </a:prstGeom>
          <a:noFill/>
          <a:ln>
            <a:noFill/>
          </a:ln>
        </p:spPr>
      </p:pic>
      <p:pic>
        <p:nvPicPr>
          <p:cNvPr id="763" name="Google Shape;763;p47"/>
          <p:cNvPicPr preferRelativeResize="0"/>
          <p:nvPr/>
        </p:nvPicPr>
        <p:blipFill rotWithShape="1">
          <a:blip r:embed="rId5">
            <a:alphaModFix/>
          </a:blip>
          <a:srcRect/>
          <a:stretch/>
        </p:blipFill>
        <p:spPr>
          <a:xfrm>
            <a:off x="5891575" y="1444625"/>
            <a:ext cx="1234200" cy="1261800"/>
          </a:xfrm>
          <a:prstGeom prst="ellipse">
            <a:avLst/>
          </a:prstGeom>
          <a:noFill/>
          <a:ln>
            <a:noFill/>
          </a:ln>
        </p:spPr>
      </p:pic>
      <p:grpSp>
        <p:nvGrpSpPr>
          <p:cNvPr id="764" name="Google Shape;764;p47"/>
          <p:cNvGrpSpPr/>
          <p:nvPr/>
        </p:nvGrpSpPr>
        <p:grpSpPr>
          <a:xfrm>
            <a:off x="150130" y="3312500"/>
            <a:ext cx="6001095" cy="629700"/>
            <a:chOff x="755105" y="3062625"/>
            <a:chExt cx="6001095" cy="629700"/>
          </a:xfrm>
        </p:grpSpPr>
        <p:sp>
          <p:nvSpPr>
            <p:cNvPr id="765" name="Google Shape;765;p47"/>
            <p:cNvSpPr txBox="1"/>
            <p:nvPr/>
          </p:nvSpPr>
          <p:spPr>
            <a:xfrm>
              <a:off x="755105" y="3062625"/>
              <a:ext cx="1959900" cy="629700"/>
            </a:xfrm>
            <a:prstGeom prst="rect">
              <a:avLst/>
            </a:prstGeom>
            <a:noFill/>
            <a:ln>
              <a:noFill/>
            </a:ln>
          </p:spPr>
          <p:txBody>
            <a:bodyPr spcFirstLastPara="1" wrap="square" lIns="91425" tIns="45700" rIns="91425" bIns="45700" anchor="ctr" anchorCtr="0">
              <a:noAutofit/>
            </a:bodyPr>
            <a:lstStyle/>
            <a:p>
              <a:pPr marL="0" marR="0" lvl="0" indent="0" algn="r" rtl="0">
                <a:lnSpc>
                  <a:spcPct val="90000"/>
                </a:lnSpc>
                <a:spcBef>
                  <a:spcPts val="0"/>
                </a:spcBef>
                <a:spcAft>
                  <a:spcPts val="0"/>
                </a:spcAft>
                <a:buClr>
                  <a:srgbClr val="000000"/>
                </a:buClr>
                <a:buSzPts val="1600"/>
                <a:buFont typeface="Arial"/>
                <a:buNone/>
              </a:pPr>
              <a:r>
                <a:rPr lang="pt-BR" sz="1600" b="1" i="0" u="none" strike="noStrike" cap="none">
                  <a:solidFill>
                    <a:schemeClr val="dk1"/>
                  </a:solidFill>
                  <a:latin typeface="Proxima Nova"/>
                  <a:ea typeface="Proxima Nova"/>
                  <a:cs typeface="Proxima Nova"/>
                  <a:sym typeface="Proxima Nova"/>
                </a:rPr>
                <a:t>Anotação das populações</a:t>
              </a:r>
              <a:endParaRPr sz="1600" b="1" i="0" u="none" strike="noStrike" cap="none">
                <a:solidFill>
                  <a:schemeClr val="dk1"/>
                </a:solidFill>
                <a:latin typeface="Proxima Nova"/>
                <a:ea typeface="Proxima Nova"/>
                <a:cs typeface="Proxima Nova"/>
                <a:sym typeface="Proxima Nova"/>
              </a:endParaRPr>
            </a:p>
          </p:txBody>
        </p:sp>
        <p:sp>
          <p:nvSpPr>
            <p:cNvPr id="766" name="Google Shape;766;p47"/>
            <p:cNvSpPr/>
            <p:nvPr/>
          </p:nvSpPr>
          <p:spPr>
            <a:xfrm>
              <a:off x="2789775" y="3088625"/>
              <a:ext cx="3966300" cy="572700"/>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roxima Nova"/>
                <a:ea typeface="Proxima Nova"/>
                <a:cs typeface="Proxima Nova"/>
                <a:sym typeface="Proxima Nova"/>
              </a:endParaRPr>
            </a:p>
          </p:txBody>
        </p:sp>
        <p:sp>
          <p:nvSpPr>
            <p:cNvPr id="767" name="Google Shape;767;p47"/>
            <p:cNvSpPr txBox="1"/>
            <p:nvPr/>
          </p:nvSpPr>
          <p:spPr>
            <a:xfrm>
              <a:off x="2914400" y="3218975"/>
              <a:ext cx="3841800" cy="330600"/>
            </a:xfrm>
            <a:prstGeom prst="rect">
              <a:avLst/>
            </a:prstGeom>
            <a:no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Clr>
                  <a:srgbClr val="000000"/>
                </a:buClr>
                <a:buSzPts val="1400"/>
                <a:buFont typeface="Arial"/>
                <a:buNone/>
              </a:pPr>
              <a:r>
                <a:rPr lang="pt-BR" sz="1400" b="0" i="0" u="none" strike="noStrike" cap="none">
                  <a:solidFill>
                    <a:schemeClr val="dk1"/>
                  </a:solidFill>
                  <a:latin typeface="Proxima Nova"/>
                  <a:ea typeface="Proxima Nova"/>
                  <a:cs typeface="Proxima Nova"/>
                  <a:sym typeface="Proxima Nova"/>
                </a:rPr>
                <a:t>Automatizada ou não, assistida por </a:t>
              </a:r>
              <a:r>
                <a:rPr lang="pt-BR" sz="1400" b="0" i="1" u="none" strike="noStrike" cap="none">
                  <a:solidFill>
                    <a:schemeClr val="dk1"/>
                  </a:solidFill>
                  <a:latin typeface="Proxima Nova"/>
                  <a:ea typeface="Proxima Nova"/>
                  <a:cs typeface="Proxima Nova"/>
                  <a:sym typeface="Proxima Nova"/>
                </a:rPr>
                <a:t>scores</a:t>
              </a:r>
              <a:r>
                <a:rPr lang="pt-BR" sz="1400" b="0" i="0" u="none" strike="noStrike" cap="none">
                  <a:solidFill>
                    <a:schemeClr val="dk1"/>
                  </a:solidFill>
                  <a:latin typeface="Proxima Nova"/>
                  <a:ea typeface="Proxima Nova"/>
                  <a:cs typeface="Proxima Nova"/>
                  <a:sym typeface="Proxima Nova"/>
                </a:rPr>
                <a:t>.</a:t>
              </a:r>
              <a:endParaRPr sz="1400" b="0" i="0" u="none" strike="noStrike" cap="none">
                <a:solidFill>
                  <a:schemeClr val="dk1"/>
                </a:solidFill>
                <a:latin typeface="Proxima Nova"/>
                <a:ea typeface="Proxima Nova"/>
                <a:cs typeface="Proxima Nova"/>
                <a:sym typeface="Proxima Nova"/>
              </a:endParaRPr>
            </a:p>
          </p:txBody>
        </p:sp>
      </p:grpSp>
      <p:grpSp>
        <p:nvGrpSpPr>
          <p:cNvPr id="768" name="Google Shape;768;p47"/>
          <p:cNvGrpSpPr/>
          <p:nvPr/>
        </p:nvGrpSpPr>
        <p:grpSpPr>
          <a:xfrm>
            <a:off x="150130" y="4104775"/>
            <a:ext cx="6356595" cy="731700"/>
            <a:chOff x="755105" y="3088625"/>
            <a:chExt cx="6356595" cy="731700"/>
          </a:xfrm>
        </p:grpSpPr>
        <p:sp>
          <p:nvSpPr>
            <p:cNvPr id="769" name="Google Shape;769;p47"/>
            <p:cNvSpPr txBox="1"/>
            <p:nvPr/>
          </p:nvSpPr>
          <p:spPr>
            <a:xfrm>
              <a:off x="755105" y="3138825"/>
              <a:ext cx="1959900" cy="629700"/>
            </a:xfrm>
            <a:prstGeom prst="rect">
              <a:avLst/>
            </a:prstGeom>
            <a:noFill/>
            <a:ln>
              <a:noFill/>
            </a:ln>
          </p:spPr>
          <p:txBody>
            <a:bodyPr spcFirstLastPara="1" wrap="square" lIns="91425" tIns="45700" rIns="91425" bIns="45700" anchor="ctr" anchorCtr="0">
              <a:noAutofit/>
            </a:bodyPr>
            <a:lstStyle/>
            <a:p>
              <a:pPr marL="0" marR="0" lvl="0" indent="0" algn="r" rtl="0">
                <a:lnSpc>
                  <a:spcPct val="90000"/>
                </a:lnSpc>
                <a:spcBef>
                  <a:spcPts val="0"/>
                </a:spcBef>
                <a:spcAft>
                  <a:spcPts val="0"/>
                </a:spcAft>
                <a:buClr>
                  <a:srgbClr val="000000"/>
                </a:buClr>
                <a:buSzPts val="1600"/>
                <a:buFont typeface="Arial"/>
                <a:buNone/>
              </a:pPr>
              <a:r>
                <a:rPr lang="pt-BR" sz="1600" b="1" i="0" u="none" strike="noStrike" cap="none">
                  <a:solidFill>
                    <a:schemeClr val="dk1"/>
                  </a:solidFill>
                  <a:latin typeface="Proxima Nova"/>
                  <a:ea typeface="Proxima Nova"/>
                  <a:cs typeface="Proxima Nova"/>
                  <a:sym typeface="Proxima Nova"/>
                </a:rPr>
                <a:t>Análise em si</a:t>
              </a:r>
              <a:endParaRPr sz="1600" b="1" i="0" u="none" strike="noStrike" cap="none">
                <a:solidFill>
                  <a:schemeClr val="dk1"/>
                </a:solidFill>
                <a:latin typeface="Proxima Nova"/>
                <a:ea typeface="Proxima Nova"/>
                <a:cs typeface="Proxima Nova"/>
                <a:sym typeface="Proxima Nova"/>
              </a:endParaRPr>
            </a:p>
          </p:txBody>
        </p:sp>
        <p:sp>
          <p:nvSpPr>
            <p:cNvPr id="770" name="Google Shape;770;p47"/>
            <p:cNvSpPr/>
            <p:nvPr/>
          </p:nvSpPr>
          <p:spPr>
            <a:xfrm>
              <a:off x="2789775" y="3088625"/>
              <a:ext cx="4254300" cy="731700"/>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roxima Nova"/>
                <a:ea typeface="Proxima Nova"/>
                <a:cs typeface="Proxima Nova"/>
                <a:sym typeface="Proxima Nova"/>
              </a:endParaRPr>
            </a:p>
          </p:txBody>
        </p:sp>
        <p:sp>
          <p:nvSpPr>
            <p:cNvPr id="771" name="Google Shape;771;p47"/>
            <p:cNvSpPr txBox="1"/>
            <p:nvPr/>
          </p:nvSpPr>
          <p:spPr>
            <a:xfrm>
              <a:off x="2914400" y="3295175"/>
              <a:ext cx="4197300" cy="330600"/>
            </a:xfrm>
            <a:prstGeom prst="rect">
              <a:avLst/>
            </a:prstGeom>
            <a:no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Clr>
                  <a:srgbClr val="000000"/>
                </a:buClr>
                <a:buSzPts val="1400"/>
                <a:buFont typeface="Arial"/>
                <a:buNone/>
              </a:pPr>
              <a:r>
                <a:rPr lang="pt-BR" sz="1400" b="0" i="0" u="none" strike="noStrike" cap="none">
                  <a:solidFill>
                    <a:schemeClr val="dk1"/>
                  </a:solidFill>
                  <a:latin typeface="Proxima Nova"/>
                  <a:ea typeface="Proxima Nova"/>
                  <a:cs typeface="Proxima Nova"/>
                  <a:sym typeface="Proxima Nova"/>
                </a:rPr>
                <a:t>Expressão diferencial, pseudotime, predição de comunicação celular, enriquecimento funcional</a:t>
              </a:r>
              <a:endParaRPr sz="1400" b="0" i="0" u="none" strike="noStrike" cap="none">
                <a:solidFill>
                  <a:schemeClr val="dk1"/>
                </a:solidFill>
                <a:latin typeface="Proxima Nova"/>
                <a:ea typeface="Proxima Nova"/>
                <a:cs typeface="Proxima Nova"/>
                <a:sym typeface="Proxima Nova"/>
              </a:endParaRPr>
            </a:p>
          </p:txBody>
        </p:sp>
      </p:grpSp>
      <p:pic>
        <p:nvPicPr>
          <p:cNvPr id="772" name="Google Shape;772;p47"/>
          <p:cNvPicPr preferRelativeResize="0"/>
          <p:nvPr/>
        </p:nvPicPr>
        <p:blipFill rotWithShape="1">
          <a:blip r:embed="rId6">
            <a:alphaModFix/>
          </a:blip>
          <a:srcRect b="35342"/>
          <a:stretch/>
        </p:blipFill>
        <p:spPr>
          <a:xfrm>
            <a:off x="6669525" y="4104776"/>
            <a:ext cx="1496973" cy="1038725"/>
          </a:xfrm>
          <a:prstGeom prst="rect">
            <a:avLst/>
          </a:prstGeom>
          <a:noFill/>
          <a:ln>
            <a:noFill/>
          </a:ln>
        </p:spPr>
      </p:pic>
      <p:sp>
        <p:nvSpPr>
          <p:cNvPr id="773" name="Google Shape;773;p47"/>
          <p:cNvSpPr/>
          <p:nvPr/>
        </p:nvSpPr>
        <p:spPr>
          <a:xfrm>
            <a:off x="7053000" y="988332"/>
            <a:ext cx="490200" cy="636375"/>
          </a:xfrm>
          <a:custGeom>
            <a:avLst/>
            <a:gdLst/>
            <a:ahLst/>
            <a:cxnLst/>
            <a:rect l="l" t="t" r="r" b="b"/>
            <a:pathLst>
              <a:path w="19608" h="25455" extrusionOk="0">
                <a:moveTo>
                  <a:pt x="0" y="1615"/>
                </a:moveTo>
                <a:cubicBezTo>
                  <a:pt x="6244" y="-466"/>
                  <a:pt x="18343" y="-1345"/>
                  <a:pt x="19426" y="5147"/>
                </a:cubicBezTo>
                <a:cubicBezTo>
                  <a:pt x="20887" y="13901"/>
                  <a:pt x="6180" y="17519"/>
                  <a:pt x="2207" y="25456"/>
                </a:cubicBezTo>
              </a:path>
            </a:pathLst>
          </a:cu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47"/>
          <p:cNvSpPr/>
          <p:nvPr/>
        </p:nvSpPr>
        <p:spPr>
          <a:xfrm>
            <a:off x="7372025" y="2078749"/>
            <a:ext cx="530300" cy="527250"/>
          </a:xfrm>
          <a:custGeom>
            <a:avLst/>
            <a:gdLst/>
            <a:ahLst/>
            <a:cxnLst/>
            <a:rect l="l" t="t" r="r" b="b"/>
            <a:pathLst>
              <a:path w="21212" h="21090" extrusionOk="0">
                <a:moveTo>
                  <a:pt x="0" y="3872"/>
                </a:moveTo>
                <a:cubicBezTo>
                  <a:pt x="4841" y="3872"/>
                  <a:pt x="9016" y="7455"/>
                  <a:pt x="13686" y="8728"/>
                </a:cubicBezTo>
                <a:cubicBezTo>
                  <a:pt x="16899" y="9604"/>
                  <a:pt x="22599" y="4435"/>
                  <a:pt x="20751" y="1664"/>
                </a:cubicBezTo>
                <a:cubicBezTo>
                  <a:pt x="16109" y="-5297"/>
                  <a:pt x="4856" y="12723"/>
                  <a:pt x="4856" y="21090"/>
                </a:cubicBezTo>
              </a:path>
            </a:pathLst>
          </a:cu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47"/>
          <p:cNvSpPr/>
          <p:nvPr/>
        </p:nvSpPr>
        <p:spPr>
          <a:xfrm>
            <a:off x="8399575" y="3411750"/>
            <a:ext cx="419325" cy="993375"/>
          </a:xfrm>
          <a:custGeom>
            <a:avLst/>
            <a:gdLst/>
            <a:ahLst/>
            <a:cxnLst/>
            <a:rect l="l" t="t" r="r" b="b"/>
            <a:pathLst>
              <a:path w="16773" h="39735" extrusionOk="0">
                <a:moveTo>
                  <a:pt x="2208" y="0"/>
                </a:moveTo>
                <a:cubicBezTo>
                  <a:pt x="10560" y="1669"/>
                  <a:pt x="10155" y="15766"/>
                  <a:pt x="10155" y="24283"/>
                </a:cubicBezTo>
                <a:cubicBezTo>
                  <a:pt x="10155" y="28427"/>
                  <a:pt x="8548" y="33715"/>
                  <a:pt x="11479" y="36645"/>
                </a:cubicBezTo>
                <a:cubicBezTo>
                  <a:pt x="13173" y="38339"/>
                  <a:pt x="18030" y="33041"/>
                  <a:pt x="16336" y="31347"/>
                </a:cubicBezTo>
                <a:cubicBezTo>
                  <a:pt x="15394" y="30405"/>
                  <a:pt x="13554" y="31192"/>
                  <a:pt x="12362" y="31788"/>
                </a:cubicBezTo>
                <a:cubicBezTo>
                  <a:pt x="7980" y="33979"/>
                  <a:pt x="2193" y="35354"/>
                  <a:pt x="0" y="39735"/>
                </a:cubicBezTo>
              </a:path>
            </a:pathLst>
          </a:cu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47"/>
          <p:cNvSpPr txBox="1"/>
          <p:nvPr/>
        </p:nvSpPr>
        <p:spPr>
          <a:xfrm>
            <a:off x="811725" y="876675"/>
            <a:ext cx="2494500" cy="776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pt-BR" sz="1800" b="0" i="0" u="none" strike="noStrike" cap="none">
                <a:solidFill>
                  <a:schemeClr val="lt1"/>
                </a:solidFill>
                <a:highlight>
                  <a:schemeClr val="dk2"/>
                </a:highlight>
                <a:latin typeface="Proxima Nova"/>
                <a:ea typeface="Proxima Nova"/>
                <a:cs typeface="Proxima Nova"/>
                <a:sym typeface="Proxima Nova"/>
              </a:rPr>
              <a:t>Enfoque do curso:</a:t>
            </a:r>
            <a:endParaRPr sz="1800" b="0" i="0" u="none" strike="noStrike" cap="none">
              <a:solidFill>
                <a:schemeClr val="lt1"/>
              </a:solidFill>
              <a:highlight>
                <a:schemeClr val="dk2"/>
              </a:highlight>
              <a:latin typeface="Proxima Nova"/>
              <a:ea typeface="Proxima Nova"/>
              <a:cs typeface="Proxima Nova"/>
              <a:sym typeface="Proxima Nov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7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5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5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6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6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6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6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7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7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7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7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73">
          <a:extLst>
            <a:ext uri="{FF2B5EF4-FFF2-40B4-BE49-F238E27FC236}">
              <a16:creationId xmlns:a16="http://schemas.microsoft.com/office/drawing/2014/main" id="{40F0906F-A785-B7EC-DD81-FC7883E75496}"/>
            </a:ext>
          </a:extLst>
        </p:cNvPr>
        <p:cNvGrpSpPr/>
        <p:nvPr/>
      </p:nvGrpSpPr>
      <p:grpSpPr>
        <a:xfrm>
          <a:off x="0" y="0"/>
          <a:ext cx="0" cy="0"/>
          <a:chOff x="0" y="0"/>
          <a:chExt cx="0" cy="0"/>
        </a:xfrm>
      </p:grpSpPr>
      <p:sp>
        <p:nvSpPr>
          <p:cNvPr id="574" name="Google Shape;574;p38">
            <a:extLst>
              <a:ext uri="{FF2B5EF4-FFF2-40B4-BE49-F238E27FC236}">
                <a16:creationId xmlns:a16="http://schemas.microsoft.com/office/drawing/2014/main" id="{BD0E8277-A3F0-8DCA-DDD3-733BEC371916}"/>
              </a:ext>
            </a:extLst>
          </p:cNvPr>
          <p:cNvSpPr txBox="1">
            <a:spLocks noGrp="1"/>
          </p:cNvSpPr>
          <p:nvPr>
            <p:ph type="title"/>
          </p:nvPr>
        </p:nvSpPr>
        <p:spPr>
          <a:xfrm>
            <a:off x="449225" y="526350"/>
            <a:ext cx="8265900" cy="4090800"/>
          </a:xfrm>
          <a:prstGeom prst="rect">
            <a:avLst/>
          </a:prstGeom>
          <a:noFill/>
          <a:ln>
            <a:noFill/>
          </a:ln>
        </p:spPr>
        <p:txBody>
          <a:bodyPr spcFirstLastPara="1" wrap="square" lIns="91425" tIns="91425" rIns="91425" bIns="91425" anchor="ctr" anchorCtr="0">
            <a:noAutofit/>
          </a:bodyPr>
          <a:lstStyle/>
          <a:p>
            <a:r>
              <a:rPr lang="pt-BR" sz="4500"/>
              <a:t>Workflows de análise de dados de </a:t>
            </a:r>
            <a:r>
              <a:rPr lang="pt-BR" sz="4500" dirty="0"/>
              <a:t>transcriptômica espacial</a:t>
            </a:r>
          </a:p>
        </p:txBody>
      </p:sp>
    </p:spTree>
    <p:extLst>
      <p:ext uri="{BB962C8B-B14F-4D97-AF65-F5344CB8AC3E}">
        <p14:creationId xmlns:p14="http://schemas.microsoft.com/office/powerpoint/2010/main" val="230432350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54">
          <a:extLst>
            <a:ext uri="{FF2B5EF4-FFF2-40B4-BE49-F238E27FC236}">
              <a16:creationId xmlns:a16="http://schemas.microsoft.com/office/drawing/2014/main" id="{B754ADD3-9D0F-0509-7F16-37F8F0CE73C6}"/>
            </a:ext>
          </a:extLst>
        </p:cNvPr>
        <p:cNvGrpSpPr/>
        <p:nvPr/>
      </p:nvGrpSpPr>
      <p:grpSpPr>
        <a:xfrm>
          <a:off x="0" y="0"/>
          <a:ext cx="0" cy="0"/>
          <a:chOff x="0" y="0"/>
          <a:chExt cx="0" cy="0"/>
        </a:xfrm>
      </p:grpSpPr>
      <p:sp>
        <p:nvSpPr>
          <p:cNvPr id="557" name="Google Shape;557;p36">
            <a:extLst>
              <a:ext uri="{FF2B5EF4-FFF2-40B4-BE49-F238E27FC236}">
                <a16:creationId xmlns:a16="http://schemas.microsoft.com/office/drawing/2014/main" id="{AE3A1815-50A8-33C2-3B01-3ED94D4C3813}"/>
              </a:ext>
            </a:extLst>
          </p:cNvPr>
          <p:cNvSpPr txBox="1">
            <a:spLocks noGrp="1"/>
          </p:cNvSpPr>
          <p:nvPr>
            <p:ph type="title"/>
          </p:nvPr>
        </p:nvSpPr>
        <p:spPr>
          <a:xfrm>
            <a:off x="311700" y="445025"/>
            <a:ext cx="5615400" cy="707400"/>
          </a:xfrm>
          <a:prstGeom prst="rect">
            <a:avLst/>
          </a:prstGeom>
          <a:noFill/>
          <a:ln>
            <a:noFill/>
          </a:ln>
        </p:spPr>
        <p:txBody>
          <a:bodyPr spcFirstLastPara="1" wrap="square" lIns="91425" tIns="91425" rIns="91425" bIns="91425" anchor="t" anchorCtr="0">
            <a:noAutofit/>
          </a:bodyPr>
          <a:lstStyle/>
          <a:p>
            <a:r>
              <a:rPr lang="pt-BR" sz="1800" b="1"/>
              <a:t>Workflows de análise de dados</a:t>
            </a:r>
            <a:endParaRPr lang="pt-BR"/>
          </a:p>
          <a:p>
            <a:r>
              <a:rPr lang="pt-BR" sz="1800"/>
              <a:t>Em R</a:t>
            </a:r>
            <a:endParaRPr/>
          </a:p>
        </p:txBody>
      </p:sp>
      <p:sp>
        <p:nvSpPr>
          <p:cNvPr id="3" name="Espaço Reservado para Texto 2">
            <a:extLst>
              <a:ext uri="{FF2B5EF4-FFF2-40B4-BE49-F238E27FC236}">
                <a16:creationId xmlns:a16="http://schemas.microsoft.com/office/drawing/2014/main" id="{4A984F7A-98CA-48F4-BBCE-34A100F4968E}"/>
              </a:ext>
            </a:extLst>
          </p:cNvPr>
          <p:cNvSpPr>
            <a:spLocks noGrp="1"/>
          </p:cNvSpPr>
          <p:nvPr>
            <p:ph type="body" idx="1"/>
          </p:nvPr>
        </p:nvSpPr>
        <p:spPr/>
        <p:txBody>
          <a:bodyPr/>
          <a:lstStyle/>
          <a:p>
            <a:r>
              <a:rPr lang="pt-BR" dirty="0" err="1"/>
              <a:t>Bioconductor</a:t>
            </a:r>
          </a:p>
          <a:p>
            <a:pPr lvl="1">
              <a:lnSpc>
                <a:spcPct val="114999"/>
              </a:lnSpc>
            </a:pPr>
            <a:r>
              <a:rPr lang="pt-BR"/>
              <a:t>OSTA</a:t>
            </a:r>
          </a:p>
        </p:txBody>
      </p:sp>
      <p:pic>
        <p:nvPicPr>
          <p:cNvPr id="7" name="Imagem 6">
            <a:extLst>
              <a:ext uri="{FF2B5EF4-FFF2-40B4-BE49-F238E27FC236}">
                <a16:creationId xmlns:a16="http://schemas.microsoft.com/office/drawing/2014/main" id="{AD109CFE-6487-9522-6123-BBDD8D9DE64A}"/>
              </a:ext>
            </a:extLst>
          </p:cNvPr>
          <p:cNvPicPr>
            <a:picLocks noChangeAspect="1"/>
          </p:cNvPicPr>
          <p:nvPr/>
        </p:nvPicPr>
        <p:blipFill>
          <a:blip r:embed="rId3"/>
          <a:stretch>
            <a:fillRect/>
          </a:stretch>
        </p:blipFill>
        <p:spPr>
          <a:xfrm>
            <a:off x="2498888" y="981075"/>
            <a:ext cx="6327450" cy="4000500"/>
          </a:xfrm>
          <a:prstGeom prst="rect">
            <a:avLst/>
          </a:prstGeom>
        </p:spPr>
      </p:pic>
      <p:pic>
        <p:nvPicPr>
          <p:cNvPr id="2" name="Imagem 1" descr="Prévia da imagem">
            <a:extLst>
              <a:ext uri="{FF2B5EF4-FFF2-40B4-BE49-F238E27FC236}">
                <a16:creationId xmlns:a16="http://schemas.microsoft.com/office/drawing/2014/main" id="{4374AA3B-863E-F3F8-9AF3-9B29DAB3F7E3}"/>
              </a:ext>
            </a:extLst>
          </p:cNvPr>
          <p:cNvPicPr>
            <a:picLocks noChangeAspect="1"/>
          </p:cNvPicPr>
          <p:nvPr/>
        </p:nvPicPr>
        <p:blipFill>
          <a:blip r:embed="rId4"/>
          <a:srcRect l="11145" t="12945" r="10410" b="16568"/>
          <a:stretch>
            <a:fillRect/>
          </a:stretch>
        </p:blipFill>
        <p:spPr>
          <a:xfrm>
            <a:off x="664076" y="2571750"/>
            <a:ext cx="1482437" cy="1482436"/>
          </a:xfrm>
          <a:prstGeom prst="rect">
            <a:avLst/>
          </a:prstGeom>
        </p:spPr>
      </p:pic>
    </p:spTree>
    <p:extLst>
      <p:ext uri="{BB962C8B-B14F-4D97-AF65-F5344CB8AC3E}">
        <p14:creationId xmlns:p14="http://schemas.microsoft.com/office/powerpoint/2010/main" val="67224930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54">
          <a:extLst>
            <a:ext uri="{FF2B5EF4-FFF2-40B4-BE49-F238E27FC236}">
              <a16:creationId xmlns:a16="http://schemas.microsoft.com/office/drawing/2014/main" id="{FD349D77-B6A4-F56D-9367-9B8783B7B75B}"/>
            </a:ext>
          </a:extLst>
        </p:cNvPr>
        <p:cNvGrpSpPr/>
        <p:nvPr/>
      </p:nvGrpSpPr>
      <p:grpSpPr>
        <a:xfrm>
          <a:off x="0" y="0"/>
          <a:ext cx="0" cy="0"/>
          <a:chOff x="0" y="0"/>
          <a:chExt cx="0" cy="0"/>
        </a:xfrm>
      </p:grpSpPr>
      <p:sp>
        <p:nvSpPr>
          <p:cNvPr id="557" name="Google Shape;557;p36">
            <a:extLst>
              <a:ext uri="{FF2B5EF4-FFF2-40B4-BE49-F238E27FC236}">
                <a16:creationId xmlns:a16="http://schemas.microsoft.com/office/drawing/2014/main" id="{DAC07F7D-464E-CBF2-3DB8-0591B3421440}"/>
              </a:ext>
            </a:extLst>
          </p:cNvPr>
          <p:cNvSpPr txBox="1">
            <a:spLocks noGrp="1"/>
          </p:cNvSpPr>
          <p:nvPr>
            <p:ph type="title"/>
          </p:nvPr>
        </p:nvSpPr>
        <p:spPr>
          <a:xfrm>
            <a:off x="311700" y="445025"/>
            <a:ext cx="5615400" cy="707400"/>
          </a:xfrm>
          <a:prstGeom prst="rect">
            <a:avLst/>
          </a:prstGeom>
          <a:noFill/>
          <a:ln>
            <a:noFill/>
          </a:ln>
        </p:spPr>
        <p:txBody>
          <a:bodyPr spcFirstLastPara="1" wrap="square" lIns="91425" tIns="91425" rIns="91425" bIns="91425" anchor="t" anchorCtr="0">
            <a:noAutofit/>
          </a:bodyPr>
          <a:lstStyle/>
          <a:p>
            <a:r>
              <a:rPr lang="pt-BR" sz="1800" b="1"/>
              <a:t>Workflows de análise de dados</a:t>
            </a:r>
            <a:endParaRPr lang="pt-BR"/>
          </a:p>
          <a:p>
            <a:r>
              <a:rPr lang="pt-BR" sz="1800"/>
              <a:t>Em R</a:t>
            </a:r>
            <a:endParaRPr/>
          </a:p>
        </p:txBody>
      </p:sp>
      <p:sp>
        <p:nvSpPr>
          <p:cNvPr id="3" name="Espaço Reservado para Texto 2">
            <a:extLst>
              <a:ext uri="{FF2B5EF4-FFF2-40B4-BE49-F238E27FC236}">
                <a16:creationId xmlns:a16="http://schemas.microsoft.com/office/drawing/2014/main" id="{E997A80E-6C9E-C2F3-F05C-B725FD74B8BD}"/>
              </a:ext>
            </a:extLst>
          </p:cNvPr>
          <p:cNvSpPr>
            <a:spLocks noGrp="1"/>
          </p:cNvSpPr>
          <p:nvPr>
            <p:ph type="body" idx="1"/>
          </p:nvPr>
        </p:nvSpPr>
        <p:spPr/>
        <p:txBody>
          <a:bodyPr/>
          <a:lstStyle/>
          <a:p>
            <a:r>
              <a:rPr lang="pt-BR" dirty="0" err="1"/>
              <a:t>Bioconductor</a:t>
            </a:r>
            <a:r>
              <a:rPr lang="pt-BR" dirty="0"/>
              <a:t> – objeto </a:t>
            </a:r>
            <a:r>
              <a:rPr lang="pt-BR" dirty="0" err="1"/>
              <a:t>SpatialExperiment</a:t>
            </a:r>
            <a:endParaRPr lang="pt-BR" dirty="0"/>
          </a:p>
        </p:txBody>
      </p:sp>
      <p:pic>
        <p:nvPicPr>
          <p:cNvPr id="6" name="Imagem 5">
            <a:extLst>
              <a:ext uri="{FF2B5EF4-FFF2-40B4-BE49-F238E27FC236}">
                <a16:creationId xmlns:a16="http://schemas.microsoft.com/office/drawing/2014/main" id="{FBA699A4-BE5E-01B0-1903-7FF831E7BFBA}"/>
              </a:ext>
            </a:extLst>
          </p:cNvPr>
          <p:cNvPicPr>
            <a:picLocks noChangeAspect="1"/>
          </p:cNvPicPr>
          <p:nvPr/>
        </p:nvPicPr>
        <p:blipFill>
          <a:blip r:embed="rId3"/>
          <a:stretch>
            <a:fillRect/>
          </a:stretch>
        </p:blipFill>
        <p:spPr>
          <a:xfrm>
            <a:off x="1393520" y="1706915"/>
            <a:ext cx="6364788" cy="3146677"/>
          </a:xfrm>
          <a:prstGeom prst="rect">
            <a:avLst/>
          </a:prstGeom>
        </p:spPr>
      </p:pic>
    </p:spTree>
    <p:extLst>
      <p:ext uri="{BB962C8B-B14F-4D97-AF65-F5344CB8AC3E}">
        <p14:creationId xmlns:p14="http://schemas.microsoft.com/office/powerpoint/2010/main" val="267412602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554">
          <a:extLst>
            <a:ext uri="{FF2B5EF4-FFF2-40B4-BE49-F238E27FC236}">
              <a16:creationId xmlns:a16="http://schemas.microsoft.com/office/drawing/2014/main" id="{176F9F79-948E-409B-E8BC-FFBAF1C1AE38}"/>
            </a:ext>
          </a:extLst>
        </p:cNvPr>
        <p:cNvGrpSpPr/>
        <p:nvPr/>
      </p:nvGrpSpPr>
      <p:grpSpPr>
        <a:xfrm>
          <a:off x="0" y="0"/>
          <a:ext cx="0" cy="0"/>
          <a:chOff x="0" y="0"/>
          <a:chExt cx="0" cy="0"/>
        </a:xfrm>
      </p:grpSpPr>
      <p:sp>
        <p:nvSpPr>
          <p:cNvPr id="557" name="Google Shape;557;p36">
            <a:extLst>
              <a:ext uri="{FF2B5EF4-FFF2-40B4-BE49-F238E27FC236}">
                <a16:creationId xmlns:a16="http://schemas.microsoft.com/office/drawing/2014/main" id="{AEC501CE-3043-1431-FDDD-0D09AF148426}"/>
              </a:ext>
            </a:extLst>
          </p:cNvPr>
          <p:cNvSpPr txBox="1">
            <a:spLocks noGrp="1"/>
          </p:cNvSpPr>
          <p:nvPr>
            <p:ph type="title"/>
          </p:nvPr>
        </p:nvSpPr>
        <p:spPr>
          <a:xfrm>
            <a:off x="311700" y="445025"/>
            <a:ext cx="5615400" cy="707400"/>
          </a:xfrm>
          <a:prstGeom prst="rect">
            <a:avLst/>
          </a:prstGeom>
          <a:noFill/>
          <a:ln>
            <a:noFill/>
          </a:ln>
        </p:spPr>
        <p:txBody>
          <a:bodyPr spcFirstLastPara="1" wrap="square" lIns="91425" tIns="91425" rIns="91425" bIns="91425" anchor="t" anchorCtr="0">
            <a:noAutofit/>
          </a:bodyPr>
          <a:lstStyle/>
          <a:p>
            <a:r>
              <a:rPr lang="pt-BR" sz="1800" b="1"/>
              <a:t>Workflows de análise de dados</a:t>
            </a:r>
            <a:endParaRPr lang="pt-BR"/>
          </a:p>
          <a:p>
            <a:r>
              <a:rPr lang="pt-BR" sz="1800"/>
              <a:t>Em R</a:t>
            </a:r>
            <a:endParaRPr/>
          </a:p>
        </p:txBody>
      </p:sp>
      <p:sp>
        <p:nvSpPr>
          <p:cNvPr id="3" name="Espaço Reservado para Texto 2">
            <a:extLst>
              <a:ext uri="{FF2B5EF4-FFF2-40B4-BE49-F238E27FC236}">
                <a16:creationId xmlns:a16="http://schemas.microsoft.com/office/drawing/2014/main" id="{E8080801-DB63-789B-C2B1-08A35E78F51D}"/>
              </a:ext>
            </a:extLst>
          </p:cNvPr>
          <p:cNvSpPr>
            <a:spLocks noGrp="1"/>
          </p:cNvSpPr>
          <p:nvPr>
            <p:ph type="body" idx="1"/>
          </p:nvPr>
        </p:nvSpPr>
        <p:spPr/>
        <p:txBody>
          <a:bodyPr/>
          <a:lstStyle/>
          <a:p>
            <a:r>
              <a:rPr lang="pt-BR" dirty="0" err="1"/>
              <a:t>Seurat</a:t>
            </a:r>
          </a:p>
        </p:txBody>
      </p:sp>
      <p:pic>
        <p:nvPicPr>
          <p:cNvPr id="2" name="Imagem 1">
            <a:extLst>
              <a:ext uri="{FF2B5EF4-FFF2-40B4-BE49-F238E27FC236}">
                <a16:creationId xmlns:a16="http://schemas.microsoft.com/office/drawing/2014/main" id="{54A49A73-8CBE-CC06-A60C-501F4AE67098}"/>
              </a:ext>
            </a:extLst>
          </p:cNvPr>
          <p:cNvPicPr>
            <a:picLocks noChangeAspect="1"/>
          </p:cNvPicPr>
          <p:nvPr/>
        </p:nvPicPr>
        <p:blipFill>
          <a:blip r:embed="rId3"/>
          <a:stretch>
            <a:fillRect/>
          </a:stretch>
        </p:blipFill>
        <p:spPr>
          <a:xfrm>
            <a:off x="2057400" y="1742821"/>
            <a:ext cx="5029200" cy="1117854"/>
          </a:xfrm>
          <a:prstGeom prst="rect">
            <a:avLst/>
          </a:prstGeom>
        </p:spPr>
      </p:pic>
      <p:pic>
        <p:nvPicPr>
          <p:cNvPr id="4" name="Imagem 3">
            <a:extLst>
              <a:ext uri="{FF2B5EF4-FFF2-40B4-BE49-F238E27FC236}">
                <a16:creationId xmlns:a16="http://schemas.microsoft.com/office/drawing/2014/main" id="{75C2A777-35CC-877E-53F9-5FE09B848AC3}"/>
              </a:ext>
            </a:extLst>
          </p:cNvPr>
          <p:cNvPicPr>
            <a:picLocks noChangeAspect="1"/>
          </p:cNvPicPr>
          <p:nvPr/>
        </p:nvPicPr>
        <p:blipFill>
          <a:blip r:embed="rId4"/>
          <a:stretch>
            <a:fillRect/>
          </a:stretch>
        </p:blipFill>
        <p:spPr>
          <a:xfrm>
            <a:off x="419100" y="2960675"/>
            <a:ext cx="8305800" cy="1877582"/>
          </a:xfrm>
          <a:prstGeom prst="rect">
            <a:avLst/>
          </a:prstGeom>
        </p:spPr>
      </p:pic>
      <p:sp>
        <p:nvSpPr>
          <p:cNvPr id="7" name="Google Shape;747;g3fa37cb035d_0_124">
            <a:extLst>
              <a:ext uri="{FF2B5EF4-FFF2-40B4-BE49-F238E27FC236}">
                <a16:creationId xmlns:a16="http://schemas.microsoft.com/office/drawing/2014/main" id="{232BB3F7-49D9-8449-0A51-3B4E56164291}"/>
              </a:ext>
            </a:extLst>
          </p:cNvPr>
          <p:cNvSpPr txBox="1"/>
          <p:nvPr/>
        </p:nvSpPr>
        <p:spPr>
          <a:xfrm>
            <a:off x="7556850" y="2395525"/>
            <a:ext cx="1259475" cy="458400"/>
          </a:xfrm>
          <a:prstGeom prst="rect">
            <a:avLst/>
          </a:prstGeom>
          <a:noFill/>
          <a:ln>
            <a:noFill/>
          </a:ln>
        </p:spPr>
        <p:txBody>
          <a:bodyPr spcFirstLastPara="1" wrap="square" lIns="91425" tIns="91425" rIns="91425" bIns="91425" anchor="t" anchorCtr="0">
            <a:noAutofit/>
          </a:bodyPr>
          <a:lstStyle/>
          <a:p>
            <a:r>
              <a:rPr lang="pt-BR" sz="1800" dirty="0" err="1">
                <a:solidFill>
                  <a:schemeClr val="lt1"/>
                </a:solidFill>
                <a:highlight>
                  <a:schemeClr val="accent5"/>
                </a:highlight>
                <a:latin typeface="Proxima Nova"/>
                <a:sym typeface="Proxima Nova"/>
              </a:rPr>
              <a:t>Seurat</a:t>
            </a:r>
            <a:r>
              <a:rPr lang="pt-BR" sz="1800" dirty="0">
                <a:solidFill>
                  <a:schemeClr val="lt1"/>
                </a:solidFill>
                <a:highlight>
                  <a:schemeClr val="accent5"/>
                </a:highlight>
                <a:latin typeface="Proxima Nova"/>
                <a:sym typeface="Proxima Nova"/>
              </a:rPr>
              <a:t> V5</a:t>
            </a:r>
            <a:endParaRPr lang="pt-BR" dirty="0">
              <a:solidFill>
                <a:schemeClr val="lt1"/>
              </a:solidFill>
            </a:endParaRPr>
          </a:p>
        </p:txBody>
      </p:sp>
      <p:pic>
        <p:nvPicPr>
          <p:cNvPr id="5" name="Imagem 4" descr="Prévia da imagem">
            <a:extLst>
              <a:ext uri="{FF2B5EF4-FFF2-40B4-BE49-F238E27FC236}">
                <a16:creationId xmlns:a16="http://schemas.microsoft.com/office/drawing/2014/main" id="{3FBF6A92-AC34-0A9B-C1C3-AA17ACBFDDC2}"/>
              </a:ext>
            </a:extLst>
          </p:cNvPr>
          <p:cNvPicPr>
            <a:picLocks noChangeAspect="1"/>
          </p:cNvPicPr>
          <p:nvPr/>
        </p:nvPicPr>
        <p:blipFill>
          <a:blip r:embed="rId5"/>
          <a:srcRect l="11426" t="13116" r="11296" b="14900"/>
          <a:stretch>
            <a:fillRect/>
          </a:stretch>
        </p:blipFill>
        <p:spPr>
          <a:xfrm>
            <a:off x="7318107" y="187221"/>
            <a:ext cx="1540453" cy="1555600"/>
          </a:xfrm>
          <a:prstGeom prst="rect">
            <a:avLst/>
          </a:prstGeom>
        </p:spPr>
      </p:pic>
    </p:spTree>
    <p:extLst>
      <p:ext uri="{BB962C8B-B14F-4D97-AF65-F5344CB8AC3E}">
        <p14:creationId xmlns:p14="http://schemas.microsoft.com/office/powerpoint/2010/main" val="727542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554">
          <a:extLst>
            <a:ext uri="{FF2B5EF4-FFF2-40B4-BE49-F238E27FC236}">
              <a16:creationId xmlns:a16="http://schemas.microsoft.com/office/drawing/2014/main" id="{FDFC307B-A1F0-368D-7080-2CEC1BD50F3C}"/>
            </a:ext>
          </a:extLst>
        </p:cNvPr>
        <p:cNvGrpSpPr/>
        <p:nvPr/>
      </p:nvGrpSpPr>
      <p:grpSpPr>
        <a:xfrm>
          <a:off x="0" y="0"/>
          <a:ext cx="0" cy="0"/>
          <a:chOff x="0" y="0"/>
          <a:chExt cx="0" cy="0"/>
        </a:xfrm>
      </p:grpSpPr>
      <p:sp>
        <p:nvSpPr>
          <p:cNvPr id="557" name="Google Shape;557;p36">
            <a:extLst>
              <a:ext uri="{FF2B5EF4-FFF2-40B4-BE49-F238E27FC236}">
                <a16:creationId xmlns:a16="http://schemas.microsoft.com/office/drawing/2014/main" id="{DC4ADEF0-D8B9-04A8-4ABB-388AD516E2DB}"/>
              </a:ext>
            </a:extLst>
          </p:cNvPr>
          <p:cNvSpPr txBox="1">
            <a:spLocks noGrp="1"/>
          </p:cNvSpPr>
          <p:nvPr>
            <p:ph type="title"/>
          </p:nvPr>
        </p:nvSpPr>
        <p:spPr>
          <a:xfrm>
            <a:off x="311700" y="445025"/>
            <a:ext cx="5615400" cy="707400"/>
          </a:xfrm>
          <a:prstGeom prst="rect">
            <a:avLst/>
          </a:prstGeom>
          <a:noFill/>
          <a:ln>
            <a:noFill/>
          </a:ln>
        </p:spPr>
        <p:txBody>
          <a:bodyPr spcFirstLastPara="1" wrap="square" lIns="91425" tIns="91425" rIns="91425" bIns="91425" anchor="t" anchorCtr="0">
            <a:noAutofit/>
          </a:bodyPr>
          <a:lstStyle/>
          <a:p>
            <a:r>
              <a:rPr lang="pt-BR" sz="1800" b="1" dirty="0"/>
              <a:t>Workflows de análise de dados</a:t>
            </a:r>
            <a:endParaRPr lang="pt-BR" dirty="0"/>
          </a:p>
          <a:p>
            <a:r>
              <a:rPr lang="pt-BR" sz="1800" dirty="0"/>
              <a:t>Em Python </a:t>
            </a:r>
            <a:endParaRPr dirty="0"/>
          </a:p>
        </p:txBody>
      </p:sp>
      <p:sp>
        <p:nvSpPr>
          <p:cNvPr id="3" name="Espaço Reservado para Texto 2">
            <a:extLst>
              <a:ext uri="{FF2B5EF4-FFF2-40B4-BE49-F238E27FC236}">
                <a16:creationId xmlns:a16="http://schemas.microsoft.com/office/drawing/2014/main" id="{E03CF989-0970-3BBB-DF5D-8931FF2164A5}"/>
              </a:ext>
            </a:extLst>
          </p:cNvPr>
          <p:cNvSpPr>
            <a:spLocks noGrp="1"/>
          </p:cNvSpPr>
          <p:nvPr>
            <p:ph type="body" idx="1"/>
          </p:nvPr>
        </p:nvSpPr>
        <p:spPr/>
        <p:txBody>
          <a:bodyPr/>
          <a:lstStyle/>
          <a:p>
            <a:pPr>
              <a:lnSpc>
                <a:spcPct val="114999"/>
              </a:lnSpc>
            </a:pPr>
            <a:r>
              <a:rPr lang="pt-BR" dirty="0" err="1"/>
              <a:t>Squidpy</a:t>
            </a:r>
          </a:p>
          <a:p>
            <a:pPr>
              <a:lnSpc>
                <a:spcPct val="114999"/>
              </a:lnSpc>
            </a:pPr>
            <a:r>
              <a:rPr lang="pt-BR" dirty="0" err="1"/>
              <a:t>SpatialData</a:t>
            </a:r>
            <a:r>
              <a:rPr lang="pt-BR" dirty="0"/>
              <a:t> (</a:t>
            </a:r>
            <a:r>
              <a:rPr lang="pt-BR" dirty="0" err="1"/>
              <a:t>scverse</a:t>
            </a:r>
            <a:r>
              <a:rPr lang="pt-BR" dirty="0"/>
              <a:t>)</a:t>
            </a:r>
          </a:p>
        </p:txBody>
      </p:sp>
      <p:pic>
        <p:nvPicPr>
          <p:cNvPr id="5" name="Imagem 4" descr="Squidpy title figure">
            <a:extLst>
              <a:ext uri="{FF2B5EF4-FFF2-40B4-BE49-F238E27FC236}">
                <a16:creationId xmlns:a16="http://schemas.microsoft.com/office/drawing/2014/main" id="{D6D8C0A2-F36F-0CCB-47C8-4953486F24C2}"/>
              </a:ext>
            </a:extLst>
          </p:cNvPr>
          <p:cNvPicPr>
            <a:picLocks noChangeAspect="1"/>
          </p:cNvPicPr>
          <p:nvPr/>
        </p:nvPicPr>
        <p:blipFill>
          <a:blip r:embed="rId3"/>
          <a:stretch>
            <a:fillRect/>
          </a:stretch>
        </p:blipFill>
        <p:spPr>
          <a:xfrm>
            <a:off x="4962525" y="785234"/>
            <a:ext cx="3867150" cy="4230257"/>
          </a:xfrm>
          <a:prstGeom prst="rect">
            <a:avLst/>
          </a:prstGeom>
        </p:spPr>
      </p:pic>
      <p:pic>
        <p:nvPicPr>
          <p:cNvPr id="6" name="Imagem 5">
            <a:extLst>
              <a:ext uri="{FF2B5EF4-FFF2-40B4-BE49-F238E27FC236}">
                <a16:creationId xmlns:a16="http://schemas.microsoft.com/office/drawing/2014/main" id="{1CA46427-BD92-D4A1-4807-31E7B41D5208}"/>
              </a:ext>
            </a:extLst>
          </p:cNvPr>
          <p:cNvPicPr>
            <a:picLocks noChangeAspect="1"/>
          </p:cNvPicPr>
          <p:nvPr/>
        </p:nvPicPr>
        <p:blipFill>
          <a:blip r:embed="rId4"/>
          <a:stretch>
            <a:fillRect/>
          </a:stretch>
        </p:blipFill>
        <p:spPr>
          <a:xfrm>
            <a:off x="441899" y="1152525"/>
            <a:ext cx="4240652" cy="3867150"/>
          </a:xfrm>
          <a:prstGeom prst="rect">
            <a:avLst/>
          </a:prstGeom>
        </p:spPr>
      </p:pic>
      <p:sp>
        <p:nvSpPr>
          <p:cNvPr id="4" name="Google Shape;747;g3fa37cb035d_0_124">
            <a:extLst>
              <a:ext uri="{FF2B5EF4-FFF2-40B4-BE49-F238E27FC236}">
                <a16:creationId xmlns:a16="http://schemas.microsoft.com/office/drawing/2014/main" id="{94783E5A-177E-2FE1-323C-916E6BBF89A5}"/>
              </a:ext>
            </a:extLst>
          </p:cNvPr>
          <p:cNvSpPr txBox="1"/>
          <p:nvPr/>
        </p:nvSpPr>
        <p:spPr>
          <a:xfrm>
            <a:off x="5525146" y="536833"/>
            <a:ext cx="1035266" cy="329684"/>
          </a:xfrm>
          <a:prstGeom prst="rect">
            <a:avLst/>
          </a:prstGeom>
          <a:solidFill>
            <a:schemeClr val="accent5"/>
          </a:solidFill>
          <a:ln>
            <a:noFill/>
          </a:ln>
        </p:spPr>
        <p:txBody>
          <a:bodyPr spcFirstLastPara="1" wrap="square" lIns="91425" tIns="91425" rIns="91425" bIns="91425" anchor="ctr" anchorCtr="0">
            <a:noAutofit/>
          </a:bodyPr>
          <a:lstStyle/>
          <a:p>
            <a:pPr algn="ctr"/>
            <a:r>
              <a:rPr lang="pt-BR" sz="1800" dirty="0" err="1">
                <a:solidFill>
                  <a:schemeClr val="lt1"/>
                </a:solidFill>
                <a:highlight>
                  <a:schemeClr val="accent5"/>
                </a:highlight>
                <a:latin typeface="Proxima Nova"/>
                <a:sym typeface="Proxima Nova"/>
              </a:rPr>
              <a:t>Squidpy</a:t>
            </a:r>
            <a:endParaRPr lang="pt-BR" dirty="0">
              <a:solidFill>
                <a:schemeClr val="lt1"/>
              </a:solidFill>
            </a:endParaRPr>
          </a:p>
        </p:txBody>
      </p:sp>
      <p:sp>
        <p:nvSpPr>
          <p:cNvPr id="8" name="Google Shape;747;g3fa37cb035d_0_124">
            <a:extLst>
              <a:ext uri="{FF2B5EF4-FFF2-40B4-BE49-F238E27FC236}">
                <a16:creationId xmlns:a16="http://schemas.microsoft.com/office/drawing/2014/main" id="{D304C581-FB14-7C83-42CA-445F24D69F78}"/>
              </a:ext>
            </a:extLst>
          </p:cNvPr>
          <p:cNvSpPr txBox="1"/>
          <p:nvPr/>
        </p:nvSpPr>
        <p:spPr>
          <a:xfrm>
            <a:off x="2258292" y="860426"/>
            <a:ext cx="1357960" cy="329684"/>
          </a:xfrm>
          <a:prstGeom prst="rect">
            <a:avLst/>
          </a:prstGeom>
          <a:solidFill>
            <a:schemeClr val="accent5"/>
          </a:solidFill>
          <a:ln>
            <a:noFill/>
          </a:ln>
        </p:spPr>
        <p:txBody>
          <a:bodyPr spcFirstLastPara="1" wrap="square" lIns="91425" tIns="91425" rIns="91425" bIns="91425" anchor="ctr" anchorCtr="0">
            <a:noAutofit/>
          </a:bodyPr>
          <a:lstStyle/>
          <a:p>
            <a:pPr algn="ctr"/>
            <a:r>
              <a:rPr lang="pt-BR" sz="1800" dirty="0" err="1">
                <a:solidFill>
                  <a:schemeClr val="lt1"/>
                </a:solidFill>
                <a:highlight>
                  <a:schemeClr val="accent5"/>
                </a:highlight>
                <a:latin typeface="Proxima Nova"/>
                <a:sym typeface="Proxima Nova"/>
              </a:rPr>
              <a:t>SpatialData</a:t>
            </a:r>
            <a:endParaRPr lang="pt-BR" dirty="0">
              <a:solidFill>
                <a:schemeClr val="lt1"/>
              </a:solidFill>
            </a:endParaRPr>
          </a:p>
        </p:txBody>
      </p:sp>
    </p:spTree>
    <p:extLst>
      <p:ext uri="{BB962C8B-B14F-4D97-AF65-F5344CB8AC3E}">
        <p14:creationId xmlns:p14="http://schemas.microsoft.com/office/powerpoint/2010/main" val="397566884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554">
          <a:extLst>
            <a:ext uri="{FF2B5EF4-FFF2-40B4-BE49-F238E27FC236}">
              <a16:creationId xmlns:a16="http://schemas.microsoft.com/office/drawing/2014/main" id="{ECDB927D-5403-E2F7-DF01-5A164C85BB58}"/>
            </a:ext>
          </a:extLst>
        </p:cNvPr>
        <p:cNvGrpSpPr/>
        <p:nvPr/>
      </p:nvGrpSpPr>
      <p:grpSpPr>
        <a:xfrm>
          <a:off x="0" y="0"/>
          <a:ext cx="0" cy="0"/>
          <a:chOff x="0" y="0"/>
          <a:chExt cx="0" cy="0"/>
        </a:xfrm>
      </p:grpSpPr>
      <p:sp>
        <p:nvSpPr>
          <p:cNvPr id="557" name="Google Shape;557;p36">
            <a:extLst>
              <a:ext uri="{FF2B5EF4-FFF2-40B4-BE49-F238E27FC236}">
                <a16:creationId xmlns:a16="http://schemas.microsoft.com/office/drawing/2014/main" id="{54EDF087-363C-2B15-E77C-EE2BB5CFF174}"/>
              </a:ext>
            </a:extLst>
          </p:cNvPr>
          <p:cNvSpPr txBox="1">
            <a:spLocks noGrp="1"/>
          </p:cNvSpPr>
          <p:nvPr>
            <p:ph type="title"/>
          </p:nvPr>
        </p:nvSpPr>
        <p:spPr>
          <a:xfrm>
            <a:off x="311700" y="445025"/>
            <a:ext cx="5615400" cy="707400"/>
          </a:xfrm>
          <a:prstGeom prst="rect">
            <a:avLst/>
          </a:prstGeom>
          <a:noFill/>
          <a:ln>
            <a:noFill/>
          </a:ln>
        </p:spPr>
        <p:txBody>
          <a:bodyPr spcFirstLastPara="1" wrap="square" lIns="91425" tIns="91425" rIns="91425" bIns="91425" anchor="t" anchorCtr="0">
            <a:noAutofit/>
          </a:bodyPr>
          <a:lstStyle/>
          <a:p>
            <a:r>
              <a:rPr lang="pt-BR" sz="1800" b="1"/>
              <a:t>Workflows de análise de dados</a:t>
            </a:r>
            <a:endParaRPr lang="pt-BR"/>
          </a:p>
          <a:p>
            <a:r>
              <a:rPr lang="pt-BR" sz="1800"/>
              <a:t>Em Python </a:t>
            </a:r>
            <a:endParaRPr/>
          </a:p>
        </p:txBody>
      </p:sp>
      <p:sp>
        <p:nvSpPr>
          <p:cNvPr id="3" name="Espaço Reservado para Texto 2">
            <a:extLst>
              <a:ext uri="{FF2B5EF4-FFF2-40B4-BE49-F238E27FC236}">
                <a16:creationId xmlns:a16="http://schemas.microsoft.com/office/drawing/2014/main" id="{2A65E89B-1360-ADE2-F874-6F3DE748248A}"/>
              </a:ext>
            </a:extLst>
          </p:cNvPr>
          <p:cNvSpPr>
            <a:spLocks noGrp="1"/>
          </p:cNvSpPr>
          <p:nvPr>
            <p:ph type="body" idx="1"/>
          </p:nvPr>
        </p:nvSpPr>
        <p:spPr/>
        <p:txBody>
          <a:bodyPr/>
          <a:lstStyle/>
          <a:p>
            <a:pPr>
              <a:lnSpc>
                <a:spcPct val="114999"/>
              </a:lnSpc>
            </a:pPr>
            <a:r>
              <a:rPr lang="pt-BR" dirty="0" err="1"/>
              <a:t>Squidpy</a:t>
            </a:r>
          </a:p>
          <a:p>
            <a:pPr>
              <a:lnSpc>
                <a:spcPct val="114999"/>
              </a:lnSpc>
            </a:pPr>
            <a:r>
              <a:rPr lang="pt-BR" dirty="0" err="1"/>
              <a:t>SpatialData</a:t>
            </a:r>
            <a:r>
              <a:rPr lang="pt-BR" dirty="0"/>
              <a:t> (</a:t>
            </a:r>
            <a:r>
              <a:rPr lang="pt-BR" dirty="0" err="1"/>
              <a:t>scverse</a:t>
            </a:r>
            <a:r>
              <a:rPr lang="pt-BR" dirty="0"/>
              <a:t>)</a:t>
            </a:r>
          </a:p>
        </p:txBody>
      </p:sp>
      <p:sp>
        <p:nvSpPr>
          <p:cNvPr id="7" name="Google Shape;747;g3fa37cb035d_0_124">
            <a:extLst>
              <a:ext uri="{FF2B5EF4-FFF2-40B4-BE49-F238E27FC236}">
                <a16:creationId xmlns:a16="http://schemas.microsoft.com/office/drawing/2014/main" id="{ED2CF303-E646-34D4-10D1-950861F1A6A1}"/>
              </a:ext>
            </a:extLst>
          </p:cNvPr>
          <p:cNvSpPr txBox="1"/>
          <p:nvPr/>
        </p:nvSpPr>
        <p:spPr>
          <a:xfrm>
            <a:off x="7185375" y="4750"/>
            <a:ext cx="1954800" cy="696525"/>
          </a:xfrm>
          <a:prstGeom prst="rect">
            <a:avLst/>
          </a:prstGeom>
          <a:solidFill>
            <a:srgbClr val="FFC000"/>
          </a:solidFill>
          <a:ln>
            <a:noFill/>
          </a:ln>
        </p:spPr>
        <p:txBody>
          <a:bodyPr spcFirstLastPara="1" wrap="square" lIns="91425" tIns="91425" rIns="91425" bIns="91425" anchor="ctr" anchorCtr="0">
            <a:noAutofit/>
          </a:bodyPr>
          <a:lstStyle/>
          <a:p>
            <a:pPr algn="ctr"/>
            <a:r>
              <a:rPr lang="pt-BR" sz="1800" dirty="0">
                <a:solidFill>
                  <a:schemeClr val="tx1"/>
                </a:solidFill>
                <a:latin typeface="Proxima Nova"/>
                <a:sym typeface="Proxima Nova"/>
              </a:rPr>
              <a:t>(não utilizaremos no curso)</a:t>
            </a:r>
            <a:endParaRPr lang="pt-BR" dirty="0">
              <a:solidFill>
                <a:schemeClr val="tx1"/>
              </a:solidFill>
            </a:endParaRPr>
          </a:p>
        </p:txBody>
      </p:sp>
      <p:pic>
        <p:nvPicPr>
          <p:cNvPr id="5" name="Imagem 4" descr="Squidpy title figure">
            <a:extLst>
              <a:ext uri="{FF2B5EF4-FFF2-40B4-BE49-F238E27FC236}">
                <a16:creationId xmlns:a16="http://schemas.microsoft.com/office/drawing/2014/main" id="{854DB446-B0EE-655A-1B80-5B959FF99A2F}"/>
              </a:ext>
            </a:extLst>
          </p:cNvPr>
          <p:cNvPicPr>
            <a:picLocks noChangeAspect="1"/>
          </p:cNvPicPr>
          <p:nvPr/>
        </p:nvPicPr>
        <p:blipFill>
          <a:blip r:embed="rId3"/>
          <a:stretch>
            <a:fillRect/>
          </a:stretch>
        </p:blipFill>
        <p:spPr>
          <a:xfrm>
            <a:off x="4962525" y="785234"/>
            <a:ext cx="3867150" cy="4230257"/>
          </a:xfrm>
          <a:prstGeom prst="rect">
            <a:avLst/>
          </a:prstGeom>
        </p:spPr>
      </p:pic>
      <p:pic>
        <p:nvPicPr>
          <p:cNvPr id="6" name="Imagem 5">
            <a:extLst>
              <a:ext uri="{FF2B5EF4-FFF2-40B4-BE49-F238E27FC236}">
                <a16:creationId xmlns:a16="http://schemas.microsoft.com/office/drawing/2014/main" id="{CAAFF17C-6FC4-AE33-A3BA-329EAF297B40}"/>
              </a:ext>
            </a:extLst>
          </p:cNvPr>
          <p:cNvPicPr>
            <a:picLocks noChangeAspect="1"/>
          </p:cNvPicPr>
          <p:nvPr/>
        </p:nvPicPr>
        <p:blipFill>
          <a:blip r:embed="rId4"/>
          <a:stretch>
            <a:fillRect/>
          </a:stretch>
        </p:blipFill>
        <p:spPr>
          <a:xfrm>
            <a:off x="441899" y="1152525"/>
            <a:ext cx="4240652" cy="3867150"/>
          </a:xfrm>
          <a:prstGeom prst="rect">
            <a:avLst/>
          </a:prstGeom>
        </p:spPr>
      </p:pic>
      <p:sp>
        <p:nvSpPr>
          <p:cNvPr id="4" name="Google Shape;747;g3fa37cb035d_0_124">
            <a:extLst>
              <a:ext uri="{FF2B5EF4-FFF2-40B4-BE49-F238E27FC236}">
                <a16:creationId xmlns:a16="http://schemas.microsoft.com/office/drawing/2014/main" id="{44CC29DC-4B2F-CCE3-6867-A21D5B4F431A}"/>
              </a:ext>
            </a:extLst>
          </p:cNvPr>
          <p:cNvSpPr txBox="1"/>
          <p:nvPr/>
        </p:nvSpPr>
        <p:spPr>
          <a:xfrm>
            <a:off x="5525146" y="536833"/>
            <a:ext cx="1035266" cy="329684"/>
          </a:xfrm>
          <a:prstGeom prst="rect">
            <a:avLst/>
          </a:prstGeom>
          <a:solidFill>
            <a:schemeClr val="accent5"/>
          </a:solidFill>
          <a:ln>
            <a:noFill/>
          </a:ln>
        </p:spPr>
        <p:txBody>
          <a:bodyPr spcFirstLastPara="1" wrap="square" lIns="91425" tIns="91425" rIns="91425" bIns="91425" anchor="ctr" anchorCtr="0">
            <a:noAutofit/>
          </a:bodyPr>
          <a:lstStyle/>
          <a:p>
            <a:pPr algn="ctr"/>
            <a:r>
              <a:rPr lang="pt-BR" sz="1800" dirty="0" err="1">
                <a:solidFill>
                  <a:schemeClr val="lt1"/>
                </a:solidFill>
                <a:highlight>
                  <a:schemeClr val="accent5"/>
                </a:highlight>
                <a:latin typeface="Proxima Nova"/>
                <a:sym typeface="Proxima Nova"/>
              </a:rPr>
              <a:t>Squidpy</a:t>
            </a:r>
            <a:endParaRPr lang="pt-BR" dirty="0">
              <a:solidFill>
                <a:schemeClr val="lt1"/>
              </a:solidFill>
            </a:endParaRPr>
          </a:p>
        </p:txBody>
      </p:sp>
      <p:sp>
        <p:nvSpPr>
          <p:cNvPr id="9" name="Google Shape;747;g3fa37cb035d_0_124">
            <a:extLst>
              <a:ext uri="{FF2B5EF4-FFF2-40B4-BE49-F238E27FC236}">
                <a16:creationId xmlns:a16="http://schemas.microsoft.com/office/drawing/2014/main" id="{8A147687-E0EF-0B15-7870-8DC4EBF92ABF}"/>
              </a:ext>
            </a:extLst>
          </p:cNvPr>
          <p:cNvSpPr txBox="1"/>
          <p:nvPr/>
        </p:nvSpPr>
        <p:spPr>
          <a:xfrm>
            <a:off x="2258292" y="860426"/>
            <a:ext cx="1357960" cy="329684"/>
          </a:xfrm>
          <a:prstGeom prst="rect">
            <a:avLst/>
          </a:prstGeom>
          <a:solidFill>
            <a:schemeClr val="accent5"/>
          </a:solidFill>
          <a:ln>
            <a:noFill/>
          </a:ln>
        </p:spPr>
        <p:txBody>
          <a:bodyPr spcFirstLastPara="1" wrap="square" lIns="91425" tIns="91425" rIns="91425" bIns="91425" anchor="ctr" anchorCtr="0">
            <a:noAutofit/>
          </a:bodyPr>
          <a:lstStyle/>
          <a:p>
            <a:pPr algn="ctr"/>
            <a:r>
              <a:rPr lang="pt-BR" sz="1800" dirty="0" err="1">
                <a:solidFill>
                  <a:schemeClr val="lt1"/>
                </a:solidFill>
                <a:highlight>
                  <a:schemeClr val="accent5"/>
                </a:highlight>
                <a:latin typeface="Proxima Nova"/>
                <a:sym typeface="Proxima Nova"/>
              </a:rPr>
              <a:t>SpatialData</a:t>
            </a:r>
            <a:endParaRPr lang="pt-BR" dirty="0">
              <a:solidFill>
                <a:schemeClr val="lt1"/>
              </a:solidFill>
            </a:endParaRPr>
          </a:p>
        </p:txBody>
      </p:sp>
    </p:spTree>
    <p:extLst>
      <p:ext uri="{BB962C8B-B14F-4D97-AF65-F5344CB8AC3E}">
        <p14:creationId xmlns:p14="http://schemas.microsoft.com/office/powerpoint/2010/main" val="95444593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p48"/>
          <p:cNvSpPr txBox="1">
            <a:spLocks noGrp="1"/>
          </p:cNvSpPr>
          <p:nvPr>
            <p:ph type="title"/>
          </p:nvPr>
        </p:nvSpPr>
        <p:spPr>
          <a:xfrm>
            <a:off x="2622825" y="2057400"/>
            <a:ext cx="6010800" cy="778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600"/>
              <a:buNone/>
            </a:pPr>
            <a:r>
              <a:rPr lang="pt-BR" sz="4600" dirty="0">
                <a:solidFill>
                  <a:schemeClr val="tx1"/>
                </a:solidFill>
              </a:rPr>
              <a:t>Intervalo</a:t>
            </a:r>
            <a:endParaRPr sz="4600" dirty="0">
              <a:solidFill>
                <a:schemeClr val="tx1"/>
              </a:solidFill>
            </a:endParaRPr>
          </a:p>
        </p:txBody>
      </p:sp>
      <p:pic>
        <p:nvPicPr>
          <p:cNvPr id="782" name="Google Shape;782;p48"/>
          <p:cNvPicPr preferRelativeResize="0"/>
          <p:nvPr/>
        </p:nvPicPr>
        <p:blipFill rotWithShape="1">
          <a:blip r:embed="rId3">
            <a:alphaModFix/>
          </a:blip>
          <a:srcRect l="3415" t="3930" r="3527" b="2943"/>
          <a:stretch/>
        </p:blipFill>
        <p:spPr>
          <a:xfrm>
            <a:off x="610125" y="2057400"/>
            <a:ext cx="1863600" cy="1865100"/>
          </a:xfrm>
          <a:prstGeom prst="ellipse">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786"/>
        <p:cNvGrpSpPr/>
        <p:nvPr/>
      </p:nvGrpSpPr>
      <p:grpSpPr>
        <a:xfrm>
          <a:off x="0" y="0"/>
          <a:ext cx="0" cy="0"/>
          <a:chOff x="0" y="0"/>
          <a:chExt cx="0" cy="0"/>
        </a:xfrm>
      </p:grpSpPr>
      <p:sp>
        <p:nvSpPr>
          <p:cNvPr id="2" name="Google Shape;787;p49">
            <a:extLst>
              <a:ext uri="{FF2B5EF4-FFF2-40B4-BE49-F238E27FC236}">
                <a16:creationId xmlns:a16="http://schemas.microsoft.com/office/drawing/2014/main" id="{338071DC-6198-8C05-0758-436379A5233B}"/>
              </a:ext>
            </a:extLst>
          </p:cNvPr>
          <p:cNvSpPr txBox="1">
            <a:spLocks/>
          </p:cNvSpPr>
          <p:nvPr/>
        </p:nvSpPr>
        <p:spPr>
          <a:xfrm>
            <a:off x="510450" y="2687988"/>
            <a:ext cx="8123100" cy="210963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4800"/>
              <a:buFont typeface="Proxima Nova"/>
              <a:buNone/>
              <a:defRPr sz="4800" b="0" i="0" u="none" strike="noStrike" cap="none" spc="0">
                <a:solidFill>
                  <a:schemeClr val="lt1"/>
                </a:solidFill>
                <a:latin typeface="Proxima Nova"/>
                <a:ea typeface="Proxima Nova"/>
                <a:cs typeface="Proxima Nova"/>
                <a:sym typeface="Proxima Nova"/>
              </a:defRPr>
            </a:lvl1pPr>
            <a:lvl2pPr marR="0" lvl="1" algn="l" rtl="0">
              <a:lnSpc>
                <a:spcPct val="100000"/>
              </a:lnSpc>
              <a:spcBef>
                <a:spcPts val="0"/>
              </a:spcBef>
              <a:spcAft>
                <a:spcPts val="0"/>
              </a:spcAft>
              <a:buClr>
                <a:schemeClr val="lt1"/>
              </a:buClr>
              <a:buSzPts val="4800"/>
              <a:buFont typeface="Proxima Nova"/>
              <a:buNone/>
              <a:defRPr sz="4800" b="0" i="0" u="none" strike="noStrike" cap="none" spc="0">
                <a:solidFill>
                  <a:schemeClr val="lt1"/>
                </a:solidFill>
                <a:latin typeface="Proxima Nova"/>
                <a:ea typeface="Proxima Nova"/>
                <a:cs typeface="Proxima Nova"/>
                <a:sym typeface="Proxima Nova"/>
              </a:defRPr>
            </a:lvl2pPr>
            <a:lvl3pPr marR="0" lvl="2" algn="l" rtl="0">
              <a:lnSpc>
                <a:spcPct val="100000"/>
              </a:lnSpc>
              <a:spcBef>
                <a:spcPts val="0"/>
              </a:spcBef>
              <a:spcAft>
                <a:spcPts val="0"/>
              </a:spcAft>
              <a:buClr>
                <a:schemeClr val="lt1"/>
              </a:buClr>
              <a:buSzPts val="4800"/>
              <a:buFont typeface="Proxima Nova"/>
              <a:buNone/>
              <a:defRPr sz="4800" b="0" i="0" u="none" strike="noStrike" cap="none" spc="0">
                <a:solidFill>
                  <a:schemeClr val="lt1"/>
                </a:solidFill>
                <a:latin typeface="Proxima Nova"/>
                <a:ea typeface="Proxima Nova"/>
                <a:cs typeface="Proxima Nova"/>
                <a:sym typeface="Proxima Nova"/>
              </a:defRPr>
            </a:lvl3pPr>
            <a:lvl4pPr marR="0" lvl="3" algn="l" rtl="0">
              <a:lnSpc>
                <a:spcPct val="100000"/>
              </a:lnSpc>
              <a:spcBef>
                <a:spcPts val="0"/>
              </a:spcBef>
              <a:spcAft>
                <a:spcPts val="0"/>
              </a:spcAft>
              <a:buClr>
                <a:schemeClr val="lt1"/>
              </a:buClr>
              <a:buSzPts val="4800"/>
              <a:buFont typeface="Proxima Nova"/>
              <a:buNone/>
              <a:defRPr sz="4800" b="0" i="0" u="none" strike="noStrike" cap="none" spc="0">
                <a:solidFill>
                  <a:schemeClr val="lt1"/>
                </a:solidFill>
                <a:latin typeface="Proxima Nova"/>
                <a:ea typeface="Proxima Nova"/>
                <a:cs typeface="Proxima Nova"/>
                <a:sym typeface="Proxima Nova"/>
              </a:defRPr>
            </a:lvl4pPr>
            <a:lvl5pPr marR="0" lvl="4" algn="l" rtl="0">
              <a:lnSpc>
                <a:spcPct val="100000"/>
              </a:lnSpc>
              <a:spcBef>
                <a:spcPts val="0"/>
              </a:spcBef>
              <a:spcAft>
                <a:spcPts val="0"/>
              </a:spcAft>
              <a:buClr>
                <a:schemeClr val="lt1"/>
              </a:buClr>
              <a:buSzPts val="4800"/>
              <a:buFont typeface="Proxima Nova"/>
              <a:buNone/>
              <a:defRPr sz="4800" b="0" i="0" u="none" strike="noStrike" cap="none" spc="0">
                <a:solidFill>
                  <a:schemeClr val="lt1"/>
                </a:solidFill>
                <a:latin typeface="Proxima Nova"/>
                <a:ea typeface="Proxima Nova"/>
                <a:cs typeface="Proxima Nova"/>
                <a:sym typeface="Proxima Nova"/>
              </a:defRPr>
            </a:lvl5pPr>
            <a:lvl6pPr marR="0" lvl="5" algn="l" rtl="0">
              <a:lnSpc>
                <a:spcPct val="100000"/>
              </a:lnSpc>
              <a:spcBef>
                <a:spcPts val="0"/>
              </a:spcBef>
              <a:spcAft>
                <a:spcPts val="0"/>
              </a:spcAft>
              <a:buClr>
                <a:schemeClr val="lt1"/>
              </a:buClr>
              <a:buSzPts val="4800"/>
              <a:buFont typeface="Proxima Nova"/>
              <a:buNone/>
              <a:defRPr sz="4800" b="0" i="0" u="none" strike="noStrike" cap="none" spc="0">
                <a:solidFill>
                  <a:schemeClr val="lt1"/>
                </a:solidFill>
                <a:latin typeface="Proxima Nova"/>
                <a:ea typeface="Proxima Nova"/>
                <a:cs typeface="Proxima Nova"/>
                <a:sym typeface="Proxima Nova"/>
              </a:defRPr>
            </a:lvl6pPr>
            <a:lvl7pPr marR="0" lvl="6" algn="l" rtl="0">
              <a:lnSpc>
                <a:spcPct val="100000"/>
              </a:lnSpc>
              <a:spcBef>
                <a:spcPts val="0"/>
              </a:spcBef>
              <a:spcAft>
                <a:spcPts val="0"/>
              </a:spcAft>
              <a:buClr>
                <a:schemeClr val="lt1"/>
              </a:buClr>
              <a:buSzPts val="4800"/>
              <a:buFont typeface="Proxima Nova"/>
              <a:buNone/>
              <a:defRPr sz="4800" b="0" i="0" u="none" strike="noStrike" cap="none" spc="0">
                <a:solidFill>
                  <a:schemeClr val="lt1"/>
                </a:solidFill>
                <a:latin typeface="Proxima Nova"/>
                <a:ea typeface="Proxima Nova"/>
                <a:cs typeface="Proxima Nova"/>
                <a:sym typeface="Proxima Nova"/>
              </a:defRPr>
            </a:lvl7pPr>
            <a:lvl8pPr marR="0" lvl="7" algn="l" rtl="0">
              <a:lnSpc>
                <a:spcPct val="100000"/>
              </a:lnSpc>
              <a:spcBef>
                <a:spcPts val="0"/>
              </a:spcBef>
              <a:spcAft>
                <a:spcPts val="0"/>
              </a:spcAft>
              <a:buClr>
                <a:schemeClr val="lt1"/>
              </a:buClr>
              <a:buSzPts val="4800"/>
              <a:buFont typeface="Proxima Nova"/>
              <a:buNone/>
              <a:defRPr sz="4800" b="0" i="0" u="none" strike="noStrike" cap="none" spc="0">
                <a:solidFill>
                  <a:schemeClr val="lt1"/>
                </a:solidFill>
                <a:latin typeface="Proxima Nova"/>
                <a:ea typeface="Proxima Nova"/>
                <a:cs typeface="Proxima Nova"/>
                <a:sym typeface="Proxima Nova"/>
              </a:defRPr>
            </a:lvl8pPr>
            <a:lvl9pPr marR="0" lvl="8" algn="l" rtl="0">
              <a:lnSpc>
                <a:spcPct val="100000"/>
              </a:lnSpc>
              <a:spcBef>
                <a:spcPts val="0"/>
              </a:spcBef>
              <a:spcAft>
                <a:spcPts val="0"/>
              </a:spcAft>
              <a:buClr>
                <a:schemeClr val="lt1"/>
              </a:buClr>
              <a:buSzPts val="4800"/>
              <a:buFont typeface="Proxima Nova"/>
              <a:buNone/>
              <a:defRPr sz="4800" b="0" i="0" u="none" strike="noStrike" cap="none" spc="0">
                <a:solidFill>
                  <a:schemeClr val="lt1"/>
                </a:solidFill>
                <a:latin typeface="Proxima Nova"/>
                <a:ea typeface="Proxima Nova"/>
                <a:cs typeface="Proxima Nova"/>
                <a:sym typeface="Proxima Nova"/>
              </a:defRPr>
            </a:lvl9pPr>
          </a:lstStyle>
          <a:p>
            <a:r>
              <a:rPr lang="pt-BR" dirty="0"/>
              <a:t>Preparação do</a:t>
            </a:r>
          </a:p>
          <a:p>
            <a:r>
              <a:rPr lang="pt-BR" dirty="0"/>
              <a:t>ambiente para análise</a:t>
            </a:r>
            <a:endParaRPr lang="pt-BR" i="1" dirty="0">
              <a:solidFill>
                <a:schemeClr val="lt2"/>
              </a:solidFil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791"/>
        <p:cNvGrpSpPr/>
        <p:nvPr/>
      </p:nvGrpSpPr>
      <p:grpSpPr>
        <a:xfrm>
          <a:off x="0" y="0"/>
          <a:ext cx="0" cy="0"/>
          <a:chOff x="0" y="0"/>
          <a:chExt cx="0" cy="0"/>
        </a:xfrm>
      </p:grpSpPr>
      <p:sp>
        <p:nvSpPr>
          <p:cNvPr id="792" name="Google Shape;792;p50"/>
          <p:cNvSpPr txBox="1">
            <a:spLocks noGrp="1"/>
          </p:cNvSpPr>
          <p:nvPr>
            <p:ph type="title"/>
          </p:nvPr>
        </p:nvSpPr>
        <p:spPr>
          <a:xfrm>
            <a:off x="311700" y="140225"/>
            <a:ext cx="84912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sz="2000"/>
              <a:t>Ambiente do curso</a:t>
            </a:r>
            <a:endParaRPr/>
          </a:p>
        </p:txBody>
      </p:sp>
      <p:sp>
        <p:nvSpPr>
          <p:cNvPr id="793" name="Google Shape;793;p50"/>
          <p:cNvSpPr txBox="1">
            <a:spLocks noGrp="1"/>
          </p:cNvSpPr>
          <p:nvPr>
            <p:ph type="body" idx="1"/>
          </p:nvPr>
        </p:nvSpPr>
        <p:spPr>
          <a:xfrm>
            <a:off x="767388" y="787725"/>
            <a:ext cx="3750900" cy="3447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pt-BR" sz="1400">
                <a:solidFill>
                  <a:schemeClr val="dk1"/>
                </a:solidFill>
              </a:rPr>
              <a:t>Atividades práticas: </a:t>
            </a:r>
            <a:r>
              <a:rPr lang="pt-BR" sz="1400" b="1">
                <a:solidFill>
                  <a:schemeClr val="dk1"/>
                </a:solidFill>
              </a:rPr>
              <a:t>Google Classroom</a:t>
            </a:r>
            <a:endParaRPr sz="1400" b="1">
              <a:solidFill>
                <a:schemeClr val="dk1"/>
              </a:solidFill>
            </a:endParaRPr>
          </a:p>
          <a:p>
            <a:pPr marL="0" lvl="0" indent="0" algn="l" rtl="0">
              <a:lnSpc>
                <a:spcPct val="115000"/>
              </a:lnSpc>
              <a:spcBef>
                <a:spcPts val="1600"/>
              </a:spcBef>
              <a:spcAft>
                <a:spcPts val="0"/>
              </a:spcAft>
              <a:buSzPts val="1800"/>
              <a:buNone/>
            </a:pPr>
            <a:endParaRPr sz="1400">
              <a:solidFill>
                <a:schemeClr val="dk1"/>
              </a:solidFill>
            </a:endParaRPr>
          </a:p>
          <a:p>
            <a:pPr marL="0" lvl="0" indent="0" algn="l" rtl="0">
              <a:lnSpc>
                <a:spcPct val="115000"/>
              </a:lnSpc>
              <a:spcBef>
                <a:spcPts val="1600"/>
              </a:spcBef>
              <a:spcAft>
                <a:spcPts val="0"/>
              </a:spcAft>
              <a:buSzPts val="1800"/>
              <a:buNone/>
            </a:pPr>
            <a:endParaRPr sz="1400">
              <a:solidFill>
                <a:schemeClr val="dk1"/>
              </a:solidFill>
            </a:endParaRPr>
          </a:p>
          <a:p>
            <a:pPr marL="0" lvl="0" indent="0" algn="l" rtl="0">
              <a:lnSpc>
                <a:spcPct val="115000"/>
              </a:lnSpc>
              <a:spcBef>
                <a:spcPts val="1600"/>
              </a:spcBef>
              <a:spcAft>
                <a:spcPts val="1600"/>
              </a:spcAft>
              <a:buSzPts val="1800"/>
              <a:buNone/>
            </a:pPr>
            <a:endParaRPr sz="1400">
              <a:solidFill>
                <a:schemeClr val="dk1"/>
              </a:solidFill>
            </a:endParaRPr>
          </a:p>
        </p:txBody>
      </p:sp>
      <p:pic>
        <p:nvPicPr>
          <p:cNvPr id="794" name="Google Shape;794;p50"/>
          <p:cNvPicPr preferRelativeResize="0"/>
          <p:nvPr/>
        </p:nvPicPr>
        <p:blipFill rotWithShape="1">
          <a:blip r:embed="rId3">
            <a:alphaModFix/>
          </a:blip>
          <a:srcRect/>
          <a:stretch/>
        </p:blipFill>
        <p:spPr>
          <a:xfrm>
            <a:off x="733200" y="1207791"/>
            <a:ext cx="800050" cy="638930"/>
          </a:xfrm>
          <a:prstGeom prst="rect">
            <a:avLst/>
          </a:prstGeom>
          <a:noFill/>
          <a:ln>
            <a:noFill/>
          </a:ln>
        </p:spPr>
      </p:pic>
      <p:pic>
        <p:nvPicPr>
          <p:cNvPr id="795" name="Google Shape;795;p50"/>
          <p:cNvPicPr preferRelativeResize="0"/>
          <p:nvPr/>
        </p:nvPicPr>
        <p:blipFill rotWithShape="1">
          <a:blip r:embed="rId4">
            <a:alphaModFix/>
          </a:blip>
          <a:srcRect/>
          <a:stretch/>
        </p:blipFill>
        <p:spPr>
          <a:xfrm>
            <a:off x="1732525" y="1207800"/>
            <a:ext cx="1820637" cy="638925"/>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799"/>
        <p:cNvGrpSpPr/>
        <p:nvPr/>
      </p:nvGrpSpPr>
      <p:grpSpPr>
        <a:xfrm>
          <a:off x="0" y="0"/>
          <a:ext cx="0" cy="0"/>
          <a:chOff x="0" y="0"/>
          <a:chExt cx="0" cy="0"/>
        </a:xfrm>
      </p:grpSpPr>
      <p:sp>
        <p:nvSpPr>
          <p:cNvPr id="800" name="Google Shape;800;g3fa37cb035d_0_130"/>
          <p:cNvSpPr txBox="1">
            <a:spLocks noGrp="1"/>
          </p:cNvSpPr>
          <p:nvPr>
            <p:ph type="title"/>
          </p:nvPr>
        </p:nvSpPr>
        <p:spPr>
          <a:xfrm>
            <a:off x="311700" y="140225"/>
            <a:ext cx="84912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sz="2000"/>
              <a:t>Ambiente do curso</a:t>
            </a:r>
            <a:endParaRPr/>
          </a:p>
        </p:txBody>
      </p:sp>
      <p:pic>
        <p:nvPicPr>
          <p:cNvPr id="801" name="Google Shape;801;g3fa37cb035d_0_130"/>
          <p:cNvPicPr preferRelativeResize="0"/>
          <p:nvPr/>
        </p:nvPicPr>
        <p:blipFill rotWithShape="1">
          <a:blip r:embed="rId3">
            <a:alphaModFix/>
          </a:blip>
          <a:srcRect/>
          <a:stretch/>
        </p:blipFill>
        <p:spPr>
          <a:xfrm>
            <a:off x="556600" y="1997100"/>
            <a:ext cx="5124700" cy="2918750"/>
          </a:xfrm>
          <a:prstGeom prst="rect">
            <a:avLst/>
          </a:prstGeom>
          <a:noFill/>
          <a:ln>
            <a:noFill/>
          </a:ln>
        </p:spPr>
      </p:pic>
      <p:sp>
        <p:nvSpPr>
          <p:cNvPr id="802" name="Google Shape;802;g3fa37cb035d_0_130"/>
          <p:cNvSpPr txBox="1">
            <a:spLocks noGrp="1"/>
          </p:cNvSpPr>
          <p:nvPr>
            <p:ph type="body" idx="1"/>
          </p:nvPr>
        </p:nvSpPr>
        <p:spPr>
          <a:xfrm>
            <a:off x="767388" y="787725"/>
            <a:ext cx="3750900" cy="3447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pt-BR" sz="1400">
                <a:solidFill>
                  <a:schemeClr val="dk1"/>
                </a:solidFill>
              </a:rPr>
              <a:t>Atividades práticas: </a:t>
            </a:r>
            <a:r>
              <a:rPr lang="pt-BR" sz="1400" b="1">
                <a:solidFill>
                  <a:schemeClr val="dk1"/>
                </a:solidFill>
              </a:rPr>
              <a:t>Google Classroom</a:t>
            </a:r>
            <a:endParaRPr sz="1400" b="1">
              <a:solidFill>
                <a:schemeClr val="dk1"/>
              </a:solidFill>
            </a:endParaRPr>
          </a:p>
          <a:p>
            <a:pPr marL="0" lvl="0" indent="0" algn="l" rtl="0">
              <a:lnSpc>
                <a:spcPct val="115000"/>
              </a:lnSpc>
              <a:spcBef>
                <a:spcPts val="1600"/>
              </a:spcBef>
              <a:spcAft>
                <a:spcPts val="0"/>
              </a:spcAft>
              <a:buSzPts val="1800"/>
              <a:buNone/>
            </a:pPr>
            <a:endParaRPr sz="1400">
              <a:solidFill>
                <a:schemeClr val="dk1"/>
              </a:solidFill>
            </a:endParaRPr>
          </a:p>
          <a:p>
            <a:pPr marL="0" lvl="0" indent="0" algn="l" rtl="0">
              <a:lnSpc>
                <a:spcPct val="115000"/>
              </a:lnSpc>
              <a:spcBef>
                <a:spcPts val="1600"/>
              </a:spcBef>
              <a:spcAft>
                <a:spcPts val="0"/>
              </a:spcAft>
              <a:buSzPts val="1800"/>
              <a:buNone/>
            </a:pPr>
            <a:endParaRPr sz="1400">
              <a:solidFill>
                <a:schemeClr val="dk1"/>
              </a:solidFill>
            </a:endParaRPr>
          </a:p>
          <a:p>
            <a:pPr marL="0" lvl="0" indent="0" algn="l" rtl="0">
              <a:lnSpc>
                <a:spcPct val="115000"/>
              </a:lnSpc>
              <a:spcBef>
                <a:spcPts val="1600"/>
              </a:spcBef>
              <a:spcAft>
                <a:spcPts val="1600"/>
              </a:spcAft>
              <a:buSzPts val="1800"/>
              <a:buNone/>
            </a:pPr>
            <a:endParaRPr sz="1400">
              <a:solidFill>
                <a:schemeClr val="dk1"/>
              </a:solidFill>
            </a:endParaRPr>
          </a:p>
        </p:txBody>
      </p:sp>
      <p:pic>
        <p:nvPicPr>
          <p:cNvPr id="803" name="Google Shape;803;g3fa37cb035d_0_130"/>
          <p:cNvPicPr preferRelativeResize="0"/>
          <p:nvPr/>
        </p:nvPicPr>
        <p:blipFill rotWithShape="1">
          <a:blip r:embed="rId4">
            <a:alphaModFix/>
          </a:blip>
          <a:srcRect/>
          <a:stretch/>
        </p:blipFill>
        <p:spPr>
          <a:xfrm>
            <a:off x="733200" y="1207791"/>
            <a:ext cx="800050" cy="638930"/>
          </a:xfrm>
          <a:prstGeom prst="rect">
            <a:avLst/>
          </a:prstGeom>
          <a:noFill/>
          <a:ln>
            <a:noFill/>
          </a:ln>
        </p:spPr>
      </p:pic>
      <p:pic>
        <p:nvPicPr>
          <p:cNvPr id="804" name="Google Shape;804;g3fa37cb035d_0_130"/>
          <p:cNvPicPr preferRelativeResize="0"/>
          <p:nvPr/>
        </p:nvPicPr>
        <p:blipFill rotWithShape="1">
          <a:blip r:embed="rId5">
            <a:alphaModFix/>
          </a:blip>
          <a:srcRect/>
          <a:stretch/>
        </p:blipFill>
        <p:spPr>
          <a:xfrm>
            <a:off x="1732525" y="1207800"/>
            <a:ext cx="1820637" cy="638925"/>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808"/>
        <p:cNvGrpSpPr/>
        <p:nvPr/>
      </p:nvGrpSpPr>
      <p:grpSpPr>
        <a:xfrm>
          <a:off x="0" y="0"/>
          <a:ext cx="0" cy="0"/>
          <a:chOff x="0" y="0"/>
          <a:chExt cx="0" cy="0"/>
        </a:xfrm>
      </p:grpSpPr>
      <p:sp>
        <p:nvSpPr>
          <p:cNvPr id="809" name="Google Shape;809;g3fa37cb035d_0_140"/>
          <p:cNvSpPr txBox="1">
            <a:spLocks noGrp="1"/>
          </p:cNvSpPr>
          <p:nvPr>
            <p:ph type="title"/>
          </p:nvPr>
        </p:nvSpPr>
        <p:spPr>
          <a:xfrm>
            <a:off x="311700" y="140225"/>
            <a:ext cx="84912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sz="2000"/>
              <a:t>Ambiente do curso</a:t>
            </a:r>
            <a:endParaRPr/>
          </a:p>
        </p:txBody>
      </p:sp>
      <p:pic>
        <p:nvPicPr>
          <p:cNvPr id="810" name="Google Shape;810;g3fa37cb035d_0_140"/>
          <p:cNvPicPr preferRelativeResize="0"/>
          <p:nvPr/>
        </p:nvPicPr>
        <p:blipFill rotWithShape="1">
          <a:blip r:embed="rId3">
            <a:alphaModFix/>
          </a:blip>
          <a:srcRect/>
          <a:stretch/>
        </p:blipFill>
        <p:spPr>
          <a:xfrm>
            <a:off x="556600" y="1997100"/>
            <a:ext cx="5124700" cy="2918750"/>
          </a:xfrm>
          <a:prstGeom prst="rect">
            <a:avLst/>
          </a:prstGeom>
          <a:noFill/>
          <a:ln>
            <a:noFill/>
          </a:ln>
        </p:spPr>
      </p:pic>
      <p:pic>
        <p:nvPicPr>
          <p:cNvPr id="811" name="Google Shape;811;g3fa37cb035d_0_140"/>
          <p:cNvPicPr preferRelativeResize="0"/>
          <p:nvPr/>
        </p:nvPicPr>
        <p:blipFill rotWithShape="1">
          <a:blip r:embed="rId4">
            <a:alphaModFix/>
          </a:blip>
          <a:srcRect/>
          <a:stretch/>
        </p:blipFill>
        <p:spPr>
          <a:xfrm>
            <a:off x="5907300" y="1997100"/>
            <a:ext cx="3044550" cy="2527000"/>
          </a:xfrm>
          <a:prstGeom prst="rect">
            <a:avLst/>
          </a:prstGeom>
          <a:noFill/>
          <a:ln>
            <a:noFill/>
          </a:ln>
        </p:spPr>
      </p:pic>
      <p:sp>
        <p:nvSpPr>
          <p:cNvPr id="812" name="Google Shape;812;g3fa37cb035d_0_140"/>
          <p:cNvSpPr txBox="1"/>
          <p:nvPr/>
        </p:nvSpPr>
        <p:spPr>
          <a:xfrm>
            <a:off x="6955650" y="4478450"/>
            <a:ext cx="1996200" cy="4374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400"/>
              <a:buFont typeface="Arial"/>
              <a:buNone/>
            </a:pPr>
            <a:r>
              <a:rPr lang="pt-BR" sz="1400" b="0" i="0" u="none" strike="noStrike" cap="none">
                <a:solidFill>
                  <a:schemeClr val="lt1"/>
                </a:solidFill>
                <a:highlight>
                  <a:schemeClr val="accent5"/>
                </a:highlight>
                <a:latin typeface="Proxima Nova"/>
                <a:ea typeface="Proxima Nova"/>
                <a:cs typeface="Proxima Nova"/>
                <a:sym typeface="Proxima Nova"/>
              </a:rPr>
              <a:t>Janelas do RStudio</a:t>
            </a:r>
            <a:endParaRPr sz="1400" b="0" i="0" u="none" strike="noStrike" cap="none">
              <a:solidFill>
                <a:schemeClr val="lt1"/>
              </a:solidFill>
              <a:highlight>
                <a:schemeClr val="accent5"/>
              </a:highlight>
              <a:latin typeface="Proxima Nova"/>
              <a:ea typeface="Proxima Nova"/>
              <a:cs typeface="Proxima Nova"/>
              <a:sym typeface="Proxima Nova"/>
            </a:endParaRPr>
          </a:p>
        </p:txBody>
      </p:sp>
      <p:sp>
        <p:nvSpPr>
          <p:cNvPr id="813" name="Google Shape;813;g3fa37cb035d_0_140"/>
          <p:cNvSpPr txBox="1">
            <a:spLocks noGrp="1"/>
          </p:cNvSpPr>
          <p:nvPr>
            <p:ph type="body" idx="1"/>
          </p:nvPr>
        </p:nvSpPr>
        <p:spPr>
          <a:xfrm>
            <a:off x="767388" y="787725"/>
            <a:ext cx="3750900" cy="3447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pt-BR" sz="1400">
                <a:solidFill>
                  <a:schemeClr val="dk1"/>
                </a:solidFill>
              </a:rPr>
              <a:t>Atividades práticas: </a:t>
            </a:r>
            <a:r>
              <a:rPr lang="pt-BR" sz="1400" b="1">
                <a:solidFill>
                  <a:schemeClr val="dk1"/>
                </a:solidFill>
              </a:rPr>
              <a:t>Google Classroom</a:t>
            </a:r>
            <a:endParaRPr sz="1400" b="1">
              <a:solidFill>
                <a:schemeClr val="dk1"/>
              </a:solidFill>
            </a:endParaRPr>
          </a:p>
          <a:p>
            <a:pPr marL="0" lvl="0" indent="0" algn="l" rtl="0">
              <a:lnSpc>
                <a:spcPct val="115000"/>
              </a:lnSpc>
              <a:spcBef>
                <a:spcPts val="1600"/>
              </a:spcBef>
              <a:spcAft>
                <a:spcPts val="0"/>
              </a:spcAft>
              <a:buSzPts val="1800"/>
              <a:buNone/>
            </a:pPr>
            <a:endParaRPr sz="1400">
              <a:solidFill>
                <a:schemeClr val="dk1"/>
              </a:solidFill>
            </a:endParaRPr>
          </a:p>
          <a:p>
            <a:pPr marL="0" lvl="0" indent="0" algn="l" rtl="0">
              <a:lnSpc>
                <a:spcPct val="115000"/>
              </a:lnSpc>
              <a:spcBef>
                <a:spcPts val="1600"/>
              </a:spcBef>
              <a:spcAft>
                <a:spcPts val="0"/>
              </a:spcAft>
              <a:buSzPts val="1800"/>
              <a:buNone/>
            </a:pPr>
            <a:endParaRPr sz="1400">
              <a:solidFill>
                <a:schemeClr val="dk1"/>
              </a:solidFill>
            </a:endParaRPr>
          </a:p>
          <a:p>
            <a:pPr marL="0" lvl="0" indent="0" algn="l" rtl="0">
              <a:lnSpc>
                <a:spcPct val="115000"/>
              </a:lnSpc>
              <a:spcBef>
                <a:spcPts val="1600"/>
              </a:spcBef>
              <a:spcAft>
                <a:spcPts val="1600"/>
              </a:spcAft>
              <a:buSzPts val="1800"/>
              <a:buNone/>
            </a:pPr>
            <a:endParaRPr sz="1400">
              <a:solidFill>
                <a:schemeClr val="dk1"/>
              </a:solidFill>
            </a:endParaRPr>
          </a:p>
        </p:txBody>
      </p:sp>
      <p:pic>
        <p:nvPicPr>
          <p:cNvPr id="814" name="Google Shape;814;g3fa37cb035d_0_140"/>
          <p:cNvPicPr preferRelativeResize="0"/>
          <p:nvPr/>
        </p:nvPicPr>
        <p:blipFill rotWithShape="1">
          <a:blip r:embed="rId5">
            <a:alphaModFix/>
          </a:blip>
          <a:srcRect/>
          <a:stretch/>
        </p:blipFill>
        <p:spPr>
          <a:xfrm>
            <a:off x="733200" y="1207791"/>
            <a:ext cx="800050" cy="638930"/>
          </a:xfrm>
          <a:prstGeom prst="rect">
            <a:avLst/>
          </a:prstGeom>
          <a:noFill/>
          <a:ln>
            <a:noFill/>
          </a:ln>
        </p:spPr>
      </p:pic>
      <p:pic>
        <p:nvPicPr>
          <p:cNvPr id="815" name="Google Shape;815;g3fa37cb035d_0_140"/>
          <p:cNvPicPr preferRelativeResize="0"/>
          <p:nvPr/>
        </p:nvPicPr>
        <p:blipFill rotWithShape="1">
          <a:blip r:embed="rId6">
            <a:alphaModFix/>
          </a:blip>
          <a:srcRect/>
          <a:stretch/>
        </p:blipFill>
        <p:spPr>
          <a:xfrm>
            <a:off x="1732525" y="1207800"/>
            <a:ext cx="1820637" cy="638925"/>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819"/>
        <p:cNvGrpSpPr/>
        <p:nvPr/>
      </p:nvGrpSpPr>
      <p:grpSpPr>
        <a:xfrm>
          <a:off x="0" y="0"/>
          <a:ext cx="0" cy="0"/>
          <a:chOff x="0" y="0"/>
          <a:chExt cx="0" cy="0"/>
        </a:xfrm>
      </p:grpSpPr>
      <p:sp>
        <p:nvSpPr>
          <p:cNvPr id="820" name="Google Shape;820;p51"/>
          <p:cNvSpPr txBox="1">
            <a:spLocks noGrp="1"/>
          </p:cNvSpPr>
          <p:nvPr>
            <p:ph type="title"/>
          </p:nvPr>
        </p:nvSpPr>
        <p:spPr>
          <a:xfrm>
            <a:off x="311700" y="140225"/>
            <a:ext cx="84912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sz="2000"/>
              <a:t>Importação dos documentos do curso </a:t>
            </a:r>
            <a:endParaRPr/>
          </a:p>
        </p:txBody>
      </p:sp>
      <p:pic>
        <p:nvPicPr>
          <p:cNvPr id="821" name="Google Shape;821;p51"/>
          <p:cNvPicPr preferRelativeResize="0"/>
          <p:nvPr/>
        </p:nvPicPr>
        <p:blipFill rotWithShape="1">
          <a:blip r:embed="rId3">
            <a:alphaModFix/>
          </a:blip>
          <a:srcRect r="57667"/>
          <a:stretch/>
        </p:blipFill>
        <p:spPr>
          <a:xfrm>
            <a:off x="3356657" y="712925"/>
            <a:ext cx="3318999" cy="4125775"/>
          </a:xfrm>
          <a:prstGeom prst="rect">
            <a:avLst/>
          </a:prstGeom>
          <a:noFill/>
          <a:ln>
            <a:noFill/>
          </a:ln>
        </p:spPr>
      </p:pic>
      <p:sp>
        <p:nvSpPr>
          <p:cNvPr id="822" name="Google Shape;822;p51"/>
          <p:cNvSpPr txBox="1">
            <a:spLocks noGrp="1"/>
          </p:cNvSpPr>
          <p:nvPr>
            <p:ph type="body" idx="1"/>
          </p:nvPr>
        </p:nvSpPr>
        <p:spPr>
          <a:xfrm>
            <a:off x="767400" y="787725"/>
            <a:ext cx="3750900" cy="907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pt-BR" sz="1400">
                <a:solidFill>
                  <a:schemeClr val="dk1"/>
                </a:solidFill>
              </a:rPr>
              <a:t>Criar novo projeto no RStudio:</a:t>
            </a:r>
            <a:endParaRPr sz="1400">
              <a:solidFill>
                <a:schemeClr val="dk1"/>
              </a:solidFill>
            </a:endParaRPr>
          </a:p>
          <a:p>
            <a:pPr marL="0" lvl="0" indent="0" algn="l" rtl="0">
              <a:lnSpc>
                <a:spcPct val="115000"/>
              </a:lnSpc>
              <a:spcBef>
                <a:spcPts val="1600"/>
              </a:spcBef>
              <a:spcAft>
                <a:spcPts val="0"/>
              </a:spcAft>
              <a:buSzPts val="1800"/>
              <a:buNone/>
            </a:pPr>
            <a:r>
              <a:rPr lang="pt-BR" sz="1400" b="1">
                <a:solidFill>
                  <a:schemeClr val="dk1"/>
                </a:solidFill>
              </a:rPr>
              <a:t>File &gt; New Project</a:t>
            </a:r>
            <a:endParaRPr sz="1400" b="1">
              <a:solidFill>
                <a:schemeClr val="dk1"/>
              </a:solidFill>
            </a:endParaRPr>
          </a:p>
          <a:p>
            <a:pPr marL="0" lvl="0" indent="0" algn="l" rtl="0">
              <a:lnSpc>
                <a:spcPct val="115000"/>
              </a:lnSpc>
              <a:spcBef>
                <a:spcPts val="1600"/>
              </a:spcBef>
              <a:spcAft>
                <a:spcPts val="0"/>
              </a:spcAft>
              <a:buSzPts val="1800"/>
              <a:buNone/>
            </a:pPr>
            <a:endParaRPr sz="1400" b="1">
              <a:solidFill>
                <a:schemeClr val="dk1"/>
              </a:solidFill>
            </a:endParaRPr>
          </a:p>
          <a:p>
            <a:pPr marL="0" lvl="0" indent="0" algn="l" rtl="0">
              <a:lnSpc>
                <a:spcPct val="115000"/>
              </a:lnSpc>
              <a:spcBef>
                <a:spcPts val="1600"/>
              </a:spcBef>
              <a:spcAft>
                <a:spcPts val="0"/>
              </a:spcAft>
              <a:buSzPts val="1800"/>
              <a:buNone/>
            </a:pPr>
            <a:endParaRPr sz="1400">
              <a:solidFill>
                <a:schemeClr val="dk1"/>
              </a:solidFill>
            </a:endParaRPr>
          </a:p>
          <a:p>
            <a:pPr marL="0" lvl="0" indent="0" algn="l" rtl="0">
              <a:lnSpc>
                <a:spcPct val="115000"/>
              </a:lnSpc>
              <a:spcBef>
                <a:spcPts val="1600"/>
              </a:spcBef>
              <a:spcAft>
                <a:spcPts val="0"/>
              </a:spcAft>
              <a:buSzPts val="1800"/>
              <a:buNone/>
            </a:pPr>
            <a:endParaRPr sz="1400">
              <a:solidFill>
                <a:schemeClr val="dk1"/>
              </a:solidFill>
            </a:endParaRPr>
          </a:p>
          <a:p>
            <a:pPr marL="0" lvl="0" indent="0" algn="l" rtl="0">
              <a:lnSpc>
                <a:spcPct val="115000"/>
              </a:lnSpc>
              <a:spcBef>
                <a:spcPts val="1600"/>
              </a:spcBef>
              <a:spcAft>
                <a:spcPts val="1600"/>
              </a:spcAft>
              <a:buSzPts val="1800"/>
              <a:buNone/>
            </a:pPr>
            <a:endParaRPr sz="1400">
              <a:solidFill>
                <a:schemeClr val="dk1"/>
              </a:solidFill>
            </a:endParaRPr>
          </a:p>
        </p:txBody>
      </p:sp>
      <p:pic>
        <p:nvPicPr>
          <p:cNvPr id="823" name="Google Shape;823;p51"/>
          <p:cNvPicPr preferRelativeResize="0"/>
          <p:nvPr/>
        </p:nvPicPr>
        <p:blipFill rotWithShape="1">
          <a:blip r:embed="rId4">
            <a:alphaModFix/>
          </a:blip>
          <a:srcRect/>
          <a:stretch/>
        </p:blipFill>
        <p:spPr>
          <a:xfrm>
            <a:off x="3674157" y="981675"/>
            <a:ext cx="3917999" cy="2766350"/>
          </a:xfrm>
          <a:prstGeom prst="rect">
            <a:avLst/>
          </a:prstGeom>
          <a:noFill/>
          <a:ln>
            <a:noFill/>
          </a:ln>
        </p:spPr>
      </p:pic>
      <p:pic>
        <p:nvPicPr>
          <p:cNvPr id="824" name="Google Shape;824;p51"/>
          <p:cNvPicPr preferRelativeResize="0"/>
          <p:nvPr/>
        </p:nvPicPr>
        <p:blipFill rotWithShape="1">
          <a:blip r:embed="rId5">
            <a:alphaModFix/>
          </a:blip>
          <a:srcRect/>
          <a:stretch/>
        </p:blipFill>
        <p:spPr>
          <a:xfrm>
            <a:off x="4313107" y="1323875"/>
            <a:ext cx="4196301" cy="3053576"/>
          </a:xfrm>
          <a:prstGeom prst="rect">
            <a:avLst/>
          </a:prstGeom>
          <a:noFill/>
          <a:ln>
            <a:noFill/>
          </a:ln>
        </p:spPr>
      </p:pic>
      <p:pic>
        <p:nvPicPr>
          <p:cNvPr id="825" name="Google Shape;825;p51"/>
          <p:cNvPicPr preferRelativeResize="0"/>
          <p:nvPr/>
        </p:nvPicPr>
        <p:blipFill rotWithShape="1">
          <a:blip r:embed="rId6">
            <a:alphaModFix/>
          </a:blip>
          <a:srcRect/>
          <a:stretch/>
        </p:blipFill>
        <p:spPr>
          <a:xfrm>
            <a:off x="4313100" y="1736700"/>
            <a:ext cx="4835826" cy="3447900"/>
          </a:xfrm>
          <a:prstGeom prst="rect">
            <a:avLst/>
          </a:prstGeom>
          <a:noFill/>
          <a:ln>
            <a:noFill/>
          </a:ln>
        </p:spPr>
      </p:pic>
      <p:sp>
        <p:nvSpPr>
          <p:cNvPr id="826" name="Google Shape;826;p51"/>
          <p:cNvSpPr txBox="1">
            <a:spLocks noGrp="1"/>
          </p:cNvSpPr>
          <p:nvPr>
            <p:ph type="body" idx="1"/>
          </p:nvPr>
        </p:nvSpPr>
        <p:spPr>
          <a:xfrm>
            <a:off x="767400" y="1770325"/>
            <a:ext cx="3750900" cy="572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pt-BR" sz="1400" b="1">
                <a:solidFill>
                  <a:schemeClr val="dk1"/>
                </a:solidFill>
              </a:rPr>
              <a:t>&gt; New Directory</a:t>
            </a:r>
            <a:endParaRPr sz="1400" b="1">
              <a:solidFill>
                <a:schemeClr val="dk1"/>
              </a:solidFill>
            </a:endParaRPr>
          </a:p>
          <a:p>
            <a:pPr marL="0" lvl="0" indent="0" algn="l" rtl="0">
              <a:lnSpc>
                <a:spcPct val="115000"/>
              </a:lnSpc>
              <a:spcBef>
                <a:spcPts val="1600"/>
              </a:spcBef>
              <a:spcAft>
                <a:spcPts val="0"/>
              </a:spcAft>
              <a:buSzPts val="1800"/>
              <a:buNone/>
            </a:pPr>
            <a:endParaRPr sz="1400" b="1">
              <a:solidFill>
                <a:schemeClr val="dk1"/>
              </a:solidFill>
            </a:endParaRPr>
          </a:p>
          <a:p>
            <a:pPr marL="0" lvl="0" indent="0" algn="l" rtl="0">
              <a:lnSpc>
                <a:spcPct val="115000"/>
              </a:lnSpc>
              <a:spcBef>
                <a:spcPts val="1600"/>
              </a:spcBef>
              <a:spcAft>
                <a:spcPts val="1600"/>
              </a:spcAft>
              <a:buSzPts val="1800"/>
              <a:buNone/>
            </a:pPr>
            <a:endParaRPr sz="1400">
              <a:solidFill>
                <a:schemeClr val="dk1"/>
              </a:solidFill>
            </a:endParaRPr>
          </a:p>
        </p:txBody>
      </p:sp>
      <p:sp>
        <p:nvSpPr>
          <p:cNvPr id="827" name="Google Shape;827;p51"/>
          <p:cNvSpPr txBox="1">
            <a:spLocks noGrp="1"/>
          </p:cNvSpPr>
          <p:nvPr>
            <p:ph type="body" idx="1"/>
          </p:nvPr>
        </p:nvSpPr>
        <p:spPr>
          <a:xfrm>
            <a:off x="767400" y="2196325"/>
            <a:ext cx="3750900" cy="572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pt-BR" sz="1400" b="1">
                <a:solidFill>
                  <a:schemeClr val="dk1"/>
                </a:solidFill>
              </a:rPr>
              <a:t>&gt; New Project</a:t>
            </a:r>
            <a:endParaRPr sz="1400" b="1">
              <a:solidFill>
                <a:schemeClr val="dk1"/>
              </a:solidFill>
            </a:endParaRPr>
          </a:p>
          <a:p>
            <a:pPr marL="0" lvl="0" indent="0" algn="l" rtl="0">
              <a:lnSpc>
                <a:spcPct val="115000"/>
              </a:lnSpc>
              <a:spcBef>
                <a:spcPts val="1600"/>
              </a:spcBef>
              <a:spcAft>
                <a:spcPts val="0"/>
              </a:spcAft>
              <a:buSzPts val="1800"/>
              <a:buNone/>
            </a:pPr>
            <a:endParaRPr sz="1400" b="1">
              <a:solidFill>
                <a:schemeClr val="dk1"/>
              </a:solidFill>
            </a:endParaRPr>
          </a:p>
          <a:p>
            <a:pPr marL="0" lvl="0" indent="0" algn="l" rtl="0">
              <a:lnSpc>
                <a:spcPct val="115000"/>
              </a:lnSpc>
              <a:spcBef>
                <a:spcPts val="1600"/>
              </a:spcBef>
              <a:spcAft>
                <a:spcPts val="1600"/>
              </a:spcAft>
              <a:buSzPts val="1800"/>
              <a:buNone/>
            </a:pPr>
            <a:endParaRPr sz="1400">
              <a:solidFill>
                <a:schemeClr val="dk1"/>
              </a:solidFill>
            </a:endParaRPr>
          </a:p>
        </p:txBody>
      </p:sp>
      <p:sp>
        <p:nvSpPr>
          <p:cNvPr id="828" name="Google Shape;828;p51"/>
          <p:cNvSpPr txBox="1">
            <a:spLocks noGrp="1"/>
          </p:cNvSpPr>
          <p:nvPr>
            <p:ph type="body" idx="1"/>
          </p:nvPr>
        </p:nvSpPr>
        <p:spPr>
          <a:xfrm>
            <a:off x="767400" y="2769025"/>
            <a:ext cx="3750900" cy="572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pt-BR" sz="1400" b="1">
                <a:solidFill>
                  <a:schemeClr val="dk1"/>
                </a:solidFill>
              </a:rPr>
              <a:t>&gt; Escolha nome do  projeto e </a:t>
            </a:r>
            <a:endParaRPr sz="1400" b="1">
              <a:solidFill>
                <a:schemeClr val="dk1"/>
              </a:solidFill>
            </a:endParaRPr>
          </a:p>
          <a:p>
            <a:pPr marL="0" lvl="0" indent="0" algn="l" rtl="0">
              <a:lnSpc>
                <a:spcPct val="115000"/>
              </a:lnSpc>
              <a:spcBef>
                <a:spcPts val="1600"/>
              </a:spcBef>
              <a:spcAft>
                <a:spcPts val="0"/>
              </a:spcAft>
              <a:buSzPts val="1800"/>
              <a:buNone/>
            </a:pPr>
            <a:r>
              <a:rPr lang="pt-BR" sz="1400" b="1">
                <a:solidFill>
                  <a:schemeClr val="dk1"/>
                </a:solidFill>
              </a:rPr>
              <a:t>pasta que ele deve estar no </a:t>
            </a:r>
            <a:endParaRPr sz="1400" b="1">
              <a:solidFill>
                <a:schemeClr val="dk1"/>
              </a:solidFill>
            </a:endParaRPr>
          </a:p>
          <a:p>
            <a:pPr marL="0" lvl="0" indent="0" algn="l" rtl="0">
              <a:lnSpc>
                <a:spcPct val="115000"/>
              </a:lnSpc>
              <a:spcBef>
                <a:spcPts val="1600"/>
              </a:spcBef>
              <a:spcAft>
                <a:spcPts val="0"/>
              </a:spcAft>
              <a:buSzPts val="1800"/>
              <a:buNone/>
            </a:pPr>
            <a:r>
              <a:rPr lang="pt-BR" sz="1400" b="1">
                <a:solidFill>
                  <a:schemeClr val="dk1"/>
                </a:solidFill>
              </a:rPr>
              <a:t>seu computador</a:t>
            </a:r>
            <a:endParaRPr sz="1400" b="1">
              <a:solidFill>
                <a:schemeClr val="dk1"/>
              </a:solidFill>
            </a:endParaRPr>
          </a:p>
          <a:p>
            <a:pPr marL="0" lvl="0" indent="0" algn="l" rtl="0">
              <a:lnSpc>
                <a:spcPct val="115000"/>
              </a:lnSpc>
              <a:spcBef>
                <a:spcPts val="1600"/>
              </a:spcBef>
              <a:spcAft>
                <a:spcPts val="0"/>
              </a:spcAft>
              <a:buSzPts val="1800"/>
              <a:buNone/>
            </a:pPr>
            <a:endParaRPr sz="1400" b="1">
              <a:solidFill>
                <a:schemeClr val="dk1"/>
              </a:solidFill>
            </a:endParaRPr>
          </a:p>
          <a:p>
            <a:pPr marL="0" lvl="0" indent="0" algn="l" rtl="0">
              <a:lnSpc>
                <a:spcPct val="115000"/>
              </a:lnSpc>
              <a:spcBef>
                <a:spcPts val="1600"/>
              </a:spcBef>
              <a:spcAft>
                <a:spcPts val="1600"/>
              </a:spcAft>
              <a:buSzPts val="1800"/>
              <a:buNone/>
            </a:pPr>
            <a:endParaRPr sz="1400">
              <a:solidFill>
                <a:schemeClr val="dk1"/>
              </a:solidFill>
            </a:endParaRPr>
          </a:p>
        </p:txBody>
      </p:sp>
      <p:sp>
        <p:nvSpPr>
          <p:cNvPr id="829" name="Google Shape;829;p51"/>
          <p:cNvSpPr/>
          <p:nvPr/>
        </p:nvSpPr>
        <p:spPr>
          <a:xfrm>
            <a:off x="-51750" y="753475"/>
            <a:ext cx="9247500" cy="4603800"/>
          </a:xfrm>
          <a:prstGeom prst="rect">
            <a:avLst/>
          </a:prstGeom>
          <a:solidFill>
            <a:srgbClr val="FFFFFF">
              <a:alpha val="85882"/>
            </a:srgbClr>
          </a:solidFill>
          <a:ln>
            <a:noFill/>
          </a:ln>
        </p:spPr>
        <p:txBody>
          <a:bodyPr spcFirstLastPara="1" wrap="square" lIns="60475" tIns="30225" rIns="60475" bIns="30225" anchor="ctr" anchorCtr="0">
            <a:noAutofit/>
          </a:bodyPr>
          <a:lstStyle/>
          <a:p>
            <a:pPr marL="0" marR="0" lvl="0" indent="0" algn="ctr" rtl="0">
              <a:lnSpc>
                <a:spcPct val="100000"/>
              </a:lnSpc>
              <a:spcBef>
                <a:spcPts val="0"/>
              </a:spcBef>
              <a:spcAft>
                <a:spcPts val="0"/>
              </a:spcAft>
              <a:buClr>
                <a:srgbClr val="000000"/>
              </a:buClr>
              <a:buSzPts val="1190"/>
              <a:buFont typeface="Arial"/>
              <a:buNone/>
            </a:pPr>
            <a:endParaRPr sz="1190" b="0" i="0" u="none" strike="noStrike" cap="none">
              <a:solidFill>
                <a:srgbClr val="FFFFFF"/>
              </a:solidFill>
              <a:latin typeface="Arial"/>
              <a:ea typeface="Arial"/>
              <a:cs typeface="Arial"/>
              <a:sym typeface="Arial"/>
            </a:endParaRPr>
          </a:p>
        </p:txBody>
      </p:sp>
      <p:sp>
        <p:nvSpPr>
          <p:cNvPr id="830" name="Google Shape;830;p51"/>
          <p:cNvSpPr/>
          <p:nvPr/>
        </p:nvSpPr>
        <p:spPr>
          <a:xfrm>
            <a:off x="2318400" y="2343025"/>
            <a:ext cx="4350000" cy="1231200"/>
          </a:xfrm>
          <a:prstGeom prst="roundRect">
            <a:avLst>
              <a:gd name="adj" fmla="val 16667"/>
            </a:avLst>
          </a:prstGeom>
          <a:solidFill>
            <a:schemeClr val="lt1"/>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roxima Nova"/>
              <a:ea typeface="Proxima Nova"/>
              <a:cs typeface="Proxima Nova"/>
              <a:sym typeface="Proxima Nova"/>
            </a:endParaRPr>
          </a:p>
        </p:txBody>
      </p:sp>
      <p:sp>
        <p:nvSpPr>
          <p:cNvPr id="831" name="Google Shape;831;p51"/>
          <p:cNvSpPr txBox="1">
            <a:spLocks noGrp="1"/>
          </p:cNvSpPr>
          <p:nvPr>
            <p:ph type="body" idx="1"/>
          </p:nvPr>
        </p:nvSpPr>
        <p:spPr>
          <a:xfrm>
            <a:off x="2318400" y="2417825"/>
            <a:ext cx="4350000" cy="1097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800"/>
              <a:buNone/>
            </a:pPr>
            <a:r>
              <a:rPr lang="pt-BR" sz="2100" b="1">
                <a:solidFill>
                  <a:schemeClr val="dk1"/>
                </a:solidFill>
              </a:rPr>
              <a:t>Baixe os scripts que forem disponibilizados e mova para o novo projeto (pasta)</a:t>
            </a:r>
            <a:endParaRPr sz="2100" b="1">
              <a:solidFill>
                <a:schemeClr val="dk1"/>
              </a:solidFill>
            </a:endParaRPr>
          </a:p>
          <a:p>
            <a:pPr marL="0" lvl="0" indent="0" algn="ctr" rtl="0">
              <a:lnSpc>
                <a:spcPct val="115000"/>
              </a:lnSpc>
              <a:spcBef>
                <a:spcPts val="1600"/>
              </a:spcBef>
              <a:spcAft>
                <a:spcPts val="0"/>
              </a:spcAft>
              <a:buSzPts val="1800"/>
              <a:buNone/>
            </a:pPr>
            <a:endParaRPr sz="2100" b="1">
              <a:solidFill>
                <a:schemeClr val="dk1"/>
              </a:solidFill>
            </a:endParaRPr>
          </a:p>
          <a:p>
            <a:pPr marL="0" lvl="0" indent="0" algn="ctr" rtl="0">
              <a:lnSpc>
                <a:spcPct val="115000"/>
              </a:lnSpc>
              <a:spcBef>
                <a:spcPts val="1600"/>
              </a:spcBef>
              <a:spcAft>
                <a:spcPts val="1600"/>
              </a:spcAft>
              <a:buSzPts val="1800"/>
              <a:buNone/>
            </a:pPr>
            <a:endParaRPr sz="2100">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2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2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2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2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2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3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3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835"/>
        <p:cNvGrpSpPr/>
        <p:nvPr/>
      </p:nvGrpSpPr>
      <p:grpSpPr>
        <a:xfrm>
          <a:off x="0" y="0"/>
          <a:ext cx="0" cy="0"/>
          <a:chOff x="0" y="0"/>
          <a:chExt cx="0" cy="0"/>
        </a:xfrm>
      </p:grpSpPr>
      <p:sp>
        <p:nvSpPr>
          <p:cNvPr id="836" name="Google Shape;836;p52"/>
          <p:cNvSpPr txBox="1">
            <a:spLocks noGrp="1"/>
          </p:cNvSpPr>
          <p:nvPr>
            <p:ph type="title"/>
          </p:nvPr>
        </p:nvSpPr>
        <p:spPr>
          <a:xfrm>
            <a:off x="311700" y="140225"/>
            <a:ext cx="84912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sz="2000"/>
              <a:t>Importação dos documentos do curso </a:t>
            </a:r>
            <a:endParaRPr/>
          </a:p>
        </p:txBody>
      </p:sp>
      <p:sp>
        <p:nvSpPr>
          <p:cNvPr id="837" name="Google Shape;837;p52"/>
          <p:cNvSpPr txBox="1">
            <a:spLocks noGrp="1"/>
          </p:cNvSpPr>
          <p:nvPr>
            <p:ph type="body" idx="1"/>
          </p:nvPr>
        </p:nvSpPr>
        <p:spPr>
          <a:xfrm>
            <a:off x="311700" y="891300"/>
            <a:ext cx="5820900" cy="3447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800"/>
              <a:buNone/>
            </a:pPr>
            <a:r>
              <a:rPr lang="pt-BR" sz="1400">
                <a:solidFill>
                  <a:schemeClr val="dk1"/>
                </a:solidFill>
              </a:rPr>
              <a:t>O curso terá todas apresentações e vinhetas (passo-a-passo) disponíveis online no GitHub, por favor acessem o link ou QRCode</a:t>
            </a:r>
            <a:endParaRPr sz="1400">
              <a:solidFill>
                <a:schemeClr val="dk1"/>
              </a:solidFill>
            </a:endParaRPr>
          </a:p>
        </p:txBody>
      </p:sp>
      <p:pic>
        <p:nvPicPr>
          <p:cNvPr id="838" name="Google Shape;838;p52"/>
          <p:cNvPicPr preferRelativeResize="0"/>
          <p:nvPr/>
        </p:nvPicPr>
        <p:blipFill>
          <a:blip r:embed="rId3">
            <a:alphaModFix/>
          </a:blip>
          <a:stretch>
            <a:fillRect/>
          </a:stretch>
        </p:blipFill>
        <p:spPr>
          <a:xfrm>
            <a:off x="311700" y="1928300"/>
            <a:ext cx="5821001" cy="2410900"/>
          </a:xfrm>
          <a:prstGeom prst="rect">
            <a:avLst/>
          </a:prstGeom>
          <a:noFill/>
          <a:ln>
            <a:noFill/>
          </a:ln>
        </p:spPr>
      </p:pic>
      <p:pic>
        <p:nvPicPr>
          <p:cNvPr id="839" name="Google Shape;839;p52"/>
          <p:cNvPicPr preferRelativeResize="0"/>
          <p:nvPr/>
        </p:nvPicPr>
        <p:blipFill rotWithShape="1">
          <a:blip r:embed="rId4">
            <a:alphaModFix/>
          </a:blip>
          <a:srcRect/>
          <a:stretch/>
        </p:blipFill>
        <p:spPr>
          <a:xfrm>
            <a:off x="6395475" y="3374175"/>
            <a:ext cx="531525" cy="510823"/>
          </a:xfrm>
          <a:prstGeom prst="rect">
            <a:avLst/>
          </a:prstGeom>
          <a:noFill/>
          <a:ln>
            <a:noFill/>
          </a:ln>
        </p:spPr>
      </p:pic>
      <p:sp>
        <p:nvSpPr>
          <p:cNvPr id="840" name="Google Shape;840;p52"/>
          <p:cNvSpPr txBox="1"/>
          <p:nvPr/>
        </p:nvSpPr>
        <p:spPr>
          <a:xfrm>
            <a:off x="6927000" y="3307800"/>
            <a:ext cx="1875900" cy="1031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pt-BR" sz="1100" b="1">
                <a:latin typeface="Proxima Nova"/>
                <a:ea typeface="Proxima Nova"/>
                <a:cs typeface="Proxima Nova"/>
                <a:sym typeface="Proxima Nova"/>
              </a:rPr>
              <a:t>Análise de Dados de Transcriptômica Espacial</a:t>
            </a:r>
            <a:endParaRPr sz="1100" b="1" i="0" u="none" strike="noStrike" cap="none">
              <a:solidFill>
                <a:srgbClr val="000000"/>
              </a:solidFill>
              <a:latin typeface="Proxima Nova"/>
              <a:ea typeface="Proxima Nova"/>
              <a:cs typeface="Proxima Nova"/>
              <a:sym typeface="Proxima Nova"/>
            </a:endParaRPr>
          </a:p>
          <a:p>
            <a:pPr marL="0" marR="0" lvl="0" indent="0" algn="l" rtl="0">
              <a:lnSpc>
                <a:spcPct val="100000"/>
              </a:lnSpc>
              <a:spcBef>
                <a:spcPts val="0"/>
              </a:spcBef>
              <a:spcAft>
                <a:spcPts val="0"/>
              </a:spcAft>
              <a:buClr>
                <a:srgbClr val="000000"/>
              </a:buClr>
              <a:buSzPts val="1100"/>
              <a:buFont typeface="Arial"/>
              <a:buNone/>
            </a:pPr>
            <a:r>
              <a:rPr lang="pt-BR" sz="1100" u="sng">
                <a:solidFill>
                  <a:schemeClr val="hlink"/>
                </a:solidFill>
                <a:latin typeface="Proxima Nova"/>
                <a:ea typeface="Proxima Nova"/>
                <a:cs typeface="Proxima Nova"/>
                <a:sym typeface="Proxima Nova"/>
                <a:hlinkClick r:id="rId5"/>
              </a:rPr>
              <a:t>https://github.com/flaviogckessler/Curso_ST</a:t>
            </a:r>
            <a:endParaRPr sz="1100" b="0" i="0" u="none" strike="noStrike" cap="none">
              <a:solidFill>
                <a:srgbClr val="000000"/>
              </a:solidFill>
              <a:latin typeface="Proxima Nova"/>
              <a:ea typeface="Proxima Nova"/>
              <a:cs typeface="Proxima Nova"/>
              <a:sym typeface="Proxima Nova"/>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Proxima Nova"/>
              <a:ea typeface="Proxima Nova"/>
              <a:cs typeface="Proxima Nova"/>
              <a:sym typeface="Proxima Nova"/>
            </a:endParaRPr>
          </a:p>
        </p:txBody>
      </p:sp>
      <p:pic>
        <p:nvPicPr>
          <p:cNvPr id="841" name="Google Shape;841;p52"/>
          <p:cNvPicPr preferRelativeResize="0"/>
          <p:nvPr/>
        </p:nvPicPr>
        <p:blipFill>
          <a:blip r:embed="rId6">
            <a:alphaModFix/>
          </a:blip>
          <a:stretch>
            <a:fillRect/>
          </a:stretch>
        </p:blipFill>
        <p:spPr>
          <a:xfrm>
            <a:off x="6857900" y="891299"/>
            <a:ext cx="1719925" cy="1719925"/>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845"/>
        <p:cNvGrpSpPr/>
        <p:nvPr/>
      </p:nvGrpSpPr>
      <p:grpSpPr>
        <a:xfrm>
          <a:off x="0" y="0"/>
          <a:ext cx="0" cy="0"/>
          <a:chOff x="0" y="0"/>
          <a:chExt cx="0" cy="0"/>
        </a:xfrm>
      </p:grpSpPr>
      <p:sp>
        <p:nvSpPr>
          <p:cNvPr id="846" name="Google Shape;846;p53"/>
          <p:cNvSpPr txBox="1">
            <a:spLocks noGrp="1"/>
          </p:cNvSpPr>
          <p:nvPr>
            <p:ph type="title"/>
          </p:nvPr>
        </p:nvSpPr>
        <p:spPr>
          <a:xfrm>
            <a:off x="311700" y="140225"/>
            <a:ext cx="84912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sz="2000" b="1" dirty="0"/>
              <a:t>Vinheta</a:t>
            </a:r>
            <a:endParaRPr b="1" dirty="0"/>
          </a:p>
        </p:txBody>
      </p:sp>
      <p:pic>
        <p:nvPicPr>
          <p:cNvPr id="848" name="Google Shape;848;p53"/>
          <p:cNvPicPr preferRelativeResize="0"/>
          <p:nvPr/>
        </p:nvPicPr>
        <p:blipFill>
          <a:blip r:embed="rId3">
            <a:alphaModFix/>
          </a:blip>
          <a:stretch>
            <a:fillRect/>
          </a:stretch>
        </p:blipFill>
        <p:spPr>
          <a:xfrm>
            <a:off x="311700" y="1325453"/>
            <a:ext cx="6008620" cy="2492594"/>
          </a:xfrm>
          <a:prstGeom prst="rect">
            <a:avLst/>
          </a:prstGeom>
          <a:noFill/>
          <a:ln>
            <a:noFill/>
          </a:ln>
        </p:spPr>
      </p:pic>
      <p:pic>
        <p:nvPicPr>
          <p:cNvPr id="3" name="Picture 2">
            <a:extLst>
              <a:ext uri="{FF2B5EF4-FFF2-40B4-BE49-F238E27FC236}">
                <a16:creationId xmlns:a16="http://schemas.microsoft.com/office/drawing/2014/main" id="{0D00659C-4C71-64B1-8AC1-12CA85647D12}"/>
              </a:ext>
            </a:extLst>
          </p:cNvPr>
          <p:cNvPicPr>
            <a:picLocks noChangeAspect="1"/>
          </p:cNvPicPr>
          <p:nvPr/>
        </p:nvPicPr>
        <p:blipFill>
          <a:blip r:embed="rId4"/>
          <a:stretch>
            <a:fillRect/>
          </a:stretch>
        </p:blipFill>
        <p:spPr>
          <a:xfrm>
            <a:off x="7076640" y="1219250"/>
            <a:ext cx="1328528" cy="1328528"/>
          </a:xfrm>
          <a:prstGeom prst="rect">
            <a:avLst/>
          </a:prstGeom>
        </p:spPr>
      </p:pic>
      <p:pic>
        <p:nvPicPr>
          <p:cNvPr id="5" name="Google Shape;839;p52">
            <a:extLst>
              <a:ext uri="{FF2B5EF4-FFF2-40B4-BE49-F238E27FC236}">
                <a16:creationId xmlns:a16="http://schemas.microsoft.com/office/drawing/2014/main" id="{B6D7B694-2746-215B-4B2A-1C0849BD80FB}"/>
              </a:ext>
            </a:extLst>
          </p:cNvPr>
          <p:cNvPicPr preferRelativeResize="0"/>
          <p:nvPr/>
        </p:nvPicPr>
        <p:blipFill rotWithShape="1">
          <a:blip r:embed="rId5">
            <a:alphaModFix/>
          </a:blip>
          <a:srcRect/>
          <a:stretch/>
        </p:blipFill>
        <p:spPr>
          <a:xfrm>
            <a:off x="6607039" y="2905935"/>
            <a:ext cx="531525" cy="510823"/>
          </a:xfrm>
          <a:prstGeom prst="rect">
            <a:avLst/>
          </a:prstGeom>
          <a:noFill/>
          <a:ln>
            <a:noFill/>
          </a:ln>
        </p:spPr>
      </p:pic>
      <p:sp>
        <p:nvSpPr>
          <p:cNvPr id="7" name="Google Shape;840;p52">
            <a:extLst>
              <a:ext uri="{FF2B5EF4-FFF2-40B4-BE49-F238E27FC236}">
                <a16:creationId xmlns:a16="http://schemas.microsoft.com/office/drawing/2014/main" id="{B40FE4E9-DD4F-17AB-F121-6948CB955936}"/>
              </a:ext>
            </a:extLst>
          </p:cNvPr>
          <p:cNvSpPr txBox="1"/>
          <p:nvPr/>
        </p:nvSpPr>
        <p:spPr>
          <a:xfrm>
            <a:off x="7138564" y="2839560"/>
            <a:ext cx="1875900" cy="1200298"/>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pt-BR" sz="1100" b="1" dirty="0">
                <a:latin typeface="Proxima Nova"/>
                <a:ea typeface="Proxima Nova"/>
                <a:cs typeface="Proxima Nova"/>
                <a:sym typeface="Proxima Nova"/>
              </a:rPr>
              <a:t>Configuração do ambiente </a:t>
            </a:r>
            <a:r>
              <a:rPr lang="pt-BR" sz="1100" b="1" dirty="0" err="1">
                <a:latin typeface="Proxima Nova"/>
                <a:ea typeface="Proxima Nova"/>
                <a:cs typeface="Proxima Nova"/>
                <a:sym typeface="Proxima Nova"/>
              </a:rPr>
              <a:t>RStudio</a:t>
            </a:r>
            <a:endParaRPr sz="1100" b="1" i="0" u="none" strike="noStrike" cap="none" dirty="0">
              <a:solidFill>
                <a:srgbClr val="000000"/>
              </a:solidFill>
              <a:latin typeface="Proxima Nova"/>
              <a:ea typeface="Proxima Nova"/>
              <a:cs typeface="Proxima Nova"/>
              <a:sym typeface="Proxima Nova"/>
            </a:endParaRPr>
          </a:p>
          <a:p>
            <a:pPr lvl="0">
              <a:buSzPts val="1100"/>
            </a:pPr>
            <a:r>
              <a:rPr lang="pt-BR" sz="1100" u="sng" dirty="0">
                <a:solidFill>
                  <a:schemeClr val="hlink"/>
                </a:solidFill>
                <a:latin typeface="Proxima Nova"/>
                <a:ea typeface="Proxima Nova"/>
                <a:cs typeface="Proxima Nova"/>
                <a:sym typeface="Proxima Nova"/>
                <a:hlinkClick r:id="rId6"/>
              </a:rPr>
              <a:t>https://flaviogckessler.github.io/Curso_ST/vinhetas/Configuracao_do_ambiente_RStudio.html</a:t>
            </a:r>
            <a:endParaRPr sz="1100" b="0" i="0" u="none" strike="noStrike" cap="none" dirty="0">
              <a:solidFill>
                <a:srgbClr val="000000"/>
              </a:solidFill>
              <a:latin typeface="Proxima Nova"/>
              <a:ea typeface="Proxima Nova"/>
              <a:cs typeface="Proxima Nova"/>
              <a:sym typeface="Proxima Nova"/>
            </a:endParaRPr>
          </a:p>
        </p:txBody>
      </p:sp>
      <p:sp>
        <p:nvSpPr>
          <p:cNvPr id="13" name="TextBox 12">
            <a:extLst>
              <a:ext uri="{FF2B5EF4-FFF2-40B4-BE49-F238E27FC236}">
                <a16:creationId xmlns:a16="http://schemas.microsoft.com/office/drawing/2014/main" id="{B7EC1389-B9D0-7EBD-826D-0320DAB7B9DB}"/>
              </a:ext>
            </a:extLst>
          </p:cNvPr>
          <p:cNvSpPr txBox="1"/>
          <p:nvPr/>
        </p:nvSpPr>
        <p:spPr>
          <a:xfrm>
            <a:off x="311700" y="769792"/>
            <a:ext cx="4572000" cy="738664"/>
          </a:xfrm>
          <a:prstGeom prst="rect">
            <a:avLst/>
          </a:prstGeom>
          <a:noFill/>
        </p:spPr>
        <p:txBody>
          <a:bodyPr wrap="square">
            <a:spAutoFit/>
          </a:bodyPr>
          <a:lstStyle/>
          <a:p>
            <a:pPr rtl="0">
              <a:buNone/>
            </a:pPr>
            <a:r>
              <a:rPr lang="en-US" sz="1400" b="0" i="0" u="none" strike="noStrike" dirty="0" err="1">
                <a:solidFill>
                  <a:srgbClr val="000000"/>
                </a:solidFill>
                <a:effectLst/>
                <a:latin typeface="Arial"/>
              </a:rPr>
              <a:t>Abrir</a:t>
            </a:r>
            <a:r>
              <a:rPr lang="en-US" sz="1400" b="0" i="0" u="none" strike="noStrike" dirty="0">
                <a:solidFill>
                  <a:srgbClr val="000000"/>
                </a:solidFill>
                <a:effectLst/>
                <a:latin typeface="Arial"/>
              </a:rPr>
              <a:t> </a:t>
            </a:r>
            <a:r>
              <a:rPr lang="en-US" sz="1400" b="0" i="0" u="none" strike="noStrike" dirty="0" err="1">
                <a:solidFill>
                  <a:srgbClr val="000000"/>
                </a:solidFill>
                <a:effectLst/>
                <a:latin typeface="Arial"/>
              </a:rPr>
              <a:t>na</a:t>
            </a:r>
            <a:r>
              <a:rPr lang="en-US" sz="1400" b="0" i="0" u="none" strike="noStrike" dirty="0">
                <a:solidFill>
                  <a:srgbClr val="000000"/>
                </a:solidFill>
                <a:effectLst/>
                <a:latin typeface="Arial"/>
              </a:rPr>
              <a:t> </a:t>
            </a:r>
            <a:r>
              <a:rPr lang="en-US" sz="1400" b="0" i="0" u="none" strike="noStrike" dirty="0" err="1">
                <a:solidFill>
                  <a:srgbClr val="000000"/>
                </a:solidFill>
                <a:effectLst/>
                <a:latin typeface="Arial"/>
              </a:rPr>
              <a:t>sua</a:t>
            </a:r>
            <a:r>
              <a:rPr lang="en-US" sz="1400" b="0" i="0" u="none" strike="noStrike" dirty="0">
                <a:solidFill>
                  <a:srgbClr val="000000"/>
                </a:solidFill>
                <a:effectLst/>
                <a:latin typeface="Arial"/>
              </a:rPr>
              <a:t> pasta local.</a:t>
            </a:r>
            <a:endParaRPr lang="en-US" b="0" dirty="0">
              <a:effectLst/>
            </a:endParaRPr>
          </a:p>
          <a:p>
            <a:pPr>
              <a:buNone/>
            </a:pPr>
            <a:br>
              <a:rPr lang="en-US" b="0" dirty="0">
                <a:effectLst/>
              </a:rPr>
            </a:br>
            <a:endParaRPr lang="pt-BR"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852"/>
        <p:cNvGrpSpPr/>
        <p:nvPr/>
      </p:nvGrpSpPr>
      <p:grpSpPr>
        <a:xfrm>
          <a:off x="0" y="0"/>
          <a:ext cx="0" cy="0"/>
          <a:chOff x="0" y="0"/>
          <a:chExt cx="0" cy="0"/>
        </a:xfrm>
      </p:grpSpPr>
      <p:sp>
        <p:nvSpPr>
          <p:cNvPr id="853" name="Google Shape;853;p54"/>
          <p:cNvSpPr txBox="1">
            <a:spLocks noGrp="1"/>
          </p:cNvSpPr>
          <p:nvPr>
            <p:ph type="title"/>
          </p:nvPr>
        </p:nvSpPr>
        <p:spPr>
          <a:xfrm>
            <a:off x="311700" y="140225"/>
            <a:ext cx="84912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sz="2000"/>
              <a:t>Diretório de trabalho</a:t>
            </a:r>
            <a:endParaRPr/>
          </a:p>
        </p:txBody>
      </p:sp>
      <p:sp>
        <p:nvSpPr>
          <p:cNvPr id="855" name="Google Shape;855;p54"/>
          <p:cNvSpPr txBox="1">
            <a:spLocks noGrp="1"/>
          </p:cNvSpPr>
          <p:nvPr>
            <p:ph type="body" idx="1"/>
          </p:nvPr>
        </p:nvSpPr>
        <p:spPr>
          <a:xfrm>
            <a:off x="311700" y="891300"/>
            <a:ext cx="2778900" cy="3447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800"/>
              <a:buNone/>
            </a:pPr>
            <a:r>
              <a:rPr lang="pt-BR" sz="1400" dirty="0">
                <a:solidFill>
                  <a:schemeClr val="dk1"/>
                </a:solidFill>
              </a:rPr>
              <a:t>Interação com o diretório de trabalho do usuário dentro do servidor</a:t>
            </a:r>
            <a:endParaRPr sz="1400" dirty="0">
              <a:solidFill>
                <a:schemeClr val="dk1"/>
              </a:solidFill>
            </a:endParaRPr>
          </a:p>
          <a:p>
            <a:pPr marL="0" lvl="0" indent="0" algn="l" rtl="0">
              <a:lnSpc>
                <a:spcPct val="100000"/>
              </a:lnSpc>
              <a:spcBef>
                <a:spcPts val="0"/>
              </a:spcBef>
              <a:spcAft>
                <a:spcPts val="0"/>
              </a:spcAft>
              <a:buSzPts val="1800"/>
              <a:buNone/>
            </a:pPr>
            <a:r>
              <a:rPr lang="pt-BR" sz="1400" dirty="0">
                <a:solidFill>
                  <a:schemeClr val="dk1"/>
                </a:solidFill>
              </a:rPr>
              <a:t>(</a:t>
            </a:r>
            <a:r>
              <a:rPr lang="pt-BR" sz="1400" i="1" dirty="0" err="1">
                <a:solidFill>
                  <a:schemeClr val="dk1"/>
                </a:solidFill>
              </a:rPr>
              <a:t>working</a:t>
            </a:r>
            <a:r>
              <a:rPr lang="pt-BR" sz="1400" i="1" dirty="0">
                <a:solidFill>
                  <a:schemeClr val="dk1"/>
                </a:solidFill>
              </a:rPr>
              <a:t> </a:t>
            </a:r>
            <a:r>
              <a:rPr lang="pt-BR" sz="1400" i="1" dirty="0" err="1">
                <a:solidFill>
                  <a:schemeClr val="dk1"/>
                </a:solidFill>
              </a:rPr>
              <a:t>directory</a:t>
            </a:r>
            <a:r>
              <a:rPr lang="pt-BR" sz="1400" dirty="0">
                <a:solidFill>
                  <a:schemeClr val="dk1"/>
                </a:solidFill>
              </a:rPr>
              <a:t>).</a:t>
            </a:r>
            <a:endParaRPr sz="1400" dirty="0">
              <a:solidFill>
                <a:schemeClr val="dk1"/>
              </a:solidFill>
            </a:endParaRPr>
          </a:p>
          <a:p>
            <a:pPr marL="0" lvl="0" indent="0" algn="l" rtl="0">
              <a:lnSpc>
                <a:spcPct val="100000"/>
              </a:lnSpc>
              <a:spcBef>
                <a:spcPts val="0"/>
              </a:spcBef>
              <a:spcAft>
                <a:spcPts val="0"/>
              </a:spcAft>
              <a:buSzPts val="1800"/>
              <a:buNone/>
            </a:pPr>
            <a:endParaRPr sz="1400" dirty="0">
              <a:solidFill>
                <a:schemeClr val="dk1"/>
              </a:solidFill>
            </a:endParaRPr>
          </a:p>
          <a:p>
            <a:pPr marL="0" lvl="0" indent="0" algn="l" rtl="0">
              <a:lnSpc>
                <a:spcPct val="100000"/>
              </a:lnSpc>
              <a:spcBef>
                <a:spcPts val="0"/>
              </a:spcBef>
              <a:spcAft>
                <a:spcPts val="0"/>
              </a:spcAft>
              <a:buSzPts val="1800"/>
              <a:buNone/>
            </a:pPr>
            <a:r>
              <a:rPr lang="pt-BR" sz="1400" dirty="0">
                <a:solidFill>
                  <a:schemeClr val="dk1"/>
                </a:solidFill>
              </a:rPr>
              <a:t>Interação com pasta onde estão armazenados os pacotes instalados.</a:t>
            </a:r>
            <a:endParaRPr sz="1400" dirty="0">
              <a:solidFill>
                <a:schemeClr val="dk1"/>
              </a:solidFill>
            </a:endParaRPr>
          </a:p>
        </p:txBody>
      </p:sp>
      <p:pic>
        <p:nvPicPr>
          <p:cNvPr id="4" name="Picture 3">
            <a:extLst>
              <a:ext uri="{FF2B5EF4-FFF2-40B4-BE49-F238E27FC236}">
                <a16:creationId xmlns:a16="http://schemas.microsoft.com/office/drawing/2014/main" id="{EAF89238-77B0-E12B-F984-C97DE05B19FB}"/>
              </a:ext>
            </a:extLst>
          </p:cNvPr>
          <p:cNvPicPr>
            <a:picLocks noChangeAspect="1"/>
          </p:cNvPicPr>
          <p:nvPr/>
        </p:nvPicPr>
        <p:blipFill>
          <a:blip r:embed="rId3"/>
          <a:stretch>
            <a:fillRect/>
          </a:stretch>
        </p:blipFill>
        <p:spPr>
          <a:xfrm>
            <a:off x="3301139" y="745170"/>
            <a:ext cx="5354591" cy="3998467"/>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859"/>
        <p:cNvGrpSpPr/>
        <p:nvPr/>
      </p:nvGrpSpPr>
      <p:grpSpPr>
        <a:xfrm>
          <a:off x="0" y="0"/>
          <a:ext cx="0" cy="0"/>
          <a:chOff x="0" y="0"/>
          <a:chExt cx="0" cy="0"/>
        </a:xfrm>
      </p:grpSpPr>
      <p:sp>
        <p:nvSpPr>
          <p:cNvPr id="860" name="Google Shape;860;p55"/>
          <p:cNvSpPr txBox="1">
            <a:spLocks noGrp="1"/>
          </p:cNvSpPr>
          <p:nvPr>
            <p:ph type="title"/>
          </p:nvPr>
        </p:nvSpPr>
        <p:spPr>
          <a:xfrm>
            <a:off x="311700" y="140225"/>
            <a:ext cx="84912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sz="2000"/>
              <a:t>Pacotes para análises</a:t>
            </a:r>
            <a:endParaRPr/>
          </a:p>
        </p:txBody>
      </p:sp>
      <p:sp>
        <p:nvSpPr>
          <p:cNvPr id="862" name="Google Shape;862;p55"/>
          <p:cNvSpPr txBox="1">
            <a:spLocks noGrp="1"/>
          </p:cNvSpPr>
          <p:nvPr>
            <p:ph type="body" idx="1"/>
          </p:nvPr>
        </p:nvSpPr>
        <p:spPr>
          <a:xfrm>
            <a:off x="311700" y="891300"/>
            <a:ext cx="2778900" cy="3447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800"/>
              <a:buNone/>
            </a:pPr>
            <a:r>
              <a:rPr lang="pt-BR" sz="1400" dirty="0">
                <a:solidFill>
                  <a:schemeClr val="dk1"/>
                </a:solidFill>
              </a:rPr>
              <a:t>Instalação de pacotes com as funções necessárias para todos os passos das análises.</a:t>
            </a:r>
            <a:endParaRPr sz="1400" dirty="0">
              <a:solidFill>
                <a:schemeClr val="dk1"/>
              </a:solidFill>
            </a:endParaRPr>
          </a:p>
          <a:p>
            <a:pPr marL="0" lvl="0" indent="0" algn="l" rtl="0">
              <a:lnSpc>
                <a:spcPct val="100000"/>
              </a:lnSpc>
              <a:spcBef>
                <a:spcPts val="0"/>
              </a:spcBef>
              <a:spcAft>
                <a:spcPts val="0"/>
              </a:spcAft>
              <a:buSzPts val="1800"/>
              <a:buNone/>
            </a:pPr>
            <a:endParaRPr sz="1400" dirty="0">
              <a:solidFill>
                <a:schemeClr val="dk1"/>
              </a:solidFill>
            </a:endParaRPr>
          </a:p>
          <a:p>
            <a:pPr marL="0" lvl="0" indent="0" algn="l" rtl="0">
              <a:lnSpc>
                <a:spcPct val="100000"/>
              </a:lnSpc>
              <a:spcBef>
                <a:spcPts val="0"/>
              </a:spcBef>
              <a:spcAft>
                <a:spcPts val="0"/>
              </a:spcAft>
              <a:buSzPts val="1800"/>
              <a:buNone/>
            </a:pPr>
            <a:r>
              <a:rPr lang="pt-BR" sz="1400" dirty="0">
                <a:solidFill>
                  <a:schemeClr val="dk1"/>
                </a:solidFill>
              </a:rPr>
              <a:t>Repositórios:</a:t>
            </a:r>
            <a:endParaRPr sz="1400" dirty="0">
              <a:solidFill>
                <a:schemeClr val="dk1"/>
              </a:solidFill>
            </a:endParaRPr>
          </a:p>
          <a:p>
            <a:pPr marL="0" lvl="0" indent="0" algn="l" rtl="0">
              <a:lnSpc>
                <a:spcPct val="100000"/>
              </a:lnSpc>
              <a:spcBef>
                <a:spcPts val="0"/>
              </a:spcBef>
              <a:spcAft>
                <a:spcPts val="0"/>
              </a:spcAft>
              <a:buSzPts val="1800"/>
              <a:buNone/>
            </a:pPr>
            <a:endParaRPr sz="1400" dirty="0">
              <a:solidFill>
                <a:schemeClr val="dk1"/>
              </a:solidFill>
            </a:endParaRPr>
          </a:p>
          <a:p>
            <a:pPr marL="457200" lvl="0" indent="-317500" algn="l" rtl="0">
              <a:lnSpc>
                <a:spcPct val="100000"/>
              </a:lnSpc>
              <a:spcBef>
                <a:spcPts val="0"/>
              </a:spcBef>
              <a:spcAft>
                <a:spcPts val="0"/>
              </a:spcAft>
              <a:buClr>
                <a:schemeClr val="dk1"/>
              </a:buClr>
              <a:buSzPts val="1400"/>
              <a:buChar char="●"/>
            </a:pPr>
            <a:r>
              <a:rPr lang="pt-BR" sz="1400" dirty="0">
                <a:solidFill>
                  <a:schemeClr val="dk1"/>
                </a:solidFill>
              </a:rPr>
              <a:t>CRAN</a:t>
            </a:r>
            <a:endParaRPr sz="1400" dirty="0">
              <a:solidFill>
                <a:schemeClr val="dk1"/>
              </a:solidFill>
            </a:endParaRPr>
          </a:p>
          <a:p>
            <a:pPr marL="457200" lvl="0" indent="0" algn="l" rtl="0">
              <a:lnSpc>
                <a:spcPct val="100000"/>
              </a:lnSpc>
              <a:spcBef>
                <a:spcPts val="0"/>
              </a:spcBef>
              <a:spcAft>
                <a:spcPts val="0"/>
              </a:spcAft>
              <a:buSzPts val="1800"/>
              <a:buNone/>
            </a:pPr>
            <a:endParaRPr sz="1400" dirty="0">
              <a:solidFill>
                <a:schemeClr val="dk1"/>
              </a:solidFill>
            </a:endParaRPr>
          </a:p>
          <a:p>
            <a:pPr marL="457200" lvl="0" indent="0" algn="l" rtl="0">
              <a:lnSpc>
                <a:spcPct val="100000"/>
              </a:lnSpc>
              <a:spcBef>
                <a:spcPts val="0"/>
              </a:spcBef>
              <a:spcAft>
                <a:spcPts val="0"/>
              </a:spcAft>
              <a:buSzPts val="1800"/>
              <a:buNone/>
            </a:pPr>
            <a:endParaRPr sz="1400" dirty="0">
              <a:solidFill>
                <a:schemeClr val="dk1"/>
              </a:solidFill>
            </a:endParaRPr>
          </a:p>
          <a:p>
            <a:pPr marL="457200" lvl="0" indent="0" algn="l" rtl="0">
              <a:lnSpc>
                <a:spcPct val="100000"/>
              </a:lnSpc>
              <a:spcBef>
                <a:spcPts val="0"/>
              </a:spcBef>
              <a:spcAft>
                <a:spcPts val="0"/>
              </a:spcAft>
              <a:buSzPts val="1800"/>
              <a:buNone/>
            </a:pPr>
            <a:endParaRPr sz="1400" dirty="0">
              <a:solidFill>
                <a:schemeClr val="dk1"/>
              </a:solidFill>
            </a:endParaRPr>
          </a:p>
          <a:p>
            <a:pPr marL="457200" lvl="0" indent="0" algn="l" rtl="0">
              <a:lnSpc>
                <a:spcPct val="100000"/>
              </a:lnSpc>
              <a:spcBef>
                <a:spcPts val="0"/>
              </a:spcBef>
              <a:spcAft>
                <a:spcPts val="0"/>
              </a:spcAft>
              <a:buSzPts val="1800"/>
              <a:buNone/>
            </a:pPr>
            <a:endParaRPr sz="1400" dirty="0">
              <a:solidFill>
                <a:schemeClr val="dk1"/>
              </a:solidFill>
            </a:endParaRPr>
          </a:p>
          <a:p>
            <a:pPr marL="457200" lvl="0" indent="0" algn="l" rtl="0">
              <a:lnSpc>
                <a:spcPct val="100000"/>
              </a:lnSpc>
              <a:spcBef>
                <a:spcPts val="0"/>
              </a:spcBef>
              <a:spcAft>
                <a:spcPts val="0"/>
              </a:spcAft>
              <a:buSzPts val="1800"/>
              <a:buNone/>
            </a:pPr>
            <a:endParaRPr sz="1400" dirty="0">
              <a:solidFill>
                <a:schemeClr val="dk1"/>
              </a:solidFill>
            </a:endParaRPr>
          </a:p>
          <a:p>
            <a:pPr marL="0" lvl="0" indent="0" algn="l" rtl="0">
              <a:lnSpc>
                <a:spcPct val="100000"/>
              </a:lnSpc>
              <a:spcBef>
                <a:spcPts val="0"/>
              </a:spcBef>
              <a:spcAft>
                <a:spcPts val="0"/>
              </a:spcAft>
              <a:buSzPts val="1800"/>
              <a:buNone/>
            </a:pPr>
            <a:endParaRPr sz="1400" dirty="0">
              <a:solidFill>
                <a:schemeClr val="dk1"/>
              </a:solidFill>
            </a:endParaRPr>
          </a:p>
          <a:p>
            <a:pPr marL="0" lvl="0" indent="0" algn="l" rtl="0">
              <a:lnSpc>
                <a:spcPct val="100000"/>
              </a:lnSpc>
              <a:spcBef>
                <a:spcPts val="0"/>
              </a:spcBef>
              <a:spcAft>
                <a:spcPts val="0"/>
              </a:spcAft>
              <a:buSzPts val="1800"/>
              <a:buNone/>
            </a:pPr>
            <a:endParaRPr sz="1400" dirty="0">
              <a:solidFill>
                <a:schemeClr val="dk1"/>
              </a:solidFill>
            </a:endParaRPr>
          </a:p>
          <a:p>
            <a:pPr marL="0" lvl="0" indent="0" algn="l" rtl="0">
              <a:lnSpc>
                <a:spcPct val="100000"/>
              </a:lnSpc>
              <a:spcBef>
                <a:spcPts val="0"/>
              </a:spcBef>
              <a:spcAft>
                <a:spcPts val="0"/>
              </a:spcAft>
              <a:buSzPts val="1800"/>
              <a:buNone/>
            </a:pPr>
            <a:endParaRPr sz="1400" dirty="0">
              <a:solidFill>
                <a:schemeClr val="dk1"/>
              </a:solidFill>
            </a:endParaRPr>
          </a:p>
        </p:txBody>
      </p:sp>
      <p:pic>
        <p:nvPicPr>
          <p:cNvPr id="863" name="Google Shape;863;p55"/>
          <p:cNvPicPr preferRelativeResize="0"/>
          <p:nvPr/>
        </p:nvPicPr>
        <p:blipFill rotWithShape="1">
          <a:blip r:embed="rId3">
            <a:alphaModFix/>
          </a:blip>
          <a:srcRect/>
          <a:stretch/>
        </p:blipFill>
        <p:spPr>
          <a:xfrm>
            <a:off x="775786" y="3099725"/>
            <a:ext cx="2257180" cy="180575"/>
          </a:xfrm>
          <a:prstGeom prst="rect">
            <a:avLst/>
          </a:prstGeom>
          <a:noFill/>
          <a:ln>
            <a:noFill/>
          </a:ln>
        </p:spPr>
      </p:pic>
      <p:pic>
        <p:nvPicPr>
          <p:cNvPr id="864" name="Google Shape;864;p55"/>
          <p:cNvPicPr preferRelativeResize="0"/>
          <p:nvPr/>
        </p:nvPicPr>
        <p:blipFill rotWithShape="1">
          <a:blip r:embed="rId4">
            <a:alphaModFix/>
          </a:blip>
          <a:srcRect/>
          <a:stretch/>
        </p:blipFill>
        <p:spPr>
          <a:xfrm>
            <a:off x="775775" y="2532250"/>
            <a:ext cx="717100" cy="572700"/>
          </a:xfrm>
          <a:prstGeom prst="rect">
            <a:avLst/>
          </a:prstGeom>
          <a:noFill/>
          <a:ln>
            <a:noFill/>
          </a:ln>
        </p:spPr>
      </p:pic>
      <p:pic>
        <p:nvPicPr>
          <p:cNvPr id="4" name="Picture 3">
            <a:extLst>
              <a:ext uri="{FF2B5EF4-FFF2-40B4-BE49-F238E27FC236}">
                <a16:creationId xmlns:a16="http://schemas.microsoft.com/office/drawing/2014/main" id="{F67582A5-C714-426C-3697-EAC464F34B03}"/>
              </a:ext>
            </a:extLst>
          </p:cNvPr>
          <p:cNvPicPr>
            <a:picLocks noChangeAspect="1"/>
          </p:cNvPicPr>
          <p:nvPr/>
        </p:nvPicPr>
        <p:blipFill>
          <a:blip r:embed="rId5"/>
          <a:stretch>
            <a:fillRect/>
          </a:stretch>
        </p:blipFill>
        <p:spPr>
          <a:xfrm>
            <a:off x="3100396" y="919653"/>
            <a:ext cx="5906012" cy="3391194"/>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869"/>
        <p:cNvGrpSpPr/>
        <p:nvPr/>
      </p:nvGrpSpPr>
      <p:grpSpPr>
        <a:xfrm>
          <a:off x="0" y="0"/>
          <a:ext cx="0" cy="0"/>
          <a:chOff x="0" y="0"/>
          <a:chExt cx="0" cy="0"/>
        </a:xfrm>
      </p:grpSpPr>
      <p:sp>
        <p:nvSpPr>
          <p:cNvPr id="870" name="Google Shape;870;p56"/>
          <p:cNvSpPr txBox="1">
            <a:spLocks noGrp="1"/>
          </p:cNvSpPr>
          <p:nvPr>
            <p:ph type="title"/>
          </p:nvPr>
        </p:nvSpPr>
        <p:spPr>
          <a:xfrm>
            <a:off x="311700" y="140225"/>
            <a:ext cx="84912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sz="2000"/>
              <a:t>Pacotes para análises</a:t>
            </a:r>
            <a:endParaRPr/>
          </a:p>
        </p:txBody>
      </p:sp>
      <p:sp>
        <p:nvSpPr>
          <p:cNvPr id="872" name="Google Shape;872;p56"/>
          <p:cNvSpPr txBox="1">
            <a:spLocks noGrp="1"/>
          </p:cNvSpPr>
          <p:nvPr>
            <p:ph type="body" idx="1"/>
          </p:nvPr>
        </p:nvSpPr>
        <p:spPr>
          <a:xfrm>
            <a:off x="311700" y="891300"/>
            <a:ext cx="2778900" cy="3447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800"/>
              <a:buNone/>
            </a:pPr>
            <a:r>
              <a:rPr lang="pt-BR" sz="1400">
                <a:solidFill>
                  <a:schemeClr val="dk1"/>
                </a:solidFill>
              </a:rPr>
              <a:t>Instalação de pacotes com as funções necessárias para todos os passos das análises.</a:t>
            </a:r>
            <a:endParaRPr sz="1400">
              <a:solidFill>
                <a:schemeClr val="dk1"/>
              </a:solidFill>
            </a:endParaRPr>
          </a:p>
          <a:p>
            <a:pPr marL="0" lvl="0" indent="0" algn="l" rtl="0">
              <a:lnSpc>
                <a:spcPct val="100000"/>
              </a:lnSpc>
              <a:spcBef>
                <a:spcPts val="0"/>
              </a:spcBef>
              <a:spcAft>
                <a:spcPts val="0"/>
              </a:spcAft>
              <a:buSzPts val="1800"/>
              <a:buNone/>
            </a:pPr>
            <a:endParaRPr sz="1400">
              <a:solidFill>
                <a:schemeClr val="dk1"/>
              </a:solidFill>
            </a:endParaRPr>
          </a:p>
          <a:p>
            <a:pPr marL="0" lvl="0" indent="0" algn="l" rtl="0">
              <a:lnSpc>
                <a:spcPct val="100000"/>
              </a:lnSpc>
              <a:spcBef>
                <a:spcPts val="0"/>
              </a:spcBef>
              <a:spcAft>
                <a:spcPts val="0"/>
              </a:spcAft>
              <a:buSzPts val="1800"/>
              <a:buNone/>
            </a:pPr>
            <a:r>
              <a:rPr lang="pt-BR" sz="1400">
                <a:solidFill>
                  <a:schemeClr val="dk1"/>
                </a:solidFill>
              </a:rPr>
              <a:t>Repositórios:</a:t>
            </a:r>
            <a:endParaRPr sz="1400">
              <a:solidFill>
                <a:schemeClr val="dk1"/>
              </a:solidFill>
            </a:endParaRPr>
          </a:p>
          <a:p>
            <a:pPr marL="0" lvl="0" indent="0" algn="l" rtl="0">
              <a:lnSpc>
                <a:spcPct val="100000"/>
              </a:lnSpc>
              <a:spcBef>
                <a:spcPts val="0"/>
              </a:spcBef>
              <a:spcAft>
                <a:spcPts val="0"/>
              </a:spcAft>
              <a:buSzPts val="1800"/>
              <a:buNone/>
            </a:pPr>
            <a:endParaRPr sz="1400">
              <a:solidFill>
                <a:schemeClr val="dk1"/>
              </a:solidFill>
            </a:endParaRPr>
          </a:p>
          <a:p>
            <a:pPr marL="457200" lvl="0" indent="-317500" algn="l" rtl="0">
              <a:lnSpc>
                <a:spcPct val="100000"/>
              </a:lnSpc>
              <a:spcBef>
                <a:spcPts val="0"/>
              </a:spcBef>
              <a:spcAft>
                <a:spcPts val="0"/>
              </a:spcAft>
              <a:buClr>
                <a:schemeClr val="dk1"/>
              </a:buClr>
              <a:buSzPts val="1400"/>
              <a:buChar char="●"/>
            </a:pPr>
            <a:r>
              <a:rPr lang="pt-BR" sz="1400">
                <a:solidFill>
                  <a:schemeClr val="dk1"/>
                </a:solidFill>
              </a:rPr>
              <a:t>Bioconductor</a:t>
            </a:r>
            <a:endParaRPr sz="1400">
              <a:solidFill>
                <a:schemeClr val="dk1"/>
              </a:solidFill>
            </a:endParaRPr>
          </a:p>
          <a:p>
            <a:pPr marL="0" lvl="0" indent="0" algn="l" rtl="0">
              <a:lnSpc>
                <a:spcPct val="100000"/>
              </a:lnSpc>
              <a:spcBef>
                <a:spcPts val="0"/>
              </a:spcBef>
              <a:spcAft>
                <a:spcPts val="0"/>
              </a:spcAft>
              <a:buSzPts val="1800"/>
              <a:buNone/>
            </a:pPr>
            <a:endParaRPr sz="1400">
              <a:solidFill>
                <a:schemeClr val="dk1"/>
              </a:solidFill>
            </a:endParaRPr>
          </a:p>
          <a:p>
            <a:pPr marL="0" lvl="0" indent="0" algn="l" rtl="0">
              <a:lnSpc>
                <a:spcPct val="100000"/>
              </a:lnSpc>
              <a:spcBef>
                <a:spcPts val="0"/>
              </a:spcBef>
              <a:spcAft>
                <a:spcPts val="0"/>
              </a:spcAft>
              <a:buSzPts val="1800"/>
              <a:buNone/>
            </a:pPr>
            <a:endParaRPr sz="1400">
              <a:solidFill>
                <a:schemeClr val="dk1"/>
              </a:solidFill>
            </a:endParaRPr>
          </a:p>
          <a:p>
            <a:pPr marL="0" lvl="0" indent="0" algn="l" rtl="0">
              <a:lnSpc>
                <a:spcPct val="100000"/>
              </a:lnSpc>
              <a:spcBef>
                <a:spcPts val="0"/>
              </a:spcBef>
              <a:spcAft>
                <a:spcPts val="0"/>
              </a:spcAft>
              <a:buSzPts val="1800"/>
              <a:buNone/>
            </a:pPr>
            <a:endParaRPr sz="1400">
              <a:solidFill>
                <a:schemeClr val="dk1"/>
              </a:solidFill>
            </a:endParaRPr>
          </a:p>
          <a:p>
            <a:pPr marL="0" lvl="0" indent="0" algn="l" rtl="0">
              <a:lnSpc>
                <a:spcPct val="100000"/>
              </a:lnSpc>
              <a:spcBef>
                <a:spcPts val="0"/>
              </a:spcBef>
              <a:spcAft>
                <a:spcPts val="0"/>
              </a:spcAft>
              <a:buSzPts val="1800"/>
              <a:buNone/>
            </a:pPr>
            <a:endParaRPr sz="1400">
              <a:solidFill>
                <a:schemeClr val="dk1"/>
              </a:solidFill>
            </a:endParaRPr>
          </a:p>
          <a:p>
            <a:pPr marL="457200" lvl="0" indent="-317500" algn="l" rtl="0">
              <a:lnSpc>
                <a:spcPct val="100000"/>
              </a:lnSpc>
              <a:spcBef>
                <a:spcPts val="0"/>
              </a:spcBef>
              <a:spcAft>
                <a:spcPts val="0"/>
              </a:spcAft>
              <a:buClr>
                <a:schemeClr val="dk1"/>
              </a:buClr>
              <a:buSzPts val="1400"/>
              <a:buChar char="●"/>
            </a:pPr>
            <a:r>
              <a:rPr lang="pt-BR" sz="1400">
                <a:solidFill>
                  <a:schemeClr val="dk1"/>
                </a:solidFill>
              </a:rPr>
              <a:t>GitHub</a:t>
            </a:r>
            <a:endParaRPr sz="1400">
              <a:solidFill>
                <a:schemeClr val="dk1"/>
              </a:solidFill>
            </a:endParaRPr>
          </a:p>
          <a:p>
            <a:pPr marL="457200" lvl="0" indent="0" algn="l" rtl="0">
              <a:lnSpc>
                <a:spcPct val="100000"/>
              </a:lnSpc>
              <a:spcBef>
                <a:spcPts val="0"/>
              </a:spcBef>
              <a:spcAft>
                <a:spcPts val="0"/>
              </a:spcAft>
              <a:buSzPts val="1800"/>
              <a:buNone/>
            </a:pPr>
            <a:endParaRPr sz="1400">
              <a:solidFill>
                <a:schemeClr val="dk1"/>
              </a:solidFill>
            </a:endParaRPr>
          </a:p>
          <a:p>
            <a:pPr marL="0" lvl="0" indent="0" algn="l" rtl="0">
              <a:lnSpc>
                <a:spcPct val="100000"/>
              </a:lnSpc>
              <a:spcBef>
                <a:spcPts val="0"/>
              </a:spcBef>
              <a:spcAft>
                <a:spcPts val="0"/>
              </a:spcAft>
              <a:buSzPts val="1800"/>
              <a:buNone/>
            </a:pPr>
            <a:endParaRPr sz="1400">
              <a:solidFill>
                <a:schemeClr val="dk1"/>
              </a:solidFill>
            </a:endParaRPr>
          </a:p>
        </p:txBody>
      </p:sp>
      <p:pic>
        <p:nvPicPr>
          <p:cNvPr id="873" name="Google Shape;873;p56"/>
          <p:cNvPicPr preferRelativeResize="0"/>
          <p:nvPr/>
        </p:nvPicPr>
        <p:blipFill rotWithShape="1">
          <a:blip r:embed="rId3">
            <a:alphaModFix/>
          </a:blip>
          <a:srcRect/>
          <a:stretch/>
        </p:blipFill>
        <p:spPr>
          <a:xfrm>
            <a:off x="858025" y="2504250"/>
            <a:ext cx="1605079" cy="572700"/>
          </a:xfrm>
          <a:prstGeom prst="rect">
            <a:avLst/>
          </a:prstGeom>
          <a:noFill/>
          <a:ln>
            <a:noFill/>
          </a:ln>
        </p:spPr>
      </p:pic>
      <p:pic>
        <p:nvPicPr>
          <p:cNvPr id="875" name="Google Shape;875;p56"/>
          <p:cNvPicPr preferRelativeResize="0"/>
          <p:nvPr/>
        </p:nvPicPr>
        <p:blipFill rotWithShape="1">
          <a:blip r:embed="rId4">
            <a:alphaModFix/>
          </a:blip>
          <a:srcRect t="14973" b="21121"/>
          <a:stretch/>
        </p:blipFill>
        <p:spPr>
          <a:xfrm>
            <a:off x="696164" y="3584219"/>
            <a:ext cx="1605075" cy="378031"/>
          </a:xfrm>
          <a:prstGeom prst="rect">
            <a:avLst/>
          </a:prstGeom>
          <a:noFill/>
          <a:ln>
            <a:noFill/>
          </a:ln>
        </p:spPr>
      </p:pic>
      <p:pic>
        <p:nvPicPr>
          <p:cNvPr id="4" name="Picture 3">
            <a:extLst>
              <a:ext uri="{FF2B5EF4-FFF2-40B4-BE49-F238E27FC236}">
                <a16:creationId xmlns:a16="http://schemas.microsoft.com/office/drawing/2014/main" id="{2819055D-55CF-2A4F-1CDF-7A8E17EDE071}"/>
              </a:ext>
            </a:extLst>
          </p:cNvPr>
          <p:cNvPicPr>
            <a:picLocks noChangeAspect="1"/>
          </p:cNvPicPr>
          <p:nvPr/>
        </p:nvPicPr>
        <p:blipFill>
          <a:blip r:embed="rId5"/>
          <a:stretch>
            <a:fillRect/>
          </a:stretch>
        </p:blipFill>
        <p:spPr>
          <a:xfrm>
            <a:off x="3090600" y="511947"/>
            <a:ext cx="5867908" cy="4206605"/>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880"/>
        <p:cNvGrpSpPr/>
        <p:nvPr/>
      </p:nvGrpSpPr>
      <p:grpSpPr>
        <a:xfrm>
          <a:off x="0" y="0"/>
          <a:ext cx="0" cy="0"/>
          <a:chOff x="0" y="0"/>
          <a:chExt cx="0" cy="0"/>
        </a:xfrm>
      </p:grpSpPr>
      <p:sp>
        <p:nvSpPr>
          <p:cNvPr id="881" name="Google Shape;881;p57"/>
          <p:cNvSpPr txBox="1">
            <a:spLocks noGrp="1"/>
          </p:cNvSpPr>
          <p:nvPr>
            <p:ph type="title"/>
          </p:nvPr>
        </p:nvSpPr>
        <p:spPr>
          <a:xfrm>
            <a:off x="311700" y="140225"/>
            <a:ext cx="84912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pt-BR" sz="2000"/>
              <a:t>Instalação de R e RStudio </a:t>
            </a:r>
            <a:endParaRPr/>
          </a:p>
        </p:txBody>
      </p:sp>
      <p:sp>
        <p:nvSpPr>
          <p:cNvPr id="882" name="Google Shape;882;p57"/>
          <p:cNvSpPr txBox="1">
            <a:spLocks noGrp="1"/>
          </p:cNvSpPr>
          <p:nvPr>
            <p:ph type="body" idx="1"/>
          </p:nvPr>
        </p:nvSpPr>
        <p:spPr>
          <a:xfrm>
            <a:off x="635400" y="1015125"/>
            <a:ext cx="3136500" cy="3447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800"/>
              <a:buNone/>
            </a:pPr>
            <a:r>
              <a:rPr lang="pt-BR" sz="1400">
                <a:solidFill>
                  <a:schemeClr val="dk1"/>
                </a:solidFill>
              </a:rPr>
              <a:t>Diversos tutoriais disponíveis para a </a:t>
            </a:r>
            <a:r>
              <a:rPr lang="pt-BR" sz="1400" b="1">
                <a:solidFill>
                  <a:schemeClr val="dk1"/>
                </a:solidFill>
              </a:rPr>
              <a:t>primeiros passos com R e RStudio</a:t>
            </a:r>
            <a:r>
              <a:rPr lang="pt-BR" sz="1400">
                <a:solidFill>
                  <a:schemeClr val="dk1"/>
                </a:solidFill>
              </a:rPr>
              <a:t>.</a:t>
            </a:r>
            <a:endParaRPr sz="1400">
              <a:solidFill>
                <a:schemeClr val="dk1"/>
              </a:solidFill>
            </a:endParaRPr>
          </a:p>
          <a:p>
            <a:pPr marL="457200" lvl="0" indent="0" algn="l" rtl="0">
              <a:lnSpc>
                <a:spcPct val="100000"/>
              </a:lnSpc>
              <a:spcBef>
                <a:spcPts val="0"/>
              </a:spcBef>
              <a:spcAft>
                <a:spcPts val="0"/>
              </a:spcAft>
              <a:buSzPts val="1800"/>
              <a:buNone/>
            </a:pPr>
            <a:endParaRPr sz="1400">
              <a:solidFill>
                <a:schemeClr val="dk1"/>
              </a:solidFill>
            </a:endParaRPr>
          </a:p>
        </p:txBody>
      </p:sp>
      <p:sp>
        <p:nvSpPr>
          <p:cNvPr id="883" name="Google Shape;883;p57"/>
          <p:cNvSpPr txBox="1">
            <a:spLocks noGrp="1"/>
          </p:cNvSpPr>
          <p:nvPr>
            <p:ph type="body" idx="1"/>
          </p:nvPr>
        </p:nvSpPr>
        <p:spPr>
          <a:xfrm>
            <a:off x="4572000" y="1015125"/>
            <a:ext cx="3467100" cy="3447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800"/>
              <a:buNone/>
            </a:pPr>
            <a:r>
              <a:rPr lang="pt-BR" sz="1400">
                <a:solidFill>
                  <a:schemeClr val="dk1"/>
                </a:solidFill>
              </a:rPr>
              <a:t>Recomendação: </a:t>
            </a:r>
            <a:endParaRPr sz="1400">
              <a:solidFill>
                <a:schemeClr val="dk1"/>
              </a:solidFill>
            </a:endParaRPr>
          </a:p>
          <a:p>
            <a:pPr marL="0" lvl="0" indent="0" algn="l" rtl="0">
              <a:lnSpc>
                <a:spcPct val="100000"/>
              </a:lnSpc>
              <a:spcBef>
                <a:spcPts val="0"/>
              </a:spcBef>
              <a:spcAft>
                <a:spcPts val="0"/>
              </a:spcAft>
              <a:buSzPts val="1800"/>
              <a:buNone/>
            </a:pPr>
            <a:r>
              <a:rPr lang="pt-BR" sz="1400">
                <a:solidFill>
                  <a:schemeClr val="dk1"/>
                </a:solidFill>
              </a:rPr>
              <a:t>Isolar análises em projetos específicos, cada um com o seu conjunto de pacotes.</a:t>
            </a:r>
            <a:endParaRPr sz="1400">
              <a:solidFill>
                <a:schemeClr val="dk1"/>
              </a:solidFill>
            </a:endParaRPr>
          </a:p>
          <a:p>
            <a:pPr marL="457200" lvl="0" indent="-317500" algn="l" rtl="0">
              <a:lnSpc>
                <a:spcPct val="100000"/>
              </a:lnSpc>
              <a:spcBef>
                <a:spcPts val="0"/>
              </a:spcBef>
              <a:spcAft>
                <a:spcPts val="0"/>
              </a:spcAft>
              <a:buClr>
                <a:schemeClr val="dk1"/>
              </a:buClr>
              <a:buSzPts val="1400"/>
              <a:buChar char="●"/>
            </a:pPr>
            <a:r>
              <a:rPr lang="pt-BR" sz="1400">
                <a:solidFill>
                  <a:schemeClr val="dk1"/>
                </a:solidFill>
              </a:rPr>
              <a:t>Evita </a:t>
            </a:r>
            <a:r>
              <a:rPr lang="pt-BR" sz="1400" b="1">
                <a:solidFill>
                  <a:schemeClr val="dk1"/>
                </a:solidFill>
              </a:rPr>
              <a:t>incompatibilidade entre versões</a:t>
            </a:r>
            <a:r>
              <a:rPr lang="pt-BR" sz="1400">
                <a:solidFill>
                  <a:schemeClr val="dk1"/>
                </a:solidFill>
              </a:rPr>
              <a:t> de pacotes</a:t>
            </a:r>
            <a:endParaRPr sz="1400">
              <a:solidFill>
                <a:schemeClr val="dk1"/>
              </a:solidFill>
            </a:endParaRPr>
          </a:p>
          <a:p>
            <a:pPr marL="457200" lvl="0" indent="-317500" algn="l" rtl="0">
              <a:lnSpc>
                <a:spcPct val="100000"/>
              </a:lnSpc>
              <a:spcBef>
                <a:spcPts val="0"/>
              </a:spcBef>
              <a:spcAft>
                <a:spcPts val="0"/>
              </a:spcAft>
              <a:buClr>
                <a:schemeClr val="dk1"/>
              </a:buClr>
              <a:buSzPts val="1400"/>
              <a:buChar char="●"/>
            </a:pPr>
            <a:r>
              <a:rPr lang="pt-BR" sz="1400">
                <a:solidFill>
                  <a:schemeClr val="dk1"/>
                </a:solidFill>
              </a:rPr>
              <a:t>Garante </a:t>
            </a:r>
            <a:r>
              <a:rPr lang="pt-BR" sz="1400" b="1">
                <a:solidFill>
                  <a:schemeClr val="dk1"/>
                </a:solidFill>
              </a:rPr>
              <a:t>reprodutibilidade</a:t>
            </a:r>
            <a:r>
              <a:rPr lang="pt-BR" sz="1400">
                <a:solidFill>
                  <a:schemeClr val="dk1"/>
                </a:solidFill>
              </a:rPr>
              <a:t> dos resultados.</a:t>
            </a:r>
            <a:endParaRPr sz="1400">
              <a:solidFill>
                <a:schemeClr val="dk1"/>
              </a:solidFill>
            </a:endParaRPr>
          </a:p>
          <a:p>
            <a:pPr marL="457200" lvl="0" indent="0" algn="l" rtl="0">
              <a:lnSpc>
                <a:spcPct val="100000"/>
              </a:lnSpc>
              <a:spcBef>
                <a:spcPts val="0"/>
              </a:spcBef>
              <a:spcAft>
                <a:spcPts val="0"/>
              </a:spcAft>
              <a:buSzPts val="1800"/>
              <a:buNone/>
            </a:pPr>
            <a:endParaRPr sz="1400">
              <a:solidFill>
                <a:schemeClr val="dk1"/>
              </a:solidFill>
            </a:endParaRPr>
          </a:p>
        </p:txBody>
      </p:sp>
      <p:pic>
        <p:nvPicPr>
          <p:cNvPr id="884" name="Google Shape;884;p57"/>
          <p:cNvPicPr preferRelativeResize="0"/>
          <p:nvPr/>
        </p:nvPicPr>
        <p:blipFill rotWithShape="1">
          <a:blip r:embed="rId3">
            <a:alphaModFix/>
          </a:blip>
          <a:srcRect/>
          <a:stretch/>
        </p:blipFill>
        <p:spPr>
          <a:xfrm>
            <a:off x="635400" y="2155650"/>
            <a:ext cx="681025" cy="654500"/>
          </a:xfrm>
          <a:prstGeom prst="rect">
            <a:avLst/>
          </a:prstGeom>
          <a:noFill/>
          <a:ln>
            <a:noFill/>
          </a:ln>
        </p:spPr>
      </p:pic>
      <p:pic>
        <p:nvPicPr>
          <p:cNvPr id="885" name="Google Shape;885;p57"/>
          <p:cNvPicPr preferRelativeResize="0"/>
          <p:nvPr/>
        </p:nvPicPr>
        <p:blipFill rotWithShape="1">
          <a:blip r:embed="rId3">
            <a:alphaModFix/>
          </a:blip>
          <a:srcRect/>
          <a:stretch/>
        </p:blipFill>
        <p:spPr>
          <a:xfrm>
            <a:off x="4572000" y="2984325"/>
            <a:ext cx="681025" cy="654500"/>
          </a:xfrm>
          <a:prstGeom prst="rect">
            <a:avLst/>
          </a:prstGeom>
          <a:noFill/>
          <a:ln>
            <a:noFill/>
          </a:ln>
        </p:spPr>
      </p:pic>
      <p:sp>
        <p:nvSpPr>
          <p:cNvPr id="886" name="Google Shape;886;p57"/>
          <p:cNvSpPr txBox="1"/>
          <p:nvPr/>
        </p:nvSpPr>
        <p:spPr>
          <a:xfrm>
            <a:off x="1316425" y="2079400"/>
            <a:ext cx="2531700" cy="1200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pt-BR" sz="1100" b="1" i="0" u="none" strike="noStrike" cap="none" dirty="0" err="1">
                <a:solidFill>
                  <a:srgbClr val="000000"/>
                </a:solidFill>
                <a:latin typeface="Proxima Nova"/>
                <a:ea typeface="Proxima Nova"/>
                <a:cs typeface="Proxima Nova"/>
                <a:sym typeface="Proxima Nova"/>
              </a:rPr>
              <a:t>Dataquest</a:t>
            </a:r>
            <a:r>
              <a:rPr lang="pt-BR" sz="1100" b="1" i="0" u="none" strike="noStrike" cap="none" dirty="0">
                <a:solidFill>
                  <a:srgbClr val="000000"/>
                </a:solidFill>
                <a:latin typeface="Proxima Nova"/>
                <a:ea typeface="Proxima Nova"/>
                <a:cs typeface="Proxima Nova"/>
                <a:sym typeface="Proxima Nova"/>
              </a:rPr>
              <a:t> 2020. </a:t>
            </a:r>
            <a:endParaRPr sz="1100" b="1" i="0" u="none" strike="noStrike" cap="none" dirty="0">
              <a:solidFill>
                <a:srgbClr val="000000"/>
              </a:solidFill>
              <a:latin typeface="Proxima Nova"/>
              <a:ea typeface="Proxima Nova"/>
              <a:cs typeface="Proxima Nova"/>
              <a:sym typeface="Proxima Nova"/>
            </a:endParaRPr>
          </a:p>
          <a:p>
            <a:pPr marL="0" marR="0" lvl="0" indent="0" algn="l" rtl="0">
              <a:lnSpc>
                <a:spcPct val="100000"/>
              </a:lnSpc>
              <a:spcBef>
                <a:spcPts val="0"/>
              </a:spcBef>
              <a:spcAft>
                <a:spcPts val="0"/>
              </a:spcAft>
              <a:buClr>
                <a:srgbClr val="000000"/>
              </a:buClr>
              <a:buSzPts val="1100"/>
              <a:buFont typeface="Arial"/>
              <a:buNone/>
            </a:pPr>
            <a:r>
              <a:rPr lang="pt-BR" sz="1100" b="1" i="0" u="none" strike="noStrike" cap="none" dirty="0">
                <a:solidFill>
                  <a:srgbClr val="000000"/>
                </a:solidFill>
                <a:latin typeface="Proxima Nova"/>
                <a:ea typeface="Proxima Nova"/>
                <a:cs typeface="Proxima Nova"/>
                <a:sym typeface="Proxima Nova"/>
              </a:rPr>
              <a:t>Tutorial: </a:t>
            </a:r>
            <a:r>
              <a:rPr lang="pt-BR" sz="1100" b="1" i="0" u="none" strike="noStrike" cap="none" dirty="0" err="1">
                <a:solidFill>
                  <a:srgbClr val="000000"/>
                </a:solidFill>
                <a:latin typeface="Proxima Nova"/>
                <a:ea typeface="Proxima Nova"/>
                <a:cs typeface="Proxima Nova"/>
                <a:sym typeface="Proxima Nova"/>
              </a:rPr>
              <a:t>Getting</a:t>
            </a:r>
            <a:r>
              <a:rPr lang="pt-BR" sz="1100" b="1" i="0" u="none" strike="noStrike" cap="none" dirty="0">
                <a:solidFill>
                  <a:srgbClr val="000000"/>
                </a:solidFill>
                <a:latin typeface="Proxima Nova"/>
                <a:ea typeface="Proxima Nova"/>
                <a:cs typeface="Proxima Nova"/>
                <a:sym typeface="Proxima Nova"/>
              </a:rPr>
              <a:t> </a:t>
            </a:r>
            <a:r>
              <a:rPr lang="pt-BR" sz="1100" b="1" i="0" u="none" strike="noStrike" cap="none" dirty="0" err="1">
                <a:solidFill>
                  <a:srgbClr val="000000"/>
                </a:solidFill>
                <a:latin typeface="Proxima Nova"/>
                <a:ea typeface="Proxima Nova"/>
                <a:cs typeface="Proxima Nova"/>
                <a:sym typeface="Proxima Nova"/>
              </a:rPr>
              <a:t>Started</a:t>
            </a:r>
            <a:r>
              <a:rPr lang="pt-BR" sz="1100" b="1" i="0" u="none" strike="noStrike" cap="none" dirty="0">
                <a:solidFill>
                  <a:srgbClr val="000000"/>
                </a:solidFill>
                <a:latin typeface="Proxima Nova"/>
                <a:ea typeface="Proxima Nova"/>
                <a:cs typeface="Proxima Nova"/>
                <a:sym typeface="Proxima Nova"/>
              </a:rPr>
              <a:t> </a:t>
            </a:r>
            <a:r>
              <a:rPr lang="pt-BR" sz="1100" b="1" i="0" u="none" strike="noStrike" cap="none" dirty="0" err="1">
                <a:solidFill>
                  <a:srgbClr val="000000"/>
                </a:solidFill>
                <a:latin typeface="Proxima Nova"/>
                <a:ea typeface="Proxima Nova"/>
                <a:cs typeface="Proxima Nova"/>
                <a:sym typeface="Proxima Nova"/>
              </a:rPr>
              <a:t>with</a:t>
            </a:r>
            <a:r>
              <a:rPr lang="pt-BR" sz="1100" b="1" i="0" u="none" strike="noStrike" cap="none" dirty="0">
                <a:solidFill>
                  <a:srgbClr val="000000"/>
                </a:solidFill>
                <a:latin typeface="Proxima Nova"/>
                <a:ea typeface="Proxima Nova"/>
                <a:cs typeface="Proxima Nova"/>
                <a:sym typeface="Proxima Nova"/>
              </a:rPr>
              <a:t> R </a:t>
            </a:r>
            <a:r>
              <a:rPr lang="pt-BR" sz="1100" b="1" i="0" u="none" strike="noStrike" cap="none" dirty="0" err="1">
                <a:solidFill>
                  <a:srgbClr val="000000"/>
                </a:solidFill>
                <a:latin typeface="Proxima Nova"/>
                <a:ea typeface="Proxima Nova"/>
                <a:cs typeface="Proxima Nova"/>
                <a:sym typeface="Proxima Nova"/>
              </a:rPr>
              <a:t>and</a:t>
            </a:r>
            <a:r>
              <a:rPr lang="pt-BR" sz="1100" b="1" i="0" u="none" strike="noStrike" cap="none" dirty="0">
                <a:solidFill>
                  <a:srgbClr val="000000"/>
                </a:solidFill>
                <a:latin typeface="Proxima Nova"/>
                <a:ea typeface="Proxima Nova"/>
                <a:cs typeface="Proxima Nova"/>
                <a:sym typeface="Proxima Nova"/>
              </a:rPr>
              <a:t> </a:t>
            </a:r>
            <a:r>
              <a:rPr lang="pt-BR" sz="1100" b="1" i="0" u="none" strike="noStrike" cap="none" dirty="0" err="1">
                <a:solidFill>
                  <a:srgbClr val="000000"/>
                </a:solidFill>
                <a:latin typeface="Proxima Nova"/>
                <a:ea typeface="Proxima Nova"/>
                <a:cs typeface="Proxima Nova"/>
                <a:sym typeface="Proxima Nova"/>
              </a:rPr>
              <a:t>RStudio</a:t>
            </a:r>
            <a:r>
              <a:rPr lang="pt-BR" sz="1100" b="1" i="0" u="none" strike="noStrike" cap="none" dirty="0">
                <a:solidFill>
                  <a:srgbClr val="000000"/>
                </a:solidFill>
                <a:latin typeface="Proxima Nova"/>
                <a:ea typeface="Proxima Nova"/>
                <a:cs typeface="Proxima Nova"/>
                <a:sym typeface="Proxima Nova"/>
              </a:rPr>
              <a:t> </a:t>
            </a:r>
            <a:endParaRPr sz="1100" b="1" i="0" u="none" strike="noStrike" cap="none" dirty="0">
              <a:solidFill>
                <a:srgbClr val="000000"/>
              </a:solidFill>
              <a:latin typeface="Proxima Nova"/>
              <a:ea typeface="Proxima Nova"/>
              <a:cs typeface="Proxima Nova"/>
              <a:sym typeface="Proxima Nova"/>
            </a:endParaRPr>
          </a:p>
          <a:p>
            <a:pPr marL="0" marR="0" lvl="0" indent="0" algn="l" rtl="0">
              <a:lnSpc>
                <a:spcPct val="100000"/>
              </a:lnSpc>
              <a:spcBef>
                <a:spcPts val="0"/>
              </a:spcBef>
              <a:spcAft>
                <a:spcPts val="0"/>
              </a:spcAft>
              <a:buClr>
                <a:srgbClr val="000000"/>
              </a:buClr>
              <a:buSzPts val="1100"/>
              <a:buFont typeface="Arial"/>
              <a:buNone/>
            </a:pPr>
            <a:r>
              <a:rPr lang="pt-BR" sz="1100" b="0" i="0" u="none" strike="noStrike" cap="none" dirty="0">
                <a:solidFill>
                  <a:srgbClr val="000000"/>
                </a:solidFill>
                <a:latin typeface="Proxima Nova"/>
                <a:ea typeface="Proxima Nova"/>
                <a:cs typeface="Proxima Nova"/>
                <a:sym typeface="Proxima Nova"/>
              </a:rPr>
              <a:t>https://www.dataquest.io/blog/tutorial-getting-started-with-r-and-rstudio/</a:t>
            </a:r>
            <a:endParaRPr sz="1100" b="0" i="0" u="none" strike="noStrike" cap="none" dirty="0">
              <a:solidFill>
                <a:srgbClr val="000000"/>
              </a:solidFill>
              <a:latin typeface="Proxima Nova"/>
              <a:ea typeface="Proxima Nova"/>
              <a:cs typeface="Proxima Nova"/>
              <a:sym typeface="Proxima Nova"/>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dirty="0">
              <a:solidFill>
                <a:srgbClr val="000000"/>
              </a:solidFill>
              <a:latin typeface="Proxima Nova"/>
              <a:ea typeface="Proxima Nova"/>
              <a:cs typeface="Proxima Nova"/>
              <a:sym typeface="Proxima Nova"/>
            </a:endParaRPr>
          </a:p>
        </p:txBody>
      </p:sp>
      <p:sp>
        <p:nvSpPr>
          <p:cNvPr id="887" name="Google Shape;887;p57"/>
          <p:cNvSpPr txBox="1"/>
          <p:nvPr/>
        </p:nvSpPr>
        <p:spPr>
          <a:xfrm>
            <a:off x="5253025" y="2927175"/>
            <a:ext cx="2414700" cy="861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pt-BR" sz="1100" b="1" i="0" u="none" strike="noStrike" cap="none">
                <a:solidFill>
                  <a:srgbClr val="000000"/>
                </a:solidFill>
                <a:latin typeface="Proxima Nova"/>
                <a:ea typeface="Proxima Nova"/>
                <a:cs typeface="Proxima Nova"/>
                <a:sym typeface="Proxima Nova"/>
              </a:rPr>
              <a:t>Introduction to renv v1.1.4</a:t>
            </a:r>
            <a:endParaRPr sz="1100" b="1" i="0" u="none" strike="noStrike" cap="none">
              <a:solidFill>
                <a:srgbClr val="000000"/>
              </a:solidFill>
              <a:latin typeface="Proxima Nova"/>
              <a:ea typeface="Proxima Nova"/>
              <a:cs typeface="Proxima Nova"/>
              <a:sym typeface="Proxima Nova"/>
            </a:endParaRPr>
          </a:p>
          <a:p>
            <a:pPr marL="0" marR="0" lvl="0" indent="0" algn="l" rtl="0">
              <a:lnSpc>
                <a:spcPct val="100000"/>
              </a:lnSpc>
              <a:spcBef>
                <a:spcPts val="0"/>
              </a:spcBef>
              <a:spcAft>
                <a:spcPts val="0"/>
              </a:spcAft>
              <a:buClr>
                <a:srgbClr val="000000"/>
              </a:buClr>
              <a:buSzPts val="1100"/>
              <a:buFont typeface="Arial"/>
              <a:buNone/>
            </a:pPr>
            <a:r>
              <a:rPr lang="pt-BR" sz="1100" b="0" i="0" u="none" strike="noStrike" cap="none">
                <a:solidFill>
                  <a:srgbClr val="000000"/>
                </a:solidFill>
                <a:latin typeface="Proxima Nova"/>
                <a:ea typeface="Proxima Nova"/>
                <a:cs typeface="Proxima Nova"/>
                <a:sym typeface="Proxima Nova"/>
              </a:rPr>
              <a:t>https://rstudio.github.io/renv/articles/renv.html</a:t>
            </a:r>
            <a:endParaRPr sz="1100" b="0" i="0" u="none" strike="noStrike" cap="none">
              <a:solidFill>
                <a:srgbClr val="000000"/>
              </a:solidFill>
              <a:latin typeface="Proxima Nova"/>
              <a:ea typeface="Proxima Nova"/>
              <a:cs typeface="Proxima Nova"/>
              <a:sym typeface="Proxima Nova"/>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Proxima Nova"/>
              <a:ea typeface="Proxima Nova"/>
              <a:cs typeface="Proxima Nova"/>
              <a:sym typeface="Proxima Nova"/>
            </a:endParaRPr>
          </a:p>
        </p:txBody>
      </p:sp>
      <p:sp>
        <p:nvSpPr>
          <p:cNvPr id="888" name="Google Shape;888;p57"/>
          <p:cNvSpPr txBox="1"/>
          <p:nvPr/>
        </p:nvSpPr>
        <p:spPr>
          <a:xfrm>
            <a:off x="1316413" y="3146200"/>
            <a:ext cx="2531700" cy="1031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pt-BR" sz="1100" b="1" i="0" u="none" strike="noStrike" cap="none">
                <a:solidFill>
                  <a:srgbClr val="000000"/>
                </a:solidFill>
                <a:latin typeface="Proxima Nova"/>
                <a:ea typeface="Proxima Nova"/>
                <a:cs typeface="Proxima Nova"/>
                <a:sym typeface="Proxima Nova"/>
              </a:rPr>
              <a:t>Datacamp 2025. </a:t>
            </a:r>
            <a:endParaRPr sz="1100" b="1" i="0" u="none" strike="noStrike" cap="none">
              <a:solidFill>
                <a:srgbClr val="000000"/>
              </a:solidFill>
              <a:latin typeface="Proxima Nova"/>
              <a:ea typeface="Proxima Nova"/>
              <a:cs typeface="Proxima Nova"/>
              <a:sym typeface="Proxima Nova"/>
            </a:endParaRPr>
          </a:p>
          <a:p>
            <a:pPr marL="0" marR="0" lvl="0" indent="0" algn="l" rtl="0">
              <a:lnSpc>
                <a:spcPct val="100000"/>
              </a:lnSpc>
              <a:spcBef>
                <a:spcPts val="0"/>
              </a:spcBef>
              <a:spcAft>
                <a:spcPts val="0"/>
              </a:spcAft>
              <a:buClr>
                <a:srgbClr val="000000"/>
              </a:buClr>
              <a:buSzPts val="1100"/>
              <a:buFont typeface="Arial"/>
              <a:buNone/>
            </a:pPr>
            <a:r>
              <a:rPr lang="pt-BR" sz="1100" b="1" i="0" u="none" strike="noStrike" cap="none">
                <a:solidFill>
                  <a:srgbClr val="000000"/>
                </a:solidFill>
                <a:latin typeface="Proxima Nova"/>
                <a:ea typeface="Proxima Nova"/>
                <a:cs typeface="Proxima Nova"/>
                <a:sym typeface="Proxima Nova"/>
              </a:rPr>
              <a:t>RStudio Tutorial</a:t>
            </a:r>
            <a:endParaRPr sz="1100" b="1" i="0" u="none" strike="noStrike" cap="none">
              <a:solidFill>
                <a:srgbClr val="000000"/>
              </a:solidFill>
              <a:latin typeface="Proxima Nova"/>
              <a:ea typeface="Proxima Nova"/>
              <a:cs typeface="Proxima Nova"/>
              <a:sym typeface="Proxima Nova"/>
            </a:endParaRPr>
          </a:p>
          <a:p>
            <a:pPr marL="0" marR="0" lvl="0" indent="0" algn="l" rtl="0">
              <a:lnSpc>
                <a:spcPct val="100000"/>
              </a:lnSpc>
              <a:spcBef>
                <a:spcPts val="0"/>
              </a:spcBef>
              <a:spcAft>
                <a:spcPts val="0"/>
              </a:spcAft>
              <a:buClr>
                <a:srgbClr val="000000"/>
              </a:buClr>
              <a:buSzPts val="1100"/>
              <a:buFont typeface="Arial"/>
              <a:buNone/>
            </a:pPr>
            <a:r>
              <a:rPr lang="pt-BR" sz="1100" b="0" i="0" u="none" strike="noStrike" cap="none">
                <a:solidFill>
                  <a:srgbClr val="000000"/>
                </a:solidFill>
                <a:latin typeface="Proxima Nova"/>
                <a:ea typeface="Proxima Nova"/>
                <a:cs typeface="Proxima Nova"/>
                <a:sym typeface="Proxima Nova"/>
              </a:rPr>
              <a:t>https://www.datacamp.com/tutorial/r-studio-tutorial</a:t>
            </a:r>
            <a:endParaRPr sz="1100" b="0" i="0" u="none" strike="noStrike" cap="none">
              <a:solidFill>
                <a:srgbClr val="000000"/>
              </a:solidFill>
              <a:latin typeface="Proxima Nova"/>
              <a:ea typeface="Proxima Nova"/>
              <a:cs typeface="Proxima Nova"/>
              <a:sym typeface="Proxima Nova"/>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Proxima Nova"/>
              <a:ea typeface="Proxima Nova"/>
              <a:cs typeface="Proxima Nova"/>
              <a:sym typeface="Proxima Nova"/>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892"/>
        <p:cNvGrpSpPr/>
        <p:nvPr/>
      </p:nvGrpSpPr>
      <p:grpSpPr>
        <a:xfrm>
          <a:off x="0" y="0"/>
          <a:ext cx="0" cy="0"/>
          <a:chOff x="0" y="0"/>
          <a:chExt cx="0" cy="0"/>
        </a:xfrm>
      </p:grpSpPr>
      <p:sp>
        <p:nvSpPr>
          <p:cNvPr id="893" name="Google Shape;893;p58"/>
          <p:cNvSpPr txBox="1">
            <a:spLocks noGrp="1"/>
          </p:cNvSpPr>
          <p:nvPr>
            <p:ph type="title"/>
          </p:nvPr>
        </p:nvSpPr>
        <p:spPr>
          <a:xfrm>
            <a:off x="490250" y="526350"/>
            <a:ext cx="5797500" cy="4090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800"/>
              <a:buNone/>
            </a:pPr>
            <a:r>
              <a:rPr lang="pt-BR"/>
              <a:t>Até a próxima aula</a:t>
            </a:r>
            <a:endParaRPr/>
          </a:p>
        </p:txBody>
      </p:sp>
    </p:spTree>
  </p:cSld>
  <p:clrMapOvr>
    <a:masterClrMapping/>
  </p:clrMapOvr>
</p:sld>
</file>

<file path=ppt/theme/theme1.xml><?xml version="1.0" encoding="utf-8"?>
<a:theme xmlns:a="http://schemas.openxmlformats.org/drawingml/2006/main"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836</TotalTime>
  <Words>3559</Words>
  <Application>Microsoft Office PowerPoint</Application>
  <PresentationFormat>Apresentação na tela (16:9)</PresentationFormat>
  <Paragraphs>570</Paragraphs>
  <Slides>80</Slides>
  <Notes>80</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80</vt:i4>
      </vt:variant>
    </vt:vector>
  </HeadingPairs>
  <TitlesOfParts>
    <vt:vector size="84" baseType="lpstr">
      <vt:lpstr>Arial</vt:lpstr>
      <vt:lpstr>EB Garamond</vt:lpstr>
      <vt:lpstr>Proxima Nova</vt:lpstr>
      <vt:lpstr>Spearmint</vt:lpstr>
      <vt:lpstr>Análise de Dados de  Transcriptômica Espacial</vt:lpstr>
      <vt:lpstr>Análise de Dados de Transcriptômica Espacial </vt:lpstr>
      <vt:lpstr>Introdução às transcriptômicas de alta resolução</vt:lpstr>
      <vt:lpstr>Apresentação</vt:lpstr>
      <vt:lpstr>Instrutores</vt:lpstr>
      <vt:lpstr>Instrutores</vt:lpstr>
      <vt:lpstr>Instrutores</vt:lpstr>
      <vt:lpstr>Participantes</vt:lpstr>
      <vt:lpstr>Participantes</vt:lpstr>
      <vt:lpstr>Ambiente do curso</vt:lpstr>
      <vt:lpstr>Fundamentos  teóricos</vt:lpstr>
      <vt:lpstr>Objetivo de transcriptômicas de alta resolução</vt:lpstr>
      <vt:lpstr>Amostras biológicas têm diferentes níveis de complexidade</vt:lpstr>
      <vt:lpstr>Lisados celulares mascaram essa complexidade</vt:lpstr>
      <vt:lpstr>Essa complexidade tem relevância clínica</vt:lpstr>
      <vt:lpstr>Transcriptômicas de alta resolução vs. RNA-seq clássico (bulk)</vt:lpstr>
      <vt:lpstr>Transcriptômica com Sequenciamento de Nova Geração (NGS)</vt:lpstr>
      <vt:lpstr>Métodos de transcriptômica de células individuais</vt:lpstr>
      <vt:lpstr>Single-cell RNA-seq (scRNA-seq) Evolução de tecnologias</vt:lpstr>
      <vt:lpstr>Single-cell RNA-seq (scRNA-seq) Evolução de tecnologias</vt:lpstr>
      <vt:lpstr>Single-cell RNA-seq (scRNA-seq) Evolução de tecnologias</vt:lpstr>
      <vt:lpstr>Single-cell RNA-seq (scRNA-seq) Princípios</vt:lpstr>
      <vt:lpstr>Single-cell RNA-seq (scRNA-seq) Princípios</vt:lpstr>
      <vt:lpstr>Single-cell RNA-seq (scRNA-seq) Princípios</vt:lpstr>
      <vt:lpstr>Single-cell RNA-seq (scRNA-seq) Princípios</vt:lpstr>
      <vt:lpstr>Outros métodos BD Rhapsody</vt:lpstr>
      <vt:lpstr>Droplet-based vs. Plate-based</vt:lpstr>
      <vt:lpstr>Conteúdos extras</vt:lpstr>
      <vt:lpstr>Métodos de  transcriptômica espacial</vt:lpstr>
      <vt:lpstr>RNA-seq espacial Evolução de tecnologias</vt:lpstr>
      <vt:lpstr>RNA-seq espacial Evolução de tecnologias</vt:lpstr>
      <vt:lpstr>RNA-seq espacial Evolução de tecnologias</vt:lpstr>
      <vt:lpstr>RNA-seq espacial Princípios</vt:lpstr>
      <vt:lpstr>RNA-seq espacial Princípios</vt:lpstr>
      <vt:lpstr>Apresentação do PowerPoint</vt:lpstr>
      <vt:lpstr>Apresentação do PowerPoint</vt:lpstr>
      <vt:lpstr>Apresentação do PowerPoint</vt:lpstr>
      <vt:lpstr>Apresentação do PowerPoint</vt:lpstr>
      <vt:lpstr>Apresentação do PowerPoint</vt:lpstr>
      <vt:lpstr>RNA-seq espacial Tecnologias - Princípios</vt:lpstr>
      <vt:lpstr>RNA-seq espacial Princípios - Tecnologia Visium</vt:lpstr>
      <vt:lpstr>RNA-seq espacial Princípios - Tecnologia Visium</vt:lpstr>
      <vt:lpstr>RNA-seq espacial Princípios - Tecnologia Visium</vt:lpstr>
      <vt:lpstr>RNA-seq espacial Princípios - Tecnologia Visium</vt:lpstr>
      <vt:lpstr>Conteúdos extras</vt:lpstr>
      <vt:lpstr>Análise de dados</vt:lpstr>
      <vt:lpstr>Passos da análise de dados de transcriptômica de alta resolução</vt:lpstr>
      <vt:lpstr>Passos da análise de dados de transcriptômica de alta resolução</vt:lpstr>
      <vt:lpstr>Passos da análise de dados de transcriptômica de alta resolução</vt:lpstr>
      <vt:lpstr>Passos da análise de dados de transcriptômica de alta resolução</vt:lpstr>
      <vt:lpstr>Passos da análise de dados de transcriptômica de alta resolução</vt:lpstr>
      <vt:lpstr>Passos da análise de dados de transcriptômica de alta resolução</vt:lpstr>
      <vt:lpstr>Volume e complexidade de dados</vt:lpstr>
      <vt:lpstr>Volume e complexidade de dados</vt:lpstr>
      <vt:lpstr>Volume e complexidade de dados</vt:lpstr>
      <vt:lpstr>Volume e complexidade de dados</vt:lpstr>
      <vt:lpstr>Volume e complexidade de dados</vt:lpstr>
      <vt:lpstr>Volume e complexidade de dados</vt:lpstr>
      <vt:lpstr>Volume e complexidade de dados</vt:lpstr>
      <vt:lpstr>Volume e complexidade de dados</vt:lpstr>
      <vt:lpstr>Passos da análise de dados de transcriptômica de alta resolução</vt:lpstr>
      <vt:lpstr>Workflows de análise de dados de transcriptômica espacial</vt:lpstr>
      <vt:lpstr>Workflows de análise de dados Em R</vt:lpstr>
      <vt:lpstr>Workflows de análise de dados Em R</vt:lpstr>
      <vt:lpstr>Workflows de análise de dados Em R</vt:lpstr>
      <vt:lpstr>Workflows de análise de dados Em Python </vt:lpstr>
      <vt:lpstr>Workflows de análise de dados Em Python </vt:lpstr>
      <vt:lpstr>Intervalo</vt:lpstr>
      <vt:lpstr>Apresentação do PowerPoint</vt:lpstr>
      <vt:lpstr>Ambiente do curso</vt:lpstr>
      <vt:lpstr>Ambiente do curso</vt:lpstr>
      <vt:lpstr>Ambiente do curso</vt:lpstr>
      <vt:lpstr>Importação dos documentos do curso </vt:lpstr>
      <vt:lpstr>Importação dos documentos do curso </vt:lpstr>
      <vt:lpstr>Vinheta</vt:lpstr>
      <vt:lpstr>Diretório de trabalho</vt:lpstr>
      <vt:lpstr>Pacotes para análises</vt:lpstr>
      <vt:lpstr>Pacotes para análises</vt:lpstr>
      <vt:lpstr>Instalação de R e RStudio </vt:lpstr>
      <vt:lpstr>Até a próxima aula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Lana Bazan Peters Querne</cp:lastModifiedBy>
  <cp:revision>138</cp:revision>
  <dcterms:modified xsi:type="dcterms:W3CDTF">2026-10-26T01:33:11Z</dcterms:modified>
</cp:coreProperties>
</file>